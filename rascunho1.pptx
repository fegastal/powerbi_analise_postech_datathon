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  <p:embeddedFont>
      <p:font typeface="Montserrat Light"/>
      <p:regular r:id="rId24"/>
      <p:bold r:id="rId25"/>
      <p:italic r:id="rId26"/>
      <p:boldItalic r:id="rId27"/>
    </p:embeddedFont>
    <p:embeddedFont>
      <p:font typeface="Arial Black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1620">
          <p15:clr>
            <a:srgbClr val="747775"/>
          </p15:clr>
        </p15:guide>
        <p15:guide id="3" pos="397">
          <p15:clr>
            <a:srgbClr val="747775"/>
          </p15:clr>
        </p15:guide>
        <p15:guide id="4" pos="5363">
          <p15:clr>
            <a:srgbClr val="747775"/>
          </p15:clr>
        </p15:guide>
        <p15:guide id="5" orient="horz" pos="2866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hEjXWcBFNUaGywelAlCbmtd7Dg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1620" orient="horz"/>
        <p:guide pos="397"/>
        <p:guide pos="5363"/>
        <p:guide pos="286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22" Type="http://schemas.openxmlformats.org/officeDocument/2006/relationships/font" Target="fonts/MontserratMedium-italic.fntdata"/><Relationship Id="rId21" Type="http://schemas.openxmlformats.org/officeDocument/2006/relationships/font" Target="fonts/MontserratMedium-bold.fntdata"/><Relationship Id="rId24" Type="http://schemas.openxmlformats.org/officeDocument/2006/relationships/font" Target="fonts/MontserratLight-regular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Light-italic.fntdata"/><Relationship Id="rId25" Type="http://schemas.openxmlformats.org/officeDocument/2006/relationships/font" Target="fonts/MontserratLight-bold.fntdata"/><Relationship Id="rId28" Type="http://schemas.openxmlformats.org/officeDocument/2006/relationships/font" Target="fonts/ArialBlack-regular.fntdata"/><Relationship Id="rId27" Type="http://schemas.openxmlformats.org/officeDocument/2006/relationships/font" Target="fonts/Montserrat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985e030cf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a985e030cf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48dbee20f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d48dbee20f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48dbee20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d48dbee20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48dbee20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d48dbee20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48dbee20f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d48dbee20f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48dbee20f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d48dbee20f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48dbee20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d48dbee20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5a6249d9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d5a6249d9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48dbee20f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d48dbee20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4902150" y="796852"/>
            <a:ext cx="1953224" cy="195322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0" y="3097000"/>
            <a:ext cx="9144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Qualidade </a:t>
            </a:r>
            <a:r>
              <a:rPr lang="pt-BR" sz="16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em</a:t>
            </a:r>
            <a:r>
              <a:rPr lang="pt-BR"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1600">
                <a:solidFill>
                  <a:srgbClr val="FCE5CD"/>
                </a:solidFill>
                <a:latin typeface="Montserrat"/>
                <a:ea typeface="Montserrat"/>
                <a:cs typeface="Montserrat"/>
                <a:sym typeface="Montserrat"/>
              </a:rPr>
              <a:t>Webview</a:t>
            </a:r>
            <a:r>
              <a:rPr lang="pt-BR"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: hoje você </a:t>
            </a:r>
            <a:r>
              <a:rPr b="1" lang="pt-BR" sz="16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não enxerga</a:t>
            </a:r>
            <a:r>
              <a:rPr lang="pt-BR"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 Agora você passa a </a:t>
            </a:r>
            <a:r>
              <a:rPr b="1" lang="pt-BR" sz="1600">
                <a:solidFill>
                  <a:srgbClr val="FFF2CC"/>
                </a:solidFill>
                <a:latin typeface="Montserrat"/>
                <a:ea typeface="Montserrat"/>
                <a:cs typeface="Montserrat"/>
                <a:sym typeface="Montserrat"/>
              </a:rPr>
              <a:t>controlar</a:t>
            </a:r>
            <a:r>
              <a:rPr lang="pt-BR"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  <a:endParaRPr sz="1600">
              <a:solidFill>
                <a:srgbClr val="B7B7B7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6" name="Google Shape;56;p1"/>
          <p:cNvSpPr txBox="1"/>
          <p:nvPr>
            <p:ph type="ctrTitle"/>
          </p:nvPr>
        </p:nvSpPr>
        <p:spPr>
          <a:xfrm>
            <a:off x="0" y="2441663"/>
            <a:ext cx="9144000" cy="6903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60000" dist="38100">
              <a:srgbClr val="FFFFFF">
                <a:alpha val="83921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pt-BR" sz="4000">
                <a:latin typeface="Montserrat"/>
                <a:ea typeface="Montserrat"/>
                <a:cs typeface="Montserrat"/>
                <a:sym typeface="Montserrat"/>
              </a:rPr>
              <a:t>Inspetor</a:t>
            </a:r>
            <a:r>
              <a:rPr lang="pt-BR" sz="40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 +</a:t>
            </a:r>
            <a:r>
              <a:rPr b="1" lang="pt-BR" sz="40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pt-BR" sz="4000">
                <a:latin typeface="Montserrat"/>
                <a:ea typeface="Montserrat"/>
                <a:cs typeface="Montserrat"/>
                <a:sym typeface="Montserrat"/>
              </a:rPr>
              <a:t>Lighthouse</a:t>
            </a:r>
            <a:endParaRPr b="1"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" name="Google Shape;57;p1" title="2023_Itaú_Unibanco_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475" y="4549776"/>
            <a:ext cx="394776" cy="3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>
            <p:ph idx="1" type="subTitle"/>
          </p:nvPr>
        </p:nvSpPr>
        <p:spPr>
          <a:xfrm>
            <a:off x="630250" y="4593400"/>
            <a:ext cx="32010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Develop Journey </a:t>
            </a:r>
            <a:r>
              <a:rPr b="1" lang="pt-BR" sz="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| App Itaú</a:t>
            </a:r>
            <a:endParaRPr b="1" sz="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85e030cf_0_312"/>
          <p:cNvSpPr txBox="1"/>
          <p:nvPr/>
        </p:nvSpPr>
        <p:spPr>
          <a:xfrm>
            <a:off x="96450" y="0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600" u="none" cap="none" strike="noStrike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_ </a:t>
            </a:r>
            <a:r>
              <a:rPr b="0" i="0" lang="pt-BR" sz="2000" u="none" cap="none" strike="noStrik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b="1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Desafio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2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Mais da metade dos repositórios </a:t>
            </a:r>
            <a:r>
              <a:rPr b="1" lang="pt-B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não</a:t>
            </a:r>
            <a:r>
              <a:rPr lang="pt-BR" sz="12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é analisada hoje</a:t>
            </a:r>
            <a:endParaRPr b="0" i="0" sz="12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a985e030cf_0_312"/>
          <p:cNvSpPr txBox="1"/>
          <p:nvPr>
            <p:ph idx="4294967295" type="ctrTitle"/>
          </p:nvPr>
        </p:nvSpPr>
        <p:spPr>
          <a:xfrm>
            <a:off x="148425" y="1257455"/>
            <a:ext cx="30030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60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1.273</a:t>
            </a:r>
            <a:endParaRPr b="0" i="0" sz="60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" name="Google Shape;65;g3a985e030cf_0_312"/>
          <p:cNvCxnSpPr/>
          <p:nvPr/>
        </p:nvCxnSpPr>
        <p:spPr>
          <a:xfrm>
            <a:off x="115660" y="3888375"/>
            <a:ext cx="89127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oval"/>
            <a:tailEnd len="sm" w="sm" type="oval"/>
          </a:ln>
        </p:spPr>
      </p:cxnSp>
      <p:sp>
        <p:nvSpPr>
          <p:cNvPr id="66" name="Google Shape;66;g3a985e030cf_0_312"/>
          <p:cNvSpPr txBox="1"/>
          <p:nvPr>
            <p:ph idx="4294967295" type="ctrTitle"/>
          </p:nvPr>
        </p:nvSpPr>
        <p:spPr>
          <a:xfrm>
            <a:off x="3129825" y="1249846"/>
            <a:ext cx="30030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60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569</a:t>
            </a:r>
            <a:endParaRPr b="0" i="0" sz="60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g3a985e030cf_0_312"/>
          <p:cNvSpPr txBox="1"/>
          <p:nvPr>
            <p:ph idx="4294967295" type="ctrTitle"/>
          </p:nvPr>
        </p:nvSpPr>
        <p:spPr>
          <a:xfrm>
            <a:off x="5941050" y="1249846"/>
            <a:ext cx="30030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6000" u="none" cap="none" strike="noStrike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45%</a:t>
            </a:r>
            <a:endParaRPr b="0" i="0" sz="6000" u="none" cap="none" strike="noStrike">
              <a:solidFill>
                <a:srgbClr val="F4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g3a985e030cf_0_312"/>
          <p:cNvSpPr txBox="1"/>
          <p:nvPr>
            <p:ph idx="4294967295" type="ctrTitle"/>
          </p:nvPr>
        </p:nvSpPr>
        <p:spPr>
          <a:xfrm>
            <a:off x="564975" y="2098287"/>
            <a:ext cx="2169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16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Repositórios </a:t>
            </a:r>
            <a:r>
              <a:rPr b="1" i="0" lang="pt-BR" sz="16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Totais</a:t>
            </a:r>
            <a:endParaRPr b="1" i="0" sz="16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g3a985e030cf_0_312"/>
          <p:cNvSpPr txBox="1"/>
          <p:nvPr>
            <p:ph idx="4294967295" type="ctrTitle"/>
          </p:nvPr>
        </p:nvSpPr>
        <p:spPr>
          <a:xfrm>
            <a:off x="2864925" y="2090250"/>
            <a:ext cx="35637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16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Repositórios </a:t>
            </a:r>
            <a:r>
              <a:rPr b="1" i="0" lang="pt-BR" sz="1600" u="none" cap="none" strike="noStrik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Inspecionados</a:t>
            </a:r>
            <a:endParaRPr b="1" i="0" sz="1600" u="none" cap="none" strike="noStrike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g3a985e030cf_0_312"/>
          <p:cNvSpPr txBox="1"/>
          <p:nvPr>
            <p:ph idx="4294967295" type="ctrTitle"/>
          </p:nvPr>
        </p:nvSpPr>
        <p:spPr>
          <a:xfrm>
            <a:off x="6268225" y="2090250"/>
            <a:ext cx="2169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1600" u="none" cap="none" strike="noStrike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% </a:t>
            </a:r>
            <a:r>
              <a:rPr b="1" i="0" lang="pt-BR" sz="1600" u="none" cap="none" strike="noStrike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Cobertura</a:t>
            </a:r>
            <a:endParaRPr b="1" i="0" sz="1600" u="none" cap="none" strike="noStrike">
              <a:solidFill>
                <a:srgbClr val="F4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g3a985e030cf_0_312"/>
          <p:cNvSpPr txBox="1"/>
          <p:nvPr>
            <p:ph idx="4294967295" type="ctrTitle"/>
          </p:nvPr>
        </p:nvSpPr>
        <p:spPr>
          <a:xfrm>
            <a:off x="4955273" y="3899707"/>
            <a:ext cx="22101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15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Falta de visibilidade</a:t>
            </a:r>
            <a:endParaRPr b="0" i="0" sz="2000" u="none" cap="none" strike="noStrike">
              <a:solidFill>
                <a:srgbClr val="F4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dos principais gargalos.</a:t>
            </a:r>
            <a:endParaRPr b="0" i="0" sz="9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g3a985e030cf_0_312"/>
          <p:cNvSpPr txBox="1"/>
          <p:nvPr>
            <p:ph idx="4294967295" type="ctrTitle"/>
          </p:nvPr>
        </p:nvSpPr>
        <p:spPr>
          <a:xfrm>
            <a:off x="2545837" y="3896400"/>
            <a:ext cx="2169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15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Priorização incorreta</a:t>
            </a:r>
            <a:endParaRPr b="0" i="0" sz="1500" u="none" cap="none" strike="noStrike">
              <a:solidFill>
                <a:srgbClr val="F4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de melhorias.</a:t>
            </a:r>
            <a:endParaRPr b="0" i="0" sz="9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g3a985e030cf_0_312"/>
          <p:cNvSpPr txBox="1"/>
          <p:nvPr>
            <p:ph idx="4294967295" type="ctrTitle"/>
          </p:nvPr>
        </p:nvSpPr>
        <p:spPr>
          <a:xfrm>
            <a:off x="417173" y="3888375"/>
            <a:ext cx="19158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15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55% do total</a:t>
            </a:r>
            <a:endParaRPr b="0" i="0" sz="1500" u="none" cap="none" strike="noStrike">
              <a:solidFill>
                <a:srgbClr val="F4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está invisível no momento.</a:t>
            </a:r>
            <a:endParaRPr b="0" i="0" sz="9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g3a985e030cf_0_312"/>
          <p:cNvSpPr txBox="1"/>
          <p:nvPr>
            <p:ph idx="4294967295" type="ctrTitle"/>
          </p:nvPr>
        </p:nvSpPr>
        <p:spPr>
          <a:xfrm>
            <a:off x="6954727" y="3904448"/>
            <a:ext cx="21138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15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Não escala</a:t>
            </a:r>
            <a:endParaRPr b="0" i="0" sz="1500" u="none" cap="none" strike="noStrike">
              <a:solidFill>
                <a:srgbClr val="F4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o modelo atual.</a:t>
            </a:r>
            <a:endParaRPr b="0" i="0" sz="9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g3a985e030cf_0_312"/>
          <p:cNvSpPr/>
          <p:nvPr/>
        </p:nvSpPr>
        <p:spPr>
          <a:xfrm>
            <a:off x="1312673" y="3825975"/>
            <a:ext cx="124800" cy="124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a985e030cf_0_312"/>
          <p:cNvSpPr/>
          <p:nvPr/>
        </p:nvSpPr>
        <p:spPr>
          <a:xfrm>
            <a:off x="3527786" y="3825975"/>
            <a:ext cx="124800" cy="124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a985e030cf_0_312"/>
          <p:cNvSpPr/>
          <p:nvPr/>
        </p:nvSpPr>
        <p:spPr>
          <a:xfrm>
            <a:off x="5997923" y="3825975"/>
            <a:ext cx="124800" cy="124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a985e030cf_0_312"/>
          <p:cNvSpPr/>
          <p:nvPr/>
        </p:nvSpPr>
        <p:spPr>
          <a:xfrm>
            <a:off x="7949238" y="3825975"/>
            <a:ext cx="124800" cy="124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g3a985e030cf_0_312"/>
          <p:cNvCxnSpPr/>
          <p:nvPr/>
        </p:nvCxnSpPr>
        <p:spPr>
          <a:xfrm>
            <a:off x="5482973" y="1848450"/>
            <a:ext cx="10437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80" name="Google Shape;80;g3a985e030cf_0_312"/>
          <p:cNvSpPr txBox="1"/>
          <p:nvPr/>
        </p:nvSpPr>
        <p:spPr>
          <a:xfrm>
            <a:off x="6647348" y="2151564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g3a985e030cf_0_312" title="crisis_1046829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1697" y="3189673"/>
            <a:ext cx="566749" cy="56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g3a985e030cf_0_312" title="problem-solving_62892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6823" y="3189700"/>
            <a:ext cx="566749" cy="56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3a985e030cf_0_312" title="tracking-delivery_127836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6946" y="3189698"/>
            <a:ext cx="566749" cy="56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g3a985e030cf_0_312" title="crescer.png"/>
          <p:cNvPicPr preferRelativeResize="0"/>
          <p:nvPr/>
        </p:nvPicPr>
        <p:blipFill>
          <a:blip r:embed="rId6">
            <a:alphaModFix amt="66000"/>
          </a:blip>
          <a:stretch>
            <a:fillRect/>
          </a:stretch>
        </p:blipFill>
        <p:spPr>
          <a:xfrm>
            <a:off x="7728252" y="3189715"/>
            <a:ext cx="566749" cy="566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48dbee20f_0_364"/>
          <p:cNvSpPr txBox="1"/>
          <p:nvPr/>
        </p:nvSpPr>
        <p:spPr>
          <a:xfrm>
            <a:off x="144650" y="20176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d48dbee20f_0_364"/>
          <p:cNvSpPr txBox="1"/>
          <p:nvPr/>
        </p:nvSpPr>
        <p:spPr>
          <a:xfrm>
            <a:off x="96450" y="0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600" u="none" cap="none" strike="noStrike">
                <a:solidFill>
                  <a:srgbClr val="FCE5CD"/>
                </a:solidFill>
                <a:latin typeface="Montserrat"/>
                <a:ea typeface="Montserrat"/>
                <a:cs typeface="Montserrat"/>
                <a:sym typeface="Montserrat"/>
              </a:rPr>
              <a:t>_ </a:t>
            </a:r>
            <a:r>
              <a:rPr b="0" i="0" lang="pt-BR" sz="2000" u="none" cap="none" strike="noStrik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Solução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2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Agora temos visibilidade real da qualidade e clareza objetiva de </a:t>
            </a:r>
            <a:r>
              <a:rPr b="1" lang="pt-B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onde agir</a:t>
            </a:r>
            <a:endParaRPr b="1"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91" name="Google Shape;91;g3d48dbee20f_0_364"/>
          <p:cNvSpPr/>
          <p:nvPr/>
        </p:nvSpPr>
        <p:spPr>
          <a:xfrm>
            <a:off x="691150" y="1012625"/>
            <a:ext cx="7699200" cy="38496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&lt; Gif do dashboard rodando</a:t>
            </a:r>
            <a:endParaRPr>
              <a:solidFill>
                <a:srgbClr val="B7B7B7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7B7B7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Colocar uma tela no fim escrito:</a:t>
            </a:r>
            <a:endParaRPr>
              <a:solidFill>
                <a:srgbClr val="B7B7B7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 isso: onde agir, imediatamente; priorização baseada em dados; evolução acompanhada em escala  &gt;</a:t>
            </a:r>
            <a:endParaRPr>
              <a:solidFill>
                <a:srgbClr val="B7B7B7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48dbee20f_0_26"/>
          <p:cNvSpPr/>
          <p:nvPr/>
        </p:nvSpPr>
        <p:spPr>
          <a:xfrm>
            <a:off x="7128976" y="2286531"/>
            <a:ext cx="1655400" cy="941700"/>
          </a:xfrm>
          <a:prstGeom prst="rect">
            <a:avLst/>
          </a:prstGeom>
          <a:noFill/>
          <a:ln cap="flat" cmpd="sng" w="9525">
            <a:solidFill>
              <a:srgbClr val="FFF2C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d48dbee20f_0_26"/>
          <p:cNvSpPr/>
          <p:nvPr/>
        </p:nvSpPr>
        <p:spPr>
          <a:xfrm>
            <a:off x="4933550" y="2286531"/>
            <a:ext cx="1655400" cy="941700"/>
          </a:xfrm>
          <a:prstGeom prst="rect">
            <a:avLst/>
          </a:prstGeom>
          <a:noFill/>
          <a:ln cap="flat" cmpd="sng" w="9525">
            <a:solidFill>
              <a:srgbClr val="D9EAD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d48dbee20f_0_26"/>
          <p:cNvSpPr/>
          <p:nvPr/>
        </p:nvSpPr>
        <p:spPr>
          <a:xfrm>
            <a:off x="2621251" y="2286531"/>
            <a:ext cx="1655400" cy="941700"/>
          </a:xfrm>
          <a:prstGeom prst="rect">
            <a:avLst/>
          </a:prstGeom>
          <a:noFill/>
          <a:ln cap="flat" cmpd="sng" w="9525">
            <a:solidFill>
              <a:srgbClr val="D9EAD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d48dbee20f_0_26"/>
          <p:cNvSpPr/>
          <p:nvPr/>
        </p:nvSpPr>
        <p:spPr>
          <a:xfrm>
            <a:off x="359613" y="2286531"/>
            <a:ext cx="1655400" cy="941700"/>
          </a:xfrm>
          <a:prstGeom prst="rect">
            <a:avLst/>
          </a:prstGeom>
          <a:noFill/>
          <a:ln cap="flat" cmpd="sng" w="9525">
            <a:solidFill>
              <a:srgbClr val="F4CCC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d48dbee20f_0_26"/>
          <p:cNvSpPr txBox="1"/>
          <p:nvPr/>
        </p:nvSpPr>
        <p:spPr>
          <a:xfrm>
            <a:off x="96450" y="0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600" u="none" cap="none" strike="noStrike">
                <a:solidFill>
                  <a:srgbClr val="FCE5CD"/>
                </a:solidFill>
                <a:latin typeface="Montserrat"/>
                <a:ea typeface="Montserrat"/>
                <a:cs typeface="Montserrat"/>
                <a:sym typeface="Montserrat"/>
              </a:rPr>
              <a:t>_ </a:t>
            </a:r>
            <a:r>
              <a:rPr b="0" i="0" lang="pt-BR" sz="2000" u="none" cap="none" strike="noStrik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Panorama Atual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2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Mesmo com 45% de cobertura, o </a:t>
            </a:r>
            <a:r>
              <a:rPr b="1" lang="pt-B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problema já é evidente</a:t>
            </a:r>
            <a:endParaRPr b="1"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01" name="Google Shape;101;g3d48dbee20f_0_26"/>
          <p:cNvSpPr txBox="1"/>
          <p:nvPr>
            <p:ph idx="4294967295" type="ctrTitle"/>
          </p:nvPr>
        </p:nvSpPr>
        <p:spPr>
          <a:xfrm>
            <a:off x="359750" y="2310325"/>
            <a:ext cx="16554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3000" u="none" cap="none" strike="noStrike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62%</a:t>
            </a:r>
            <a:endParaRPr b="1" i="0" sz="3000" u="none" cap="none" strike="noStrike">
              <a:solidFill>
                <a:srgbClr val="F4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1500" u="none" cap="none" strike="noStrike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endParaRPr b="0" i="0" sz="1500" u="none" cap="none" strike="noStrike">
              <a:solidFill>
                <a:srgbClr val="F4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g3d48dbee20f_0_26"/>
          <p:cNvSpPr txBox="1"/>
          <p:nvPr>
            <p:ph idx="4294967295" type="ctrTitle"/>
          </p:nvPr>
        </p:nvSpPr>
        <p:spPr>
          <a:xfrm>
            <a:off x="2614450" y="2278825"/>
            <a:ext cx="16554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000" u="none" cap="none" strike="noStrike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96%</a:t>
            </a:r>
            <a:endParaRPr b="0" i="0" sz="20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15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  <a:endParaRPr b="0" i="0" sz="15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g3d48dbee20f_0_26"/>
          <p:cNvSpPr txBox="1"/>
          <p:nvPr>
            <p:ph idx="4294967295" type="ctrTitle"/>
          </p:nvPr>
        </p:nvSpPr>
        <p:spPr>
          <a:xfrm>
            <a:off x="4933550" y="2286525"/>
            <a:ext cx="16554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000" u="none" cap="none" strike="noStrike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97%</a:t>
            </a:r>
            <a:endParaRPr b="0" i="0" sz="20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15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Accessibility</a:t>
            </a:r>
            <a:endParaRPr b="0" i="0" sz="15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g3d48dbee20f_0_26"/>
          <p:cNvSpPr txBox="1"/>
          <p:nvPr>
            <p:ph idx="4294967295" type="ctrTitle"/>
          </p:nvPr>
        </p:nvSpPr>
        <p:spPr>
          <a:xfrm>
            <a:off x="7122150" y="2278825"/>
            <a:ext cx="16554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2000" u="none" cap="none" strike="noStrike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88%</a:t>
            </a:r>
            <a:endParaRPr b="0" i="0" sz="20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15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Seo</a:t>
            </a:r>
            <a:endParaRPr b="0" i="0" sz="15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g3d48dbee20f_0_26"/>
          <p:cNvSpPr txBox="1"/>
          <p:nvPr/>
        </p:nvSpPr>
        <p:spPr>
          <a:xfrm>
            <a:off x="217875" y="3276325"/>
            <a:ext cx="193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pt-BR" sz="12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Principal risco</a:t>
            </a:r>
            <a:r>
              <a:rPr lang="pt-BR" sz="12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 de experiência e conversão do </a:t>
            </a:r>
            <a:r>
              <a:rPr b="1" lang="pt-BR" sz="12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usuário</a:t>
            </a:r>
            <a:r>
              <a:rPr lang="pt-BR" sz="12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i="0" sz="12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g3d48dbee20f_0_26" title="crisis_1046829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925" y="1607349"/>
            <a:ext cx="631050" cy="6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48dbee20f_0_52"/>
          <p:cNvSpPr txBox="1"/>
          <p:nvPr/>
        </p:nvSpPr>
        <p:spPr>
          <a:xfrm>
            <a:off x="96450" y="56257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600" u="none" cap="none" strike="noStrike">
                <a:solidFill>
                  <a:srgbClr val="FCE5CD"/>
                </a:solidFill>
                <a:latin typeface="Montserrat"/>
                <a:ea typeface="Montserrat"/>
                <a:cs typeface="Montserrat"/>
                <a:sym typeface="Montserrat"/>
              </a:rPr>
              <a:t>_ 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Como o dashboard resolve isso na </a:t>
            </a:r>
            <a:r>
              <a:rPr b="1"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prática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g3d48dbee20f_0_52"/>
          <p:cNvSpPr/>
          <p:nvPr/>
        </p:nvSpPr>
        <p:spPr>
          <a:xfrm>
            <a:off x="287250" y="1012250"/>
            <a:ext cx="3554400" cy="35061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d48dbee20f_0_52"/>
          <p:cNvSpPr/>
          <p:nvPr/>
        </p:nvSpPr>
        <p:spPr>
          <a:xfrm>
            <a:off x="287250" y="1012250"/>
            <a:ext cx="74700" cy="35061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d48dbee20f_0_52"/>
          <p:cNvSpPr/>
          <p:nvPr/>
        </p:nvSpPr>
        <p:spPr>
          <a:xfrm>
            <a:off x="470125" y="1103700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Identificar rapidamente onde agir</a:t>
            </a:r>
            <a:endParaRPr b="0" i="0" sz="14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5" name="Google Shape;115;g3d48dbee20f_0_52"/>
          <p:cNvSpPr/>
          <p:nvPr/>
        </p:nvSpPr>
        <p:spPr>
          <a:xfrm>
            <a:off x="470125" y="1368684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Problemas críticos identificados em d-1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g3d48dbee20f_0_52"/>
          <p:cNvSpPr/>
          <p:nvPr/>
        </p:nvSpPr>
        <p:spPr>
          <a:xfrm>
            <a:off x="470125" y="1647526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Lacunas de cobertura expostas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 em d-1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g3d48dbee20f_0_52"/>
          <p:cNvSpPr/>
          <p:nvPr/>
        </p:nvSpPr>
        <p:spPr>
          <a:xfrm>
            <a:off x="470125" y="2388883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Atacar primeiro o que mais impacta o negócio</a:t>
            </a:r>
            <a:endParaRPr b="0" i="0" sz="14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8" name="Google Shape;118;g3d48dbee20f_0_52"/>
          <p:cNvSpPr/>
          <p:nvPr/>
        </p:nvSpPr>
        <p:spPr>
          <a:xfrm>
            <a:off x="470125" y="2809153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Priorização por Score + Volume (impacto real)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g3d48dbee20f_0_52"/>
          <p:cNvSpPr/>
          <p:nvPr/>
        </p:nvSpPr>
        <p:spPr>
          <a:xfrm>
            <a:off x="470125" y="3136741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Foco direto nos repositórios mais críticos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g3d48dbee20f_0_52"/>
          <p:cNvSpPr/>
          <p:nvPr/>
        </p:nvSpPr>
        <p:spPr>
          <a:xfrm>
            <a:off x="470125" y="3578116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Garantir Evolução Contínua</a:t>
            </a:r>
            <a:endParaRPr b="0" i="0" sz="14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1" name="Google Shape;121;g3d48dbee20f_0_52"/>
          <p:cNvSpPr/>
          <p:nvPr/>
        </p:nvSpPr>
        <p:spPr>
          <a:xfrm>
            <a:off x="470125" y="3815486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Evolução acompanhada entre inspeções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g3d48dbee20f_0_52"/>
          <p:cNvSpPr/>
          <p:nvPr/>
        </p:nvSpPr>
        <p:spPr>
          <a:xfrm>
            <a:off x="470125" y="4070743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Adoção do Lighthouse ao longo do tempo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48dbee20f_0_312"/>
          <p:cNvSpPr txBox="1"/>
          <p:nvPr/>
        </p:nvSpPr>
        <p:spPr>
          <a:xfrm>
            <a:off x="96450" y="56257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600" u="none" cap="none" strike="noStrike">
                <a:solidFill>
                  <a:srgbClr val="FCE5CD"/>
                </a:solidFill>
                <a:latin typeface="Montserrat"/>
                <a:ea typeface="Montserrat"/>
                <a:cs typeface="Montserrat"/>
                <a:sym typeface="Montserrat"/>
              </a:rPr>
              <a:t>_ 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Como o dashboard resolve isso na </a:t>
            </a:r>
            <a:r>
              <a:rPr b="1"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prática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2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g3d48dbee20f_0_312"/>
          <p:cNvSpPr/>
          <p:nvPr/>
        </p:nvSpPr>
        <p:spPr>
          <a:xfrm>
            <a:off x="288025" y="1012250"/>
            <a:ext cx="3639300" cy="35061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d48dbee20f_0_312"/>
          <p:cNvSpPr/>
          <p:nvPr/>
        </p:nvSpPr>
        <p:spPr>
          <a:xfrm>
            <a:off x="288025" y="1012250"/>
            <a:ext cx="74700" cy="35061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d48dbee20f_0_312"/>
          <p:cNvSpPr/>
          <p:nvPr/>
        </p:nvSpPr>
        <p:spPr>
          <a:xfrm>
            <a:off x="470900" y="1199302"/>
            <a:ext cx="3450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Corrigir agora o que está derrubando o score</a:t>
            </a:r>
            <a:endParaRPr b="0" i="0" sz="14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1" name="Google Shape;131;g3d48dbee20f_0_312"/>
          <p:cNvSpPr/>
          <p:nvPr/>
        </p:nvSpPr>
        <p:spPr>
          <a:xfrm>
            <a:off x="470911" y="1594910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Piores desempenhos identificados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g3d48dbee20f_0_312"/>
          <p:cNvSpPr/>
          <p:nvPr/>
        </p:nvSpPr>
        <p:spPr>
          <a:xfrm>
            <a:off x="470911" y="1825532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Foco imediato nos maiores riscos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g3d48dbee20f_0_312"/>
          <p:cNvSpPr/>
          <p:nvPr/>
        </p:nvSpPr>
        <p:spPr>
          <a:xfrm>
            <a:off x="466836" y="2349562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Ganho Rápido (QuickWins)</a:t>
            </a:r>
            <a:endParaRPr b="0" i="0" sz="14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4" name="Google Shape;134;g3d48dbee20f_0_312"/>
          <p:cNvSpPr/>
          <p:nvPr/>
        </p:nvSpPr>
        <p:spPr>
          <a:xfrm>
            <a:off x="466836" y="2598472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Ações de baixo esforço e alto retorno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g3d48dbee20f_0_312"/>
          <p:cNvSpPr/>
          <p:nvPr/>
        </p:nvSpPr>
        <p:spPr>
          <a:xfrm>
            <a:off x="466836" y="2837131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Correções rápidas que elevam o score geral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g3d48dbee20f_0_312"/>
          <p:cNvSpPr/>
          <p:nvPr/>
        </p:nvSpPr>
        <p:spPr>
          <a:xfrm>
            <a:off x="479061" y="3337780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Manter e Monitorar continuamente</a:t>
            </a:r>
            <a:endParaRPr b="0" i="0" sz="14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7" name="Google Shape;137;g3d48dbee20f_0_312"/>
          <p:cNvSpPr/>
          <p:nvPr/>
        </p:nvSpPr>
        <p:spPr>
          <a:xfrm>
            <a:off x="479061" y="3650983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Visão contínua de melhores e piores desempenhos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g3d48dbee20f_0_312"/>
          <p:cNvSpPr/>
          <p:nvPr/>
        </p:nvSpPr>
        <p:spPr>
          <a:xfrm>
            <a:off x="479061" y="3970010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Evolução sustentada ao longo do tempo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48dbee20f_0_328"/>
          <p:cNvSpPr txBox="1"/>
          <p:nvPr/>
        </p:nvSpPr>
        <p:spPr>
          <a:xfrm>
            <a:off x="96450" y="56257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600" u="none" cap="none" strike="noStrike">
                <a:solidFill>
                  <a:srgbClr val="FCE5CD"/>
                </a:solidFill>
                <a:latin typeface="Montserrat"/>
                <a:ea typeface="Montserrat"/>
                <a:cs typeface="Montserrat"/>
                <a:sym typeface="Montserrat"/>
              </a:rPr>
              <a:t>_ 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Como o dashboard resolve isso na </a:t>
            </a:r>
            <a:r>
              <a:rPr b="1"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prática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2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g3d48dbee20f_0_328"/>
          <p:cNvSpPr/>
          <p:nvPr/>
        </p:nvSpPr>
        <p:spPr>
          <a:xfrm>
            <a:off x="285089" y="1012250"/>
            <a:ext cx="3527400" cy="35061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5" name="Google Shape;145;g3d48dbee20f_0_328"/>
          <p:cNvSpPr/>
          <p:nvPr/>
        </p:nvSpPr>
        <p:spPr>
          <a:xfrm>
            <a:off x="284264" y="1012253"/>
            <a:ext cx="74700" cy="35061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6" name="Google Shape;146;g3d48dbee20f_0_328"/>
          <p:cNvSpPr/>
          <p:nvPr/>
        </p:nvSpPr>
        <p:spPr>
          <a:xfrm>
            <a:off x="491264" y="1329376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Ir direto na raiz do problema</a:t>
            </a:r>
            <a:endParaRPr b="0" i="0" sz="14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7" name="Google Shape;147;g3d48dbee20f_0_328"/>
          <p:cNvSpPr/>
          <p:nvPr/>
        </p:nvSpPr>
        <p:spPr>
          <a:xfrm>
            <a:off x="491264" y="1626506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Repositórios com maior impacto identificados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g3d48dbee20f_0_328"/>
          <p:cNvSpPr/>
          <p:nvPr/>
        </p:nvSpPr>
        <p:spPr>
          <a:xfrm>
            <a:off x="491264" y="1945532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Gargalos específicos por sistema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g3d48dbee20f_0_328"/>
          <p:cNvSpPr/>
          <p:nvPr/>
        </p:nvSpPr>
        <p:spPr>
          <a:xfrm>
            <a:off x="487189" y="2382077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Ranking claro do que é mais crítico</a:t>
            </a:r>
            <a:endParaRPr b="0" i="0" sz="14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0" name="Google Shape;150;g3d48dbee20f_0_328"/>
          <p:cNvSpPr/>
          <p:nvPr/>
        </p:nvSpPr>
        <p:spPr>
          <a:xfrm>
            <a:off x="487189" y="2623735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Score ajustado (Volume + Qualidade)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g3d48dbee20f_0_328"/>
          <p:cNvSpPr/>
          <p:nvPr/>
        </p:nvSpPr>
        <p:spPr>
          <a:xfrm>
            <a:off x="487189" y="2854357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Ordenação clara de Criticidade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g3d48dbee20f_0_328"/>
          <p:cNvSpPr/>
          <p:nvPr/>
        </p:nvSpPr>
        <p:spPr>
          <a:xfrm>
            <a:off x="499414" y="3264898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Atuar na causa do problema</a:t>
            </a:r>
            <a:endParaRPr b="0" i="0" sz="14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3" name="Google Shape;153;g3d48dbee20f_0_328"/>
          <p:cNvSpPr/>
          <p:nvPr/>
        </p:nvSpPr>
        <p:spPr>
          <a:xfrm>
            <a:off x="499414" y="3570066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Performance, Accessibility, Best Practices e Seo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g3d48dbee20f_0_328"/>
          <p:cNvSpPr/>
          <p:nvPr/>
        </p:nvSpPr>
        <p:spPr>
          <a:xfrm>
            <a:off x="499414" y="3881055"/>
            <a:ext cx="3275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r>
              <a:rPr b="1" i="0" lang="pt-BR" sz="1100" u="none" cap="none" strike="noStrike">
                <a:solidFill>
                  <a:srgbClr val="FF6B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1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Diagnóstico preciso por Dimensão</a:t>
            </a:r>
            <a:endParaRPr b="0" i="0" sz="1100" u="none" cap="none" strike="noStrike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48dbee20f_0_122"/>
          <p:cNvSpPr txBox="1"/>
          <p:nvPr/>
        </p:nvSpPr>
        <p:spPr>
          <a:xfrm>
            <a:off x="96450" y="56257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600" u="none" cap="none" strike="noStrike">
                <a:solidFill>
                  <a:srgbClr val="FFF2CC"/>
                </a:solidFill>
                <a:latin typeface="Montserrat"/>
                <a:ea typeface="Montserrat"/>
                <a:cs typeface="Montserrat"/>
                <a:sym typeface="Montserrat"/>
              </a:rPr>
              <a:t>_ </a:t>
            </a:r>
            <a:r>
              <a:rPr b="0" i="0" lang="pt-BR" sz="2000" u="none" cap="none" strike="noStrik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Por que isso </a:t>
            </a:r>
            <a:r>
              <a:rPr b="1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importa</a:t>
            </a:r>
            <a:r>
              <a:rPr b="0" i="0" lang="pt-BR" sz="2000" u="none" cap="none" strike="noStrik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g3d48dbee20f_0_122"/>
          <p:cNvSpPr txBox="1"/>
          <p:nvPr>
            <p:ph idx="1" type="subTitle"/>
          </p:nvPr>
        </p:nvSpPr>
        <p:spPr>
          <a:xfrm>
            <a:off x="0" y="1174650"/>
            <a:ext cx="9144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“Você não pode </a:t>
            </a:r>
            <a:r>
              <a:rPr b="1" lang="pt-BR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melhorar</a:t>
            </a:r>
            <a:r>
              <a:rPr lang="pt-BR"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aquilo que não consegue </a:t>
            </a:r>
            <a:r>
              <a:rPr b="1" lang="pt-BR" sz="1600">
                <a:solidFill>
                  <a:srgbClr val="FFF2CC"/>
                </a:solidFill>
                <a:latin typeface="Montserrat"/>
                <a:ea typeface="Montserrat"/>
                <a:cs typeface="Montserrat"/>
                <a:sym typeface="Montserrat"/>
              </a:rPr>
              <a:t>medir</a:t>
            </a:r>
            <a:r>
              <a:rPr lang="pt-BR"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.”</a:t>
            </a:r>
            <a:endParaRPr sz="1600">
              <a:solidFill>
                <a:srgbClr val="FCE5CD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61" name="Google Shape;161;g3d48dbee20f_0_122"/>
          <p:cNvSpPr/>
          <p:nvPr/>
        </p:nvSpPr>
        <p:spPr>
          <a:xfrm>
            <a:off x="434300" y="2070425"/>
            <a:ext cx="2606100" cy="2606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d48dbee20f_0_122"/>
          <p:cNvSpPr/>
          <p:nvPr/>
        </p:nvSpPr>
        <p:spPr>
          <a:xfrm>
            <a:off x="434300" y="2078475"/>
            <a:ext cx="2606100" cy="5028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d48dbee20f_0_122"/>
          <p:cNvSpPr/>
          <p:nvPr/>
        </p:nvSpPr>
        <p:spPr>
          <a:xfrm>
            <a:off x="434300" y="2078475"/>
            <a:ext cx="2606100" cy="502800"/>
          </a:xfrm>
          <a:prstGeom prst="rect">
            <a:avLst/>
          </a:prstGeom>
          <a:noFill/>
          <a:ln cap="flat" cmpd="sng" w="9525">
            <a:solidFill>
              <a:srgbClr val="FFF2C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lang="pt-B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Resultado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g3d48dbee20f_0_122"/>
          <p:cNvSpPr/>
          <p:nvPr/>
        </p:nvSpPr>
        <p:spPr>
          <a:xfrm>
            <a:off x="502400" y="2795000"/>
            <a:ext cx="2469900" cy="16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Calibri"/>
              <a:buNone/>
            </a:pPr>
            <a:r>
              <a:rPr b="1" lang="pt-BR" sz="12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Decisão</a:t>
            </a:r>
            <a:r>
              <a:rPr b="1" lang="pt-B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pt-BR" sz="12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xx mais rápida</a:t>
            </a:r>
            <a:endParaRPr b="1"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Montserrat"/>
              <a:buChar char="●"/>
            </a:pPr>
            <a:r>
              <a:rPr lang="pt-BR" sz="12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De x horas analisando dados →</a:t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y minutos para decidir com clareza</a:t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Montserrat"/>
              <a:buChar char="●"/>
            </a:pPr>
            <a:r>
              <a:rPr lang="pt-BR" sz="12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Priorização imediata do que mais impacta</a:t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g3d48dbee20f_0_122"/>
          <p:cNvSpPr/>
          <p:nvPr/>
        </p:nvSpPr>
        <p:spPr>
          <a:xfrm>
            <a:off x="3268950" y="2070425"/>
            <a:ext cx="2606100" cy="2606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d48dbee20f_0_122"/>
          <p:cNvSpPr/>
          <p:nvPr/>
        </p:nvSpPr>
        <p:spPr>
          <a:xfrm>
            <a:off x="3337050" y="2942900"/>
            <a:ext cx="2469900" cy="13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Calibri"/>
              <a:buNone/>
            </a:pPr>
            <a:r>
              <a:rPr b="1" lang="pt-B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Clareza de responsabilidade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Montserrat"/>
              <a:buChar char="●"/>
            </a:pPr>
            <a:r>
              <a:rPr lang="pt-BR" sz="12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100% dos repositórios com dono definido</a:t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Montserrat"/>
              <a:buChar char="●"/>
            </a:pPr>
            <a:r>
              <a:rPr lang="pt-BR" sz="12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Visibilidade clara de desempenho por time</a:t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g3d48dbee20f_0_122"/>
          <p:cNvSpPr/>
          <p:nvPr/>
        </p:nvSpPr>
        <p:spPr>
          <a:xfrm>
            <a:off x="6171700" y="2070425"/>
            <a:ext cx="2606100" cy="2606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d48dbee20f_0_122"/>
          <p:cNvSpPr/>
          <p:nvPr/>
        </p:nvSpPr>
        <p:spPr>
          <a:xfrm>
            <a:off x="6239800" y="2961212"/>
            <a:ext cx="24699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Calibri"/>
              <a:buNone/>
            </a:pPr>
            <a:r>
              <a:rPr b="1" lang="pt-BR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Redução de Risco Operacional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Montserrat"/>
              <a:buChar char="●"/>
            </a:pPr>
            <a:r>
              <a:rPr lang="pt-BR" sz="12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Identificação antecipada de problemas</a:t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200"/>
              <a:buFont typeface="Montserrat"/>
              <a:buChar char="●"/>
            </a:pPr>
            <a:r>
              <a:rPr lang="pt-BR" sz="1200">
                <a:solidFill>
                  <a:srgbClr val="E8EDF4"/>
                </a:solidFill>
                <a:latin typeface="Montserrat"/>
                <a:ea typeface="Montserrat"/>
                <a:cs typeface="Montserrat"/>
                <a:sym typeface="Montserrat"/>
              </a:rPr>
              <a:t>Redução de incidentes em produção</a:t>
            </a:r>
            <a:endParaRPr sz="1200">
              <a:solidFill>
                <a:srgbClr val="E8ED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g3d48dbee20f_0_122"/>
          <p:cNvSpPr/>
          <p:nvPr/>
        </p:nvSpPr>
        <p:spPr>
          <a:xfrm>
            <a:off x="3268950" y="2078475"/>
            <a:ext cx="2606100" cy="5028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d48dbee20f_0_122"/>
          <p:cNvSpPr/>
          <p:nvPr/>
        </p:nvSpPr>
        <p:spPr>
          <a:xfrm>
            <a:off x="3268950" y="2078475"/>
            <a:ext cx="2606100" cy="502800"/>
          </a:xfrm>
          <a:prstGeom prst="rect">
            <a:avLst/>
          </a:prstGeom>
          <a:noFill/>
          <a:ln cap="flat" cmpd="sng" w="9525">
            <a:solidFill>
              <a:srgbClr val="FFF2C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lang="pt-B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Gestão</a:t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71" name="Google Shape;171;g3d48dbee20f_0_122"/>
          <p:cNvSpPr/>
          <p:nvPr/>
        </p:nvSpPr>
        <p:spPr>
          <a:xfrm>
            <a:off x="6171700" y="2078475"/>
            <a:ext cx="2606100" cy="5028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d48dbee20f_0_122"/>
          <p:cNvSpPr/>
          <p:nvPr/>
        </p:nvSpPr>
        <p:spPr>
          <a:xfrm>
            <a:off x="6171700" y="2078475"/>
            <a:ext cx="2606100" cy="502800"/>
          </a:xfrm>
          <a:prstGeom prst="rect">
            <a:avLst/>
          </a:prstGeom>
          <a:noFill/>
          <a:ln cap="flat" cmpd="sng" w="9525">
            <a:solidFill>
              <a:srgbClr val="FFF2C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Calibri"/>
              <a:buNone/>
            </a:pPr>
            <a:r>
              <a:rPr b="1" lang="pt-BR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Prevenção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5a6249d99_0_126"/>
          <p:cNvSpPr txBox="1"/>
          <p:nvPr/>
        </p:nvSpPr>
        <p:spPr>
          <a:xfrm>
            <a:off x="96450" y="-88404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600" u="none" cap="none" strike="noStrike">
                <a:solidFill>
                  <a:srgbClr val="FFF2CC"/>
                </a:solidFill>
                <a:latin typeface="Montserrat"/>
                <a:ea typeface="Montserrat"/>
                <a:cs typeface="Montserrat"/>
                <a:sym typeface="Montserrat"/>
              </a:rPr>
              <a:t>_</a:t>
            </a:r>
            <a:r>
              <a:rPr b="1" i="0" lang="pt-BR" sz="1600" u="none" cap="none" strike="noStrike">
                <a:solidFill>
                  <a:srgbClr val="FCE5C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Aprofundamento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b="1"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Suporte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g3d5a6249d99_0_126"/>
          <p:cNvSpPr/>
          <p:nvPr/>
        </p:nvSpPr>
        <p:spPr>
          <a:xfrm>
            <a:off x="75" y="2161650"/>
            <a:ext cx="9144000" cy="8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lang="pt-BR" sz="15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Para dúvidas conceituais e entendimento das métricas, consulte a </a:t>
            </a:r>
            <a:r>
              <a:rPr b="1" lang="pt-BR" sz="15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documentação</a:t>
            </a:r>
            <a:r>
              <a:rPr b="1" lang="pt-BR" sz="15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15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oficial. </a:t>
            </a:r>
            <a:endParaRPr sz="15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t/>
            </a:r>
            <a:endParaRPr sz="15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lang="pt-BR" sz="15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Para validações práticas e simulações, utilize o </a:t>
            </a:r>
            <a:r>
              <a:rPr b="1" lang="pt-BR" sz="15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caderno de testes</a:t>
            </a:r>
            <a:r>
              <a:rPr lang="pt-BR" sz="15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5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48dbee20f_0_174"/>
          <p:cNvSpPr txBox="1"/>
          <p:nvPr/>
        </p:nvSpPr>
        <p:spPr>
          <a:xfrm>
            <a:off x="96450" y="-88404"/>
            <a:ext cx="8681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1600" u="none" cap="none" strike="noStrike">
                <a:solidFill>
                  <a:srgbClr val="FFF2CC"/>
                </a:solidFill>
                <a:latin typeface="Montserrat"/>
                <a:ea typeface="Montserrat"/>
                <a:cs typeface="Montserrat"/>
                <a:sym typeface="Montserrat"/>
              </a:rPr>
              <a:t>_</a:t>
            </a:r>
            <a:r>
              <a:rPr b="1" i="0" lang="pt-BR" sz="1600" u="none" cap="none" strike="noStrike">
                <a:solidFill>
                  <a:srgbClr val="FCE5C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Como </a:t>
            </a:r>
            <a:r>
              <a:rPr b="1" lang="pt-BR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elevamos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 Qualidade em Escala?</a:t>
            </a:r>
            <a:endParaRPr b="0" i="0" sz="2000" u="none" cap="none" strike="noStrike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g3d48dbee20f_0_174"/>
          <p:cNvSpPr/>
          <p:nvPr/>
        </p:nvSpPr>
        <p:spPr>
          <a:xfrm>
            <a:off x="365710" y="949590"/>
            <a:ext cx="8412600" cy="804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d48dbee20f_0_174"/>
          <p:cNvSpPr/>
          <p:nvPr/>
        </p:nvSpPr>
        <p:spPr>
          <a:xfrm>
            <a:off x="1188670" y="981451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Cobertura Total</a:t>
            </a:r>
            <a:endParaRPr b="0" i="0" sz="14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6" name="Google Shape;186;g3d48dbee20f_0_174"/>
          <p:cNvSpPr/>
          <p:nvPr/>
        </p:nvSpPr>
        <p:spPr>
          <a:xfrm>
            <a:off x="1188670" y="1301491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De 45 -&gt; 100% de inspeção ativa. </a:t>
            </a:r>
            <a:endParaRPr sz="11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Base completa para tomada de decisão.</a:t>
            </a:r>
            <a:endParaRPr b="0" i="0" sz="11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3d48dbee20f_0_174"/>
          <p:cNvSpPr/>
          <p:nvPr/>
        </p:nvSpPr>
        <p:spPr>
          <a:xfrm>
            <a:off x="5303475" y="1144875"/>
            <a:ext cx="3299700" cy="402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Impacto esperado</a:t>
            </a:r>
            <a:r>
              <a:rPr b="0" i="0" lang="pt-B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b="1" i="0" lang="pt-B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+100%</a:t>
            </a:r>
            <a:r>
              <a:rPr b="0" i="0" lang="pt-BR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 visbilidade</a:t>
            </a:r>
            <a:endParaRPr b="0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g3d48dbee20f_0_174"/>
          <p:cNvSpPr/>
          <p:nvPr/>
        </p:nvSpPr>
        <p:spPr>
          <a:xfrm>
            <a:off x="365710" y="1909710"/>
            <a:ext cx="8412600" cy="804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d48dbee20f_0_174"/>
          <p:cNvSpPr/>
          <p:nvPr/>
        </p:nvSpPr>
        <p:spPr>
          <a:xfrm>
            <a:off x="1188670" y="1933534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Garantir o nível mínimo de Performance</a:t>
            </a:r>
            <a:endParaRPr b="0" i="0" sz="14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0" name="Google Shape;190;g3d48dbee20f_0_174"/>
          <p:cNvSpPr/>
          <p:nvPr/>
        </p:nvSpPr>
        <p:spPr>
          <a:xfrm>
            <a:off x="1188675" y="2253563"/>
            <a:ext cx="427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De 62% para 80%. </a:t>
            </a:r>
            <a:endParaRPr sz="11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Foco nos maiores gargalos.</a:t>
            </a:r>
            <a:endParaRPr b="0" i="0" sz="11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g3d48dbee20f_0_174"/>
          <p:cNvSpPr/>
          <p:nvPr/>
        </p:nvSpPr>
        <p:spPr>
          <a:xfrm>
            <a:off x="5303475" y="2110850"/>
            <a:ext cx="3299700" cy="402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Impacto esperado: Performance </a:t>
            </a:r>
            <a:r>
              <a:rPr b="1"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&gt; 80%</a:t>
            </a:r>
            <a:endParaRPr b="1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3d48dbee20f_0_174"/>
          <p:cNvSpPr/>
          <p:nvPr/>
        </p:nvSpPr>
        <p:spPr>
          <a:xfrm>
            <a:off x="365710" y="2869830"/>
            <a:ext cx="8412600" cy="804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d48dbee20f_0_174"/>
          <p:cNvSpPr/>
          <p:nvPr/>
        </p:nvSpPr>
        <p:spPr>
          <a:xfrm>
            <a:off x="1188670" y="2901691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Identificar a causa dos gargalos</a:t>
            </a:r>
            <a:endParaRPr b="0" i="0" sz="14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4" name="Google Shape;194;g3d48dbee20f_0_174"/>
          <p:cNvSpPr/>
          <p:nvPr/>
        </p:nvSpPr>
        <p:spPr>
          <a:xfrm>
            <a:off x="1188670" y="3221731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Visão completa de arquitetura e métricas.</a:t>
            </a:r>
            <a:endParaRPr sz="11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Identificação clara da origem dos gargalos.</a:t>
            </a:r>
            <a:endParaRPr b="0" i="0" sz="11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g3d48dbee20f_0_174"/>
          <p:cNvSpPr/>
          <p:nvPr/>
        </p:nvSpPr>
        <p:spPr>
          <a:xfrm>
            <a:off x="5303475" y="3070975"/>
            <a:ext cx="3299700" cy="402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Impacto esperado: </a:t>
            </a:r>
            <a:r>
              <a:rPr b="1"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Rastreabilidade</a:t>
            </a: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de problemas</a:t>
            </a:r>
            <a:endParaRPr b="1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g3d48dbee20f_0_174"/>
          <p:cNvSpPr/>
          <p:nvPr/>
        </p:nvSpPr>
        <p:spPr>
          <a:xfrm>
            <a:off x="365710" y="3829950"/>
            <a:ext cx="8412600" cy="804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d48dbee20f_0_174"/>
          <p:cNvSpPr/>
          <p:nvPr/>
        </p:nvSpPr>
        <p:spPr>
          <a:xfrm>
            <a:off x="1188670" y="3877885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pt-BR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Gestão de Qualidade em Escala</a:t>
            </a:r>
            <a:endParaRPr b="0" i="0" sz="14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8" name="Google Shape;198;g3d48dbee20f_0_174"/>
          <p:cNvSpPr/>
          <p:nvPr/>
        </p:nvSpPr>
        <p:spPr>
          <a:xfrm>
            <a:off x="1188670" y="4197925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Definição de OKRs técnicos por time.</a:t>
            </a:r>
            <a:endParaRPr sz="11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100"/>
              <a:buFont typeface="Calibri"/>
              <a:buNone/>
            </a:pPr>
            <a:r>
              <a:rPr lang="pt-BR" sz="1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Acompanhamento contínuo da evolução.</a:t>
            </a:r>
            <a:endParaRPr b="0" i="0" sz="11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g3d48dbee20f_0_174"/>
          <p:cNvSpPr/>
          <p:nvPr/>
        </p:nvSpPr>
        <p:spPr>
          <a:xfrm>
            <a:off x="5303475" y="4031100"/>
            <a:ext cx="3299700" cy="402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Impacto esperado: </a:t>
            </a:r>
            <a:r>
              <a:rPr b="1" lang="pt-B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Gestão escalável</a:t>
            </a:r>
            <a:endParaRPr b="1" i="0" sz="10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g3d48dbee20f_0_174"/>
          <p:cNvSpPr/>
          <p:nvPr/>
        </p:nvSpPr>
        <p:spPr>
          <a:xfrm>
            <a:off x="365710" y="949565"/>
            <a:ext cx="6858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pt-BR" sz="2000" u="none" cap="none" strike="noStrike">
                <a:solidFill>
                  <a:srgbClr val="FFF2CC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2000" u="none" cap="none" strike="noStrike">
              <a:solidFill>
                <a:srgbClr val="FFF2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d48dbee20f_0_174"/>
          <p:cNvSpPr/>
          <p:nvPr/>
        </p:nvSpPr>
        <p:spPr>
          <a:xfrm>
            <a:off x="365710" y="1909703"/>
            <a:ext cx="6858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pt-BR" sz="2000" cap="none" strike="noStrike">
                <a:solidFill>
                  <a:srgbClr val="FFF2CC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2000" cap="none" strike="noStrike">
              <a:solidFill>
                <a:srgbClr val="FFF2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d48dbee20f_0_174"/>
          <p:cNvSpPr/>
          <p:nvPr/>
        </p:nvSpPr>
        <p:spPr>
          <a:xfrm>
            <a:off x="365710" y="2869828"/>
            <a:ext cx="6858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pt-BR" sz="2000" u="none" cap="none" strike="noStrike">
                <a:solidFill>
                  <a:srgbClr val="FFF2CC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2000" u="none" cap="none" strike="noStrike">
              <a:solidFill>
                <a:srgbClr val="FFF2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d48dbee20f_0_174"/>
          <p:cNvSpPr/>
          <p:nvPr/>
        </p:nvSpPr>
        <p:spPr>
          <a:xfrm>
            <a:off x="365710" y="3829953"/>
            <a:ext cx="6858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pt-BR" sz="2000" u="none" cap="none" strike="noStrike">
                <a:solidFill>
                  <a:srgbClr val="FFF2CC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2000" u="none" cap="none" strike="noStrike">
              <a:solidFill>
                <a:srgbClr val="FFF2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