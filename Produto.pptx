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</p:sldIdLst>
  <p:sldSz cy="5143500" cx="9144000"/>
  <p:notesSz cx="6858000" cy="9144000"/>
  <p:embeddedFontLst>
    <p:embeddedFont>
      <p:font typeface="Montserrat"/>
      <p:regular r:id="rId60"/>
      <p:bold r:id="rId61"/>
      <p:italic r:id="rId62"/>
      <p:boldItalic r:id="rId63"/>
    </p:embeddedFont>
    <p:embeddedFont>
      <p:font typeface="Montserrat Light"/>
      <p:regular r:id="rId64"/>
      <p:bold r:id="rId65"/>
      <p:italic r:id="rId66"/>
      <p:boldItalic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110">
          <p15:clr>
            <a:srgbClr val="747775"/>
          </p15:clr>
        </p15:guide>
        <p15:guide id="2" pos="340">
          <p15:clr>
            <a:srgbClr val="747775"/>
          </p15:clr>
        </p15:guide>
        <p15:guide id="3" orient="horz" pos="227">
          <p15:clr>
            <a:srgbClr val="747775"/>
          </p15:clr>
        </p15:guide>
        <p15:guide id="4" orient="horz" pos="2413">
          <p15:clr>
            <a:srgbClr val="747775"/>
          </p15:clr>
        </p15:guide>
      </p15:sldGuideLst>
    </p:ext>
    <p:ext uri="GoogleSlidesCustomDataVersion2">
      <go:slidesCustomData xmlns:go="http://customooxmlschemas.google.com/" r:id="rId68" roundtripDataSignature="AMtx7mgiRzK5A/5lrkzKYJ+lIO6Q8npu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10"/>
        <p:guide pos="340"/>
        <p:guide pos="227" orient="horz"/>
        <p:guide pos="241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Montserrat-italic.fntdata"/><Relationship Id="rId61" Type="http://schemas.openxmlformats.org/officeDocument/2006/relationships/font" Target="fonts/Montserrat-bold.fntdata"/><Relationship Id="rId20" Type="http://schemas.openxmlformats.org/officeDocument/2006/relationships/slide" Target="slides/slide15.xml"/><Relationship Id="rId64" Type="http://schemas.openxmlformats.org/officeDocument/2006/relationships/font" Target="fonts/MontserratLight-regular.fntdata"/><Relationship Id="rId63" Type="http://schemas.openxmlformats.org/officeDocument/2006/relationships/font" Target="fonts/Montserrat-boldItalic.fntdata"/><Relationship Id="rId22" Type="http://schemas.openxmlformats.org/officeDocument/2006/relationships/slide" Target="slides/slide17.xml"/><Relationship Id="rId66" Type="http://schemas.openxmlformats.org/officeDocument/2006/relationships/font" Target="fonts/MontserratLight-italic.fntdata"/><Relationship Id="rId21" Type="http://schemas.openxmlformats.org/officeDocument/2006/relationships/slide" Target="slides/slide16.xml"/><Relationship Id="rId65" Type="http://schemas.openxmlformats.org/officeDocument/2006/relationships/font" Target="fonts/MontserratLight-bold.fntdata"/><Relationship Id="rId24" Type="http://schemas.openxmlformats.org/officeDocument/2006/relationships/slide" Target="slides/slide19.xml"/><Relationship Id="rId68" Type="http://customschemas.google.com/relationships/presentationmetadata" Target="metadata"/><Relationship Id="rId23" Type="http://schemas.openxmlformats.org/officeDocument/2006/relationships/slide" Target="slides/slide18.xml"/><Relationship Id="rId67" Type="http://schemas.openxmlformats.org/officeDocument/2006/relationships/font" Target="fonts/MontserratLight-boldItalic.fntdata"/><Relationship Id="rId60" Type="http://schemas.openxmlformats.org/officeDocument/2006/relationships/font" Target="fonts/Montserrat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1cc868f2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g3b1cc868f2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1cc868f2a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b1cc868f2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1cc868f2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g3b1cc868f2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1cc868f2a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3b1cc868f2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1cc868f2a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b1cc868f2a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1cc868f2a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1cc868f2a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1cc868f2a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b1cc868f2a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1cc868f2a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1cc868f2a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1cc868f2a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g3b1cc868f2a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1cc868f2a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1cc868f2a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1cc868f2a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b1cc868f2a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1cc868f2a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b1cc868f2a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1cc868f2a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b1cc868f2a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1cc868f2a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b1cc868f2a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b1cc868f2a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b1cc868f2a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1cc868f2a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g3b1cc868f2a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1cc868f2a_0_1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b1cc868f2a_0_1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b1cc868f2a_0_1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b1cc868f2a_0_1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b1cc868f2a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b1cc868f2a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b1cc868f2a_0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b1cc868f2a_0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1cc868f2a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3b1cc868f2a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b1cc868f2a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b1cc868f2a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b1cc868f2a_0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3b1cc868f2a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b1cc868f2a_0_5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3b1cc868f2a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b1cc868f2a_0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3b1cc868f2a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b1cc868f2a_0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g3b1cc868f2a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b1cc868f2a_0_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g3b1cc868f2a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b1cc868f2a_0_6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g3b1cc868f2a_0_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b1cc868f2a_0_7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g3b1cc868f2a_0_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b1cc868f2a_0_7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g3b1cc868f2a_0_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b1cc868f2a_0_7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g3b1cc868f2a_0_7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b1cc868f2a_0_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g3b1cc868f2a_0_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b1cc868f2a_0_8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g3b1cc868f2a_0_8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b1cc868f2a_0_8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g3b1cc868f2a_0_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b1cc868f2a_0_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g3b1cc868f2a_0_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b1cc868f2a_0_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9" name="Google Shape;479;g3b1cc868f2a_0_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b1cc868f2a_0_9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g3b1cc868f2a_0_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b1cc868f2a_0_9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g3b1cc868f2a_0_9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b1cc868f2a_0_9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8" name="Google Shape;518;g3b1cc868f2a_0_9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b1cc868f2a_0_10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g3b1cc868f2a_0_10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b1cc868f2a_0_10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6" name="Google Shape;556;g3b1cc868f2a_0_1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b1cc868f2a_0_10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g3b1cc868f2a_0_10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b1cc868f2a_0_10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g3b1cc868f2a_0_10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b1cc868f2a_0_1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g3b1cc868f2a_0_1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b1cc868f2a_0_1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" name="Google Shape;628;g3b1cc868f2a_0_1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b1cc868f2a_0_1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9" name="Google Shape;639;g3b1cc868f2a_0_1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3b1cc868f2a_0_1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2" name="Google Shape;652;g3b1cc868f2a_0_1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b1cc868f2a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9" name="Google Shape;669;g3b1cc868f2a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b1cc868f2a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" name="Google Shape;675;g3b1cc868f2a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b1cc868f2a_0_1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2" name="Google Shape;702;g3b1cc868f2a_0_1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b1cc868f2a_0_1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8" name="Google Shape;708;g3b1cc868f2a_0_1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b1cc868f2a_0_1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8" name="Google Shape;718;g3b1cc868f2a_0_1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b1cc868f2a_0_1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2" name="Google Shape;732;g3b1cc868f2a_0_1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4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4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4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1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5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5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5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0" y="2226588"/>
            <a:ext cx="9144000" cy="690300"/>
          </a:xfrm>
          <a:prstGeom prst="rect">
            <a:avLst/>
          </a:prstGeom>
          <a:noFill/>
          <a:ln>
            <a:noFill/>
          </a:ln>
          <a:effectLst>
            <a:outerShdw blurRad="1428750" rotWithShape="0" algn="bl" dir="60000" dist="38100">
              <a:srgbClr val="FFFFFF">
                <a:alpha val="8392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>
                <a:solidFill>
                  <a:srgbClr val="B7B7B7"/>
                </a:solidFill>
                <a:latin typeface="Montserrat"/>
                <a:ea typeface="Montserrat"/>
                <a:cs typeface="Montserrat"/>
                <a:sym typeface="Montserrat"/>
              </a:rPr>
              <a:t>Stack</a:t>
            </a:r>
            <a:r>
              <a:rPr lang="pt-BR" sz="4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Pulse</a:t>
            </a:r>
            <a:endParaRPr b="1" sz="4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0" y="2956725"/>
            <a:ext cx="9144000" cy="4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rgbClr val="F6B26B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1600">
                <a:solidFill>
                  <a:srgbClr val="674EA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6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Visão unificada de </a:t>
            </a:r>
            <a:r>
              <a:rPr b="1" lang="pt-BR" sz="16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indicadores</a:t>
            </a:r>
            <a:r>
              <a:rPr lang="pt-BR" sz="16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, </a:t>
            </a:r>
            <a:r>
              <a:rPr b="1" lang="pt-BR" sz="16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pendências</a:t>
            </a:r>
            <a:r>
              <a:rPr lang="pt-BR" sz="16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 </a:t>
            </a:r>
            <a:r>
              <a:rPr b="1" lang="pt-BR" sz="16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riscos</a:t>
            </a:r>
            <a:r>
              <a:rPr lang="pt-BR" sz="16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— em tempo real</a:t>
            </a:r>
            <a:endParaRPr sz="16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b1cc868f2a_0_12"/>
          <p:cNvSpPr txBox="1"/>
          <p:nvPr>
            <p:ph idx="4294967295" type="ctrTitle"/>
          </p:nvPr>
        </p:nvSpPr>
        <p:spPr>
          <a:xfrm>
            <a:off x="539825" y="1793013"/>
            <a:ext cx="5123100" cy="690300"/>
          </a:xfrm>
          <a:prstGeom prst="rect">
            <a:avLst/>
          </a:prstGeom>
          <a:noFill/>
          <a:ln>
            <a:noFill/>
          </a:ln>
          <a:effectLst>
            <a:outerShdw blurRad="1428750" rotWithShape="0" algn="bl" dir="60000" dist="38100">
              <a:srgbClr val="FFFFFF">
                <a:alpha val="6353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4000">
                <a:solidFill>
                  <a:srgbClr val="9FC5E8"/>
                </a:solidFill>
                <a:latin typeface="Montserrat"/>
                <a:ea typeface="Montserrat"/>
                <a:cs typeface="Montserrat"/>
                <a:sym typeface="Montserrat"/>
              </a:rPr>
              <a:t>CONTEXTO</a:t>
            </a:r>
            <a:endParaRPr b="0" i="0" sz="4000" u="none" cap="none" strike="noStrike">
              <a:solidFill>
                <a:srgbClr val="9FC5E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1;g3b1cc868f2a_0_12"/>
          <p:cNvSpPr txBox="1"/>
          <p:nvPr/>
        </p:nvSpPr>
        <p:spPr>
          <a:xfrm>
            <a:off x="607175" y="2550675"/>
            <a:ext cx="72711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Grande parte do tempo é consumida por atividades </a:t>
            </a:r>
            <a:r>
              <a:rPr b="1"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manuais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operacionais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b="1"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repetitivas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, reduzindo a capacidade dos times de focar no que realmente gera valor para o </a:t>
            </a:r>
            <a:r>
              <a:rPr b="1" lang="pt-BR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cliente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5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1cc868f2a_0_62"/>
          <p:cNvSpPr txBox="1"/>
          <p:nvPr/>
        </p:nvSpPr>
        <p:spPr>
          <a:xfrm>
            <a:off x="607113" y="2552800"/>
            <a:ext cx="79803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&lt; vídeo atual &gt;</a:t>
            </a:r>
            <a:endParaRPr sz="15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1cc868f2a_0_68"/>
          <p:cNvSpPr txBox="1"/>
          <p:nvPr>
            <p:ph idx="4294967295" type="ctrTitle"/>
          </p:nvPr>
        </p:nvSpPr>
        <p:spPr>
          <a:xfrm>
            <a:off x="548175" y="1988600"/>
            <a:ext cx="5123100" cy="690300"/>
          </a:xfrm>
          <a:prstGeom prst="rect">
            <a:avLst/>
          </a:prstGeom>
          <a:noFill/>
          <a:ln>
            <a:noFill/>
          </a:ln>
          <a:effectLst>
            <a:outerShdw blurRad="1428750" rotWithShape="0" algn="bl" dir="60000" dist="38100">
              <a:srgbClr val="FFFFFF">
                <a:alpha val="6353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4000">
                <a:solidFill>
                  <a:srgbClr val="D9EAD3"/>
                </a:solidFill>
                <a:latin typeface="Montserrat"/>
                <a:ea typeface="Montserrat"/>
                <a:cs typeface="Montserrat"/>
                <a:sym typeface="Montserrat"/>
              </a:rPr>
              <a:t>HIPÓTESES</a:t>
            </a:r>
            <a:endParaRPr b="0" i="0" sz="4000" u="none" cap="none" strike="noStrike">
              <a:solidFill>
                <a:srgbClr val="D9EAD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g3b1cc868f2a_0_68"/>
          <p:cNvSpPr txBox="1"/>
          <p:nvPr/>
        </p:nvSpPr>
        <p:spPr>
          <a:xfrm>
            <a:off x="590282" y="2763100"/>
            <a:ext cx="79803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A informação está </a:t>
            </a:r>
            <a:r>
              <a:rPr b="1" lang="pt-BR" sz="15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dispersa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lang="pt-BR" sz="15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dependente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de especialistas e </a:t>
            </a:r>
            <a:r>
              <a:rPr b="1" lang="pt-BR" sz="15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muda</a:t>
            </a:r>
            <a:r>
              <a:rPr b="1"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rapidamente.</a:t>
            </a:r>
            <a:endParaRPr sz="15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1cc868f2a_0_72"/>
          <p:cNvSpPr txBox="1"/>
          <p:nvPr/>
        </p:nvSpPr>
        <p:spPr>
          <a:xfrm>
            <a:off x="359550" y="2308313"/>
            <a:ext cx="240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8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Operacional </a:t>
            </a:r>
            <a:r>
              <a:rPr b="1" lang="pt-BR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Técnico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g3b1cc868f2a_0_72"/>
          <p:cNvSpPr txBox="1"/>
          <p:nvPr/>
        </p:nvSpPr>
        <p:spPr>
          <a:xfrm>
            <a:off x="2475091" y="2308683"/>
            <a:ext cx="2318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8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Operacional de </a:t>
            </a:r>
            <a:r>
              <a:rPr b="1" lang="pt-BR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Governança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g3b1cc868f2a_0_72"/>
          <p:cNvSpPr txBox="1"/>
          <p:nvPr/>
        </p:nvSpPr>
        <p:spPr>
          <a:xfrm>
            <a:off x="6870450" y="2308675"/>
            <a:ext cx="191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8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Liderança </a:t>
            </a:r>
            <a:r>
              <a:rPr b="1" lang="pt-BR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Executiva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g3b1cc868f2a_0_72"/>
          <p:cNvSpPr txBox="1"/>
          <p:nvPr/>
        </p:nvSpPr>
        <p:spPr>
          <a:xfrm>
            <a:off x="373524" y="2961913"/>
            <a:ext cx="1805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Foco: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execução, detalhe, agora.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1"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“Quais PRRs estão pendentes na NF2 agora?”</a:t>
            </a:r>
            <a:endParaRPr i="1"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81" name="Google Shape;81;g3b1cc868f2a_0_72"/>
          <p:cNvSpPr txBox="1"/>
          <p:nvPr/>
        </p:nvSpPr>
        <p:spPr>
          <a:xfrm>
            <a:off x="2461986" y="2961913"/>
            <a:ext cx="2258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Foco: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controle, consolidação, curto / médio prazo.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1"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“Quais pendências mais impactam o score e quais devem ser priorizadas?”</a:t>
            </a:r>
            <a:endParaRPr i="1"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grpSp>
        <p:nvGrpSpPr>
          <p:cNvPr id="82" name="Google Shape;82;g3b1cc868f2a_0_72"/>
          <p:cNvGrpSpPr/>
          <p:nvPr/>
        </p:nvGrpSpPr>
        <p:grpSpPr>
          <a:xfrm>
            <a:off x="4970025" y="2309118"/>
            <a:ext cx="1713745" cy="2197457"/>
            <a:chOff x="-2312015" y="3205111"/>
            <a:chExt cx="1974588" cy="2197457"/>
          </a:xfrm>
        </p:grpSpPr>
        <p:sp>
          <p:nvSpPr>
            <p:cNvPr id="83" name="Google Shape;83;g3b1cc868f2a_0_72"/>
            <p:cNvSpPr txBox="1"/>
            <p:nvPr/>
          </p:nvSpPr>
          <p:spPr>
            <a:xfrm>
              <a:off x="-2312015" y="3205111"/>
              <a:ext cx="19620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800">
                  <a:solidFill>
                    <a:srgbClr val="B7B7B7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Liderança </a:t>
              </a:r>
              <a:r>
                <a:rPr b="1" lang="pt-BR"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Tática</a:t>
              </a:r>
              <a:endPara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4" name="Google Shape;84;g3b1cc868f2a_0_72"/>
            <p:cNvSpPr txBox="1"/>
            <p:nvPr/>
          </p:nvSpPr>
          <p:spPr>
            <a:xfrm>
              <a:off x="-2299427" y="3832668"/>
              <a:ext cx="1962000" cy="15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pt-BR" sz="1000">
                  <a:solidFill>
                    <a:srgbClr val="CC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Foco: </a:t>
              </a:r>
              <a:r>
                <a:rPr lang="pt-BR"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priorização, direcionamento e justificativa.</a:t>
              </a:r>
              <a:endParaRPr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i="1" lang="pt-BR"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“Quais pendências devo priorizar esse mês e qual o impacto no score se não atuarmos?”</a:t>
              </a:r>
              <a:endParaRPr i="1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  <p:sp>
        <p:nvSpPr>
          <p:cNvPr id="85" name="Google Shape;85;g3b1cc868f2a_0_72"/>
          <p:cNvSpPr txBox="1"/>
          <p:nvPr/>
        </p:nvSpPr>
        <p:spPr>
          <a:xfrm>
            <a:off x="6870450" y="2942150"/>
            <a:ext cx="1914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Foco: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risco, impacto,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decisão.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1"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“Qual o principal risco hoje e como estamos evoluindo em relação aos indicadores?”</a:t>
            </a:r>
            <a:endParaRPr i="1"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86" name="Google Shape;86;g3b1cc868f2a_0_72" title="personas.png"/>
          <p:cNvPicPr preferRelativeResize="0"/>
          <p:nvPr/>
        </p:nvPicPr>
        <p:blipFill rotWithShape="1">
          <a:blip r:embed="rId3">
            <a:alphaModFix/>
          </a:blip>
          <a:srcRect b="57581" l="0" r="72586" t="12636"/>
          <a:stretch/>
        </p:blipFill>
        <p:spPr>
          <a:xfrm>
            <a:off x="2760150" y="906688"/>
            <a:ext cx="1258425" cy="136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g3b1cc868f2a_0_72" title="personas.png"/>
          <p:cNvPicPr preferRelativeResize="0"/>
          <p:nvPr/>
        </p:nvPicPr>
        <p:blipFill rotWithShape="1">
          <a:blip r:embed="rId3">
            <a:alphaModFix/>
          </a:blip>
          <a:srcRect b="52250" l="23106" r="52066" t="17217"/>
          <a:stretch/>
        </p:blipFill>
        <p:spPr>
          <a:xfrm>
            <a:off x="604775" y="906688"/>
            <a:ext cx="1139700" cy="140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g3b1cc868f2a_0_72" title="personas.png"/>
          <p:cNvPicPr preferRelativeResize="0"/>
          <p:nvPr/>
        </p:nvPicPr>
        <p:blipFill rotWithShape="1">
          <a:blip r:embed="rId3">
            <a:alphaModFix/>
          </a:blip>
          <a:srcRect b="54635" l="47605" r="27567" t="13731"/>
          <a:stretch/>
        </p:blipFill>
        <p:spPr>
          <a:xfrm>
            <a:off x="4967225" y="864232"/>
            <a:ext cx="1139700" cy="145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g3b1cc868f2a_0_72" title="personas.png"/>
          <p:cNvPicPr preferRelativeResize="0"/>
          <p:nvPr/>
        </p:nvPicPr>
        <p:blipFill rotWithShape="1">
          <a:blip r:embed="rId3">
            <a:alphaModFix/>
          </a:blip>
          <a:srcRect b="54635" l="73122" r="2050" t="13731"/>
          <a:stretch/>
        </p:blipFill>
        <p:spPr>
          <a:xfrm>
            <a:off x="7154100" y="867880"/>
            <a:ext cx="1139700" cy="1452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" name="Google Shape;90;g3b1cc868f2a_0_72"/>
          <p:cNvCxnSpPr/>
          <p:nvPr/>
        </p:nvCxnSpPr>
        <p:spPr>
          <a:xfrm>
            <a:off x="1938884" y="2554895"/>
            <a:ext cx="5895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91" name="Google Shape;91;g3b1cc868f2a_0_72"/>
          <p:cNvCxnSpPr/>
          <p:nvPr/>
        </p:nvCxnSpPr>
        <p:spPr>
          <a:xfrm>
            <a:off x="4375309" y="2555764"/>
            <a:ext cx="5895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92" name="Google Shape;92;g3b1cc868f2a_0_72"/>
          <p:cNvCxnSpPr/>
          <p:nvPr/>
        </p:nvCxnSpPr>
        <p:spPr>
          <a:xfrm>
            <a:off x="6280959" y="2554914"/>
            <a:ext cx="5895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1cc868f2a_0_101"/>
          <p:cNvSpPr txBox="1"/>
          <p:nvPr>
            <p:ph idx="4294967295" type="ctrTitle"/>
          </p:nvPr>
        </p:nvSpPr>
        <p:spPr>
          <a:xfrm>
            <a:off x="548175" y="1959050"/>
            <a:ext cx="5123100" cy="690300"/>
          </a:xfrm>
          <a:prstGeom prst="rect">
            <a:avLst/>
          </a:prstGeom>
          <a:noFill/>
          <a:ln>
            <a:noFill/>
          </a:ln>
          <a:effectLst>
            <a:outerShdw blurRad="1428750" rotWithShape="0" algn="bl" dir="60000" dist="38100">
              <a:srgbClr val="FFFFFF">
                <a:alpha val="6353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4000">
                <a:solidFill>
                  <a:srgbClr val="FFF2CC"/>
                </a:solidFill>
                <a:latin typeface="Montserrat"/>
                <a:ea typeface="Montserrat"/>
                <a:cs typeface="Montserrat"/>
                <a:sym typeface="Montserrat"/>
              </a:rPr>
              <a:t>VALIDAÇÃO</a:t>
            </a:r>
            <a:endParaRPr b="0" i="0" sz="4000" u="none" cap="none" strike="noStrike">
              <a:solidFill>
                <a:srgbClr val="FFF2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g3b1cc868f2a_0_101"/>
          <p:cNvSpPr txBox="1"/>
          <p:nvPr/>
        </p:nvSpPr>
        <p:spPr>
          <a:xfrm>
            <a:off x="598700" y="2733550"/>
            <a:ext cx="79803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A maioria dos colaboradores gasta </a:t>
            </a:r>
            <a:r>
              <a:rPr b="1" lang="pt-BR" sz="15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mais de x minutos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para localizar e entender informações </a:t>
            </a:r>
            <a:r>
              <a:rPr b="1"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básicas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de indicadores.</a:t>
            </a:r>
            <a:endParaRPr sz="15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1cc868f2a_0_106"/>
          <p:cNvSpPr txBox="1"/>
          <p:nvPr/>
        </p:nvSpPr>
        <p:spPr>
          <a:xfrm>
            <a:off x="370400" y="1092900"/>
            <a:ext cx="3000000" cy="29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</a:rPr>
              <a:t>Agora SIM entra o formulário.</a:t>
            </a:r>
            <a:endParaRPr sz="11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</a:rPr>
              <a:t>Você mostra:</a:t>
            </a:r>
            <a:endParaRPr sz="1100">
              <a:solidFill>
                <a:srgbClr val="FF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100"/>
              <a:buChar char="●"/>
            </a:pPr>
            <a:r>
              <a:rPr lang="pt-BR" sz="1100">
                <a:solidFill>
                  <a:srgbClr val="FF0000"/>
                </a:solidFill>
              </a:rPr>
              <a:t>Quantas pessoas responderam</a:t>
            </a:r>
            <a:br>
              <a:rPr lang="pt-BR" sz="1100">
                <a:solidFill>
                  <a:srgbClr val="FF0000"/>
                </a:solidFill>
              </a:rPr>
            </a:br>
            <a:endParaRPr sz="1100">
              <a:solidFill>
                <a:srgbClr val="FF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00"/>
              <a:buChar char="●"/>
            </a:pPr>
            <a:r>
              <a:rPr lang="pt-BR" sz="1100">
                <a:solidFill>
                  <a:srgbClr val="FF0000"/>
                </a:solidFill>
              </a:rPr>
              <a:t>Principais achados</a:t>
            </a:r>
            <a:br>
              <a:rPr lang="pt-BR" sz="1100">
                <a:solidFill>
                  <a:srgbClr val="FF0000"/>
                </a:solidFill>
              </a:rPr>
            </a:br>
            <a:endParaRPr sz="1100">
              <a:solidFill>
                <a:srgbClr val="FF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00"/>
              <a:buChar char="●"/>
            </a:pPr>
            <a:r>
              <a:rPr lang="pt-BR" sz="1100">
                <a:solidFill>
                  <a:srgbClr val="FF0000"/>
                </a:solidFill>
              </a:rPr>
              <a:t>Gráficos</a:t>
            </a:r>
            <a:br>
              <a:rPr lang="pt-BR" sz="1100">
                <a:solidFill>
                  <a:srgbClr val="FF0000"/>
                </a:solidFill>
              </a:rPr>
            </a:br>
            <a:endParaRPr sz="1100">
              <a:solidFill>
                <a:srgbClr val="FF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00"/>
              <a:buChar char="●"/>
            </a:pPr>
            <a:r>
              <a:rPr lang="pt-BR" sz="1100">
                <a:solidFill>
                  <a:srgbClr val="FF0000"/>
                </a:solidFill>
              </a:rPr>
              <a:t>Quotes reais</a:t>
            </a:r>
            <a:br>
              <a:rPr lang="pt-BR" sz="1100">
                <a:solidFill>
                  <a:srgbClr val="FF0000"/>
                </a:solidFill>
              </a:rPr>
            </a:br>
            <a:endParaRPr sz="11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100">
                <a:solidFill>
                  <a:srgbClr val="FF0000"/>
                </a:solidFill>
              </a:rPr>
              <a:t>📌 Aqui você prova que </a:t>
            </a:r>
            <a:r>
              <a:rPr b="1" lang="pt-BR" sz="1100">
                <a:solidFill>
                  <a:srgbClr val="FF0000"/>
                </a:solidFill>
              </a:rPr>
              <a:t>as hipóteses estavam certas</a:t>
            </a:r>
            <a:r>
              <a:rPr lang="pt-BR" sz="1100">
                <a:solidFill>
                  <a:srgbClr val="FF0000"/>
                </a:solidFill>
              </a:rPr>
              <a:t> (ou ajusta).</a:t>
            </a:r>
            <a:endParaRPr sz="11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1cc868f2a_0_113"/>
          <p:cNvSpPr txBox="1"/>
          <p:nvPr>
            <p:ph idx="4294967295" type="ctrTitle"/>
          </p:nvPr>
        </p:nvSpPr>
        <p:spPr>
          <a:xfrm>
            <a:off x="548175" y="1959050"/>
            <a:ext cx="7079700" cy="690300"/>
          </a:xfrm>
          <a:prstGeom prst="rect">
            <a:avLst/>
          </a:prstGeom>
          <a:noFill/>
          <a:ln>
            <a:noFill/>
          </a:ln>
          <a:effectLst>
            <a:outerShdw blurRad="1428750" rotWithShape="0" algn="bl" dir="60000" dist="38100">
              <a:srgbClr val="FFFFFF">
                <a:alpha val="6353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40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rPr>
              <a:t>DORES</a:t>
            </a:r>
            <a:endParaRPr b="0" i="0" sz="4000" u="none" cap="none" strike="noStrike">
              <a:solidFill>
                <a:srgbClr val="F4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g3b1cc868f2a_0_113"/>
          <p:cNvSpPr txBox="1"/>
          <p:nvPr/>
        </p:nvSpPr>
        <p:spPr>
          <a:xfrm>
            <a:off x="598700" y="2733550"/>
            <a:ext cx="79803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Quais são os principais </a:t>
            </a:r>
            <a:r>
              <a:rPr b="1" lang="pt-BR" sz="15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insights 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extraídos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sz="15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1cc868f2a_0_118"/>
          <p:cNvSpPr txBox="1"/>
          <p:nvPr/>
        </p:nvSpPr>
        <p:spPr>
          <a:xfrm>
            <a:off x="370400" y="1092900"/>
            <a:ext cx="3000000" cy="29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</a:rPr>
              <a:t>Você cruza:</a:t>
            </a:r>
            <a:endParaRPr sz="1100">
              <a:solidFill>
                <a:srgbClr val="FF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100"/>
              <a:buChar char="●"/>
            </a:pPr>
            <a:r>
              <a:rPr lang="pt-BR" sz="1100">
                <a:solidFill>
                  <a:srgbClr val="FF0000"/>
                </a:solidFill>
              </a:rPr>
              <a:t>Hipóteses + dados do formulário</a:t>
            </a:r>
            <a:br>
              <a:rPr lang="pt-BR" sz="1100">
                <a:solidFill>
                  <a:srgbClr val="FF0000"/>
                </a:solidFill>
              </a:rPr>
            </a:br>
            <a:endParaRPr sz="11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rgbClr val="FF0000"/>
                </a:solidFill>
              </a:rPr>
              <a:t>E transforma em </a:t>
            </a:r>
            <a:r>
              <a:rPr b="1" lang="pt-BR" sz="1100">
                <a:solidFill>
                  <a:srgbClr val="FF0000"/>
                </a:solidFill>
              </a:rPr>
              <a:t>3–5 insights fortes</a:t>
            </a:r>
            <a:r>
              <a:rPr lang="pt-BR" sz="1100">
                <a:solidFill>
                  <a:srgbClr val="FF0000"/>
                </a:solidFill>
              </a:rPr>
              <a:t>, do tipo:</a:t>
            </a:r>
            <a:endParaRPr sz="1100">
              <a:solidFill>
                <a:srgbClr val="FF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100"/>
              <a:buChar char="●"/>
            </a:pPr>
            <a:r>
              <a:rPr lang="pt-BR" sz="1100">
                <a:solidFill>
                  <a:srgbClr val="FF0000"/>
                </a:solidFill>
              </a:rPr>
              <a:t>“O problema não é acesso, é fragmentação”</a:t>
            </a:r>
            <a:br>
              <a:rPr lang="pt-BR" sz="1100">
                <a:solidFill>
                  <a:srgbClr val="FF0000"/>
                </a:solidFill>
              </a:rPr>
            </a:br>
            <a:endParaRPr sz="1100">
              <a:solidFill>
                <a:srgbClr val="FF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00"/>
              <a:buChar char="●"/>
            </a:pPr>
            <a:r>
              <a:rPr lang="pt-BR" sz="1100">
                <a:solidFill>
                  <a:srgbClr val="FF0000"/>
                </a:solidFill>
              </a:rPr>
              <a:t>“O gargalo é tempo e dependência”</a:t>
            </a:r>
            <a:br>
              <a:rPr lang="pt-BR" sz="1100">
                <a:solidFill>
                  <a:srgbClr val="FF0000"/>
                </a:solidFill>
              </a:rPr>
            </a:br>
            <a:endParaRPr sz="1100">
              <a:solidFill>
                <a:srgbClr val="FF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100"/>
              <a:buChar char="●"/>
            </a:pPr>
            <a:r>
              <a:rPr lang="pt-BR" sz="1100">
                <a:solidFill>
                  <a:srgbClr val="FF0000"/>
                </a:solidFill>
              </a:rPr>
              <a:t>“Há baixa padronização da informação”</a:t>
            </a:r>
            <a:endParaRPr sz="11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1cc868f2a_0_122"/>
          <p:cNvSpPr txBox="1"/>
          <p:nvPr>
            <p:ph idx="4294967295" type="ctrTitle"/>
          </p:nvPr>
        </p:nvSpPr>
        <p:spPr>
          <a:xfrm>
            <a:off x="548175" y="1959050"/>
            <a:ext cx="7079700" cy="690300"/>
          </a:xfrm>
          <a:prstGeom prst="rect">
            <a:avLst/>
          </a:prstGeom>
          <a:noFill/>
          <a:ln>
            <a:noFill/>
          </a:ln>
          <a:effectLst>
            <a:outerShdw blurRad="1428750" rotWithShape="0" algn="bl" dir="60000" dist="38100">
              <a:srgbClr val="FFFFFF">
                <a:alpha val="6353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4000">
                <a:solidFill>
                  <a:srgbClr val="CFE2F3"/>
                </a:solidFill>
                <a:latin typeface="Montserrat"/>
                <a:ea typeface="Montserrat"/>
                <a:cs typeface="Montserrat"/>
                <a:sym typeface="Montserrat"/>
              </a:rPr>
              <a:t>OPORTUNIDADE</a:t>
            </a:r>
            <a:endParaRPr b="0" i="0" sz="4000" u="none" cap="none" strike="noStrike">
              <a:solidFill>
                <a:srgbClr val="CFE2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g3b1cc868f2a_0_122"/>
          <p:cNvSpPr txBox="1"/>
          <p:nvPr/>
        </p:nvSpPr>
        <p:spPr>
          <a:xfrm>
            <a:off x="598700" y="2733550"/>
            <a:ext cx="79803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Dado esse cenário, onde existe espaço claro de geração de </a:t>
            </a:r>
            <a:r>
              <a:rPr b="1" lang="pt-BR" sz="15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valor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sz="15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1cc868f2a_0_127"/>
          <p:cNvSpPr txBox="1"/>
          <p:nvPr/>
        </p:nvSpPr>
        <p:spPr>
          <a:xfrm>
            <a:off x="370400" y="2297400"/>
            <a:ext cx="3000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100"/>
              <a:buChar char="●"/>
            </a:pPr>
            <a:r>
              <a:rPr lang="pt-BR" sz="1100">
                <a:solidFill>
                  <a:srgbClr val="FF0000"/>
                </a:solidFill>
              </a:rPr>
              <a:t>Cruzar todas as informações de cenário ideal / o que desejam</a:t>
            </a:r>
            <a:endParaRPr sz="11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1cc868f2a_0_131"/>
          <p:cNvSpPr txBox="1"/>
          <p:nvPr>
            <p:ph idx="4294967295" type="ctrTitle"/>
          </p:nvPr>
        </p:nvSpPr>
        <p:spPr>
          <a:xfrm>
            <a:off x="556588" y="1778300"/>
            <a:ext cx="7079700" cy="690300"/>
          </a:xfrm>
          <a:prstGeom prst="rect">
            <a:avLst/>
          </a:prstGeom>
          <a:noFill/>
          <a:ln>
            <a:noFill/>
          </a:ln>
          <a:effectLst>
            <a:outerShdw blurRad="1428750" rotWithShape="0" algn="bl" dir="60000" dist="38100">
              <a:srgbClr val="FFFFFF">
                <a:alpha val="6353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4000">
                <a:solidFill>
                  <a:srgbClr val="D9EAD3"/>
                </a:solidFill>
                <a:latin typeface="Montserrat"/>
                <a:ea typeface="Montserrat"/>
                <a:cs typeface="Montserrat"/>
                <a:sym typeface="Montserrat"/>
              </a:rPr>
              <a:t>SOLUÇÃO</a:t>
            </a:r>
            <a:endParaRPr b="0" i="0" sz="4000" u="none" cap="none" strike="noStrike">
              <a:solidFill>
                <a:srgbClr val="D9EAD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g3b1cc868f2a_0_131"/>
          <p:cNvSpPr txBox="1"/>
          <p:nvPr/>
        </p:nvSpPr>
        <p:spPr>
          <a:xfrm>
            <a:off x="607113" y="2552800"/>
            <a:ext cx="79803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O StackPulse representa o </a:t>
            </a:r>
            <a:r>
              <a:rPr b="1" lang="pt-BR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modelo-alvo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para reduz horas de busca para </a:t>
            </a:r>
            <a:r>
              <a:rPr b="1"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segundos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, consolida indicadores críticos em um </a:t>
            </a:r>
            <a:r>
              <a:rPr b="1"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único canal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inteligente para acelerar </a:t>
            </a:r>
            <a:r>
              <a:rPr b="1"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decisões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, aumentar </a:t>
            </a:r>
            <a:r>
              <a:rPr b="1"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autonomia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e eliminar </a:t>
            </a:r>
            <a:r>
              <a:rPr b="1"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retrabalho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5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1cc868f2a_0_507"/>
          <p:cNvSpPr txBox="1"/>
          <p:nvPr/>
        </p:nvSpPr>
        <p:spPr>
          <a:xfrm>
            <a:off x="607113" y="2552800"/>
            <a:ext cx="79803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&lt; vídeo do ideal &gt;</a:t>
            </a:r>
            <a:endParaRPr sz="15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g3b1cc868f2a_0_507"/>
          <p:cNvSpPr txBox="1"/>
          <p:nvPr/>
        </p:nvSpPr>
        <p:spPr>
          <a:xfrm>
            <a:off x="153413" y="196600"/>
            <a:ext cx="79803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Hoje: </a:t>
            </a:r>
            <a:r>
              <a:rPr lang="pt-BR" sz="15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15 minutos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para </a:t>
            </a:r>
            <a:r>
              <a:rPr b="1"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entender</a:t>
            </a:r>
            <a:endParaRPr b="1" sz="15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Amanhã: 5 segundos para </a:t>
            </a:r>
            <a:r>
              <a:rPr b="1" lang="pt-BR" sz="1500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decidir</a:t>
            </a:r>
            <a:r>
              <a:rPr lang="pt-BR" sz="1500">
                <a:solidFill>
                  <a:srgbClr val="D9D9D9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500">
              <a:solidFill>
                <a:srgbClr val="D9D9D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" name="Google Shape;142;g3b1cc868f2a_0_148"/>
          <p:cNvCxnSpPr/>
          <p:nvPr/>
        </p:nvCxnSpPr>
        <p:spPr>
          <a:xfrm>
            <a:off x="197738" y="1345125"/>
            <a:ext cx="18486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3" name="Google Shape;143;g3b1cc868f2a_0_148"/>
          <p:cNvSpPr txBox="1"/>
          <p:nvPr/>
        </p:nvSpPr>
        <p:spPr>
          <a:xfrm>
            <a:off x="202700" y="-29425"/>
            <a:ext cx="56925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Proposta de </a:t>
            </a: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valor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144" name="Google Shape;144;g3b1cc868f2a_0_148"/>
          <p:cNvSpPr/>
          <p:nvPr/>
        </p:nvSpPr>
        <p:spPr>
          <a:xfrm>
            <a:off x="180988" y="1551475"/>
            <a:ext cx="1584600" cy="815700"/>
          </a:xfrm>
          <a:prstGeom prst="rect">
            <a:avLst/>
          </a:prstGeom>
          <a:noFill/>
          <a:ln cap="flat" cmpd="sng" w="9525">
            <a:solidFill>
              <a:srgbClr val="93C47D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b1cc868f2a_0_148"/>
          <p:cNvSpPr txBox="1"/>
          <p:nvPr/>
        </p:nvSpPr>
        <p:spPr>
          <a:xfrm>
            <a:off x="198975" y="1593681"/>
            <a:ext cx="15666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Tarefas do Usuário</a:t>
            </a:r>
            <a:endParaRPr sz="1800"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6" name="Google Shape;146;g3b1cc868f2a_0_148"/>
          <p:cNvCxnSpPr/>
          <p:nvPr/>
        </p:nvCxnSpPr>
        <p:spPr>
          <a:xfrm>
            <a:off x="982288" y="1204176"/>
            <a:ext cx="0" cy="225900"/>
          </a:xfrm>
          <a:prstGeom prst="straightConnector1">
            <a:avLst/>
          </a:prstGeom>
          <a:noFill/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" name="Google Shape;147;g3b1cc868f2a_0_148"/>
          <p:cNvSpPr txBox="1"/>
          <p:nvPr/>
        </p:nvSpPr>
        <p:spPr>
          <a:xfrm>
            <a:off x="138863" y="2367175"/>
            <a:ext cx="16266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6AA84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Consultar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pendências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D9D9D9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6AA84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10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Entender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impacto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prioridades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D9D9D9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6AA84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10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Construir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análises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relatórios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D9D9D9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6AA84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10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Tomar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decisões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rápidas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1cc868f2a_0_188"/>
          <p:cNvSpPr/>
          <p:nvPr/>
        </p:nvSpPr>
        <p:spPr>
          <a:xfrm>
            <a:off x="2000038" y="1551475"/>
            <a:ext cx="1584600" cy="815700"/>
          </a:xfrm>
          <a:prstGeom prst="rect">
            <a:avLst/>
          </a:prstGeom>
          <a:noFill/>
          <a:ln cap="flat" cmpd="sng" w="9525">
            <a:solidFill>
              <a:srgbClr val="93C47D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3" name="Google Shape;153;g3b1cc868f2a_0_188"/>
          <p:cNvCxnSpPr/>
          <p:nvPr/>
        </p:nvCxnSpPr>
        <p:spPr>
          <a:xfrm>
            <a:off x="197738" y="1345125"/>
            <a:ext cx="36924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54" name="Google Shape;154;g3b1cc868f2a_0_188"/>
          <p:cNvSpPr txBox="1"/>
          <p:nvPr/>
        </p:nvSpPr>
        <p:spPr>
          <a:xfrm>
            <a:off x="202700" y="-29425"/>
            <a:ext cx="56925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Proposta de </a:t>
            </a: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valor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155" name="Google Shape;155;g3b1cc868f2a_0_188"/>
          <p:cNvSpPr txBox="1"/>
          <p:nvPr/>
        </p:nvSpPr>
        <p:spPr>
          <a:xfrm>
            <a:off x="2000038" y="1750225"/>
            <a:ext cx="15846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Dores</a:t>
            </a:r>
            <a:endParaRPr sz="1800"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6" name="Google Shape;156;g3b1cc868f2a_0_188"/>
          <p:cNvCxnSpPr/>
          <p:nvPr/>
        </p:nvCxnSpPr>
        <p:spPr>
          <a:xfrm>
            <a:off x="2792388" y="1204176"/>
            <a:ext cx="0" cy="225900"/>
          </a:xfrm>
          <a:prstGeom prst="straightConnector1">
            <a:avLst/>
          </a:prstGeom>
          <a:noFill/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7" name="Google Shape;157;g3b1cc868f2a_0_188"/>
          <p:cNvSpPr txBox="1"/>
          <p:nvPr/>
        </p:nvSpPr>
        <p:spPr>
          <a:xfrm>
            <a:off x="2000088" y="2367175"/>
            <a:ext cx="1584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6AA84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Informações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espalhadas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D9D9D9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6AA84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Depender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de pontos focais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D9D9D9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6AA84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Erros por dados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desatualizados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D9D9D9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6AA84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Retrabalho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constante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D9D9D9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58" name="Google Shape;158;g3b1cc868f2a_0_188"/>
          <p:cNvSpPr/>
          <p:nvPr/>
        </p:nvSpPr>
        <p:spPr>
          <a:xfrm>
            <a:off x="180988" y="1551475"/>
            <a:ext cx="1584600" cy="8157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b1cc868f2a_0_188"/>
          <p:cNvSpPr txBox="1"/>
          <p:nvPr/>
        </p:nvSpPr>
        <p:spPr>
          <a:xfrm>
            <a:off x="198975" y="1593681"/>
            <a:ext cx="15666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Tarefas do Usuário</a:t>
            </a:r>
            <a:endParaRPr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60" name="Google Shape;160;g3b1cc868f2a_0_188"/>
          <p:cNvCxnSpPr/>
          <p:nvPr/>
        </p:nvCxnSpPr>
        <p:spPr>
          <a:xfrm>
            <a:off x="982288" y="1204176"/>
            <a:ext cx="0" cy="2259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" name="Google Shape;161;g3b1cc868f2a_0_188"/>
          <p:cNvSpPr txBox="1"/>
          <p:nvPr/>
        </p:nvSpPr>
        <p:spPr>
          <a:xfrm>
            <a:off x="138863" y="2367175"/>
            <a:ext cx="16266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Consultar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pendências</a:t>
            </a:r>
            <a:endParaRPr b="1"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 Entender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impacto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prioridades</a:t>
            </a:r>
            <a:endParaRPr b="1"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 Construir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análises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relatórios</a:t>
            </a:r>
            <a:endParaRPr b="1"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 Tomar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decisões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rápidas</a:t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b1cc868f2a_0_209"/>
          <p:cNvSpPr/>
          <p:nvPr/>
        </p:nvSpPr>
        <p:spPr>
          <a:xfrm>
            <a:off x="3948838" y="1551475"/>
            <a:ext cx="1584600" cy="815700"/>
          </a:xfrm>
          <a:prstGeom prst="rect">
            <a:avLst/>
          </a:prstGeom>
          <a:noFill/>
          <a:ln cap="flat" cmpd="sng" w="9525">
            <a:solidFill>
              <a:srgbClr val="93C47D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g3b1cc868f2a_0_209"/>
          <p:cNvSpPr/>
          <p:nvPr/>
        </p:nvSpPr>
        <p:spPr>
          <a:xfrm>
            <a:off x="2000038" y="1551475"/>
            <a:ext cx="1584600" cy="8157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" name="Google Shape;168;g3b1cc868f2a_0_209"/>
          <p:cNvCxnSpPr/>
          <p:nvPr/>
        </p:nvCxnSpPr>
        <p:spPr>
          <a:xfrm>
            <a:off x="197738" y="1345125"/>
            <a:ext cx="56118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9" name="Google Shape;169;g3b1cc868f2a_0_209"/>
          <p:cNvSpPr txBox="1"/>
          <p:nvPr/>
        </p:nvSpPr>
        <p:spPr>
          <a:xfrm>
            <a:off x="202700" y="-29425"/>
            <a:ext cx="56925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Proposta de </a:t>
            </a: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valor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170" name="Google Shape;170;g3b1cc868f2a_0_209"/>
          <p:cNvSpPr txBox="1"/>
          <p:nvPr/>
        </p:nvSpPr>
        <p:spPr>
          <a:xfrm>
            <a:off x="2000038" y="1750225"/>
            <a:ext cx="15846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Dores</a:t>
            </a:r>
            <a:endParaRPr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1" name="Google Shape;171;g3b1cc868f2a_0_209"/>
          <p:cNvCxnSpPr/>
          <p:nvPr/>
        </p:nvCxnSpPr>
        <p:spPr>
          <a:xfrm>
            <a:off x="2792388" y="1204176"/>
            <a:ext cx="0" cy="2259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g3b1cc868f2a_0_209"/>
          <p:cNvSpPr txBox="1"/>
          <p:nvPr/>
        </p:nvSpPr>
        <p:spPr>
          <a:xfrm>
            <a:off x="2000088" y="2367175"/>
            <a:ext cx="1584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Informações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espalhadas</a:t>
            </a:r>
            <a:endParaRPr b="1"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Depender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de pontos focais</a:t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Erros por dados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desatualizados</a:t>
            </a:r>
            <a:endParaRPr b="1"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Retrabalho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constante</a:t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73" name="Google Shape;173;g3b1cc868f2a_0_209"/>
          <p:cNvSpPr txBox="1"/>
          <p:nvPr/>
        </p:nvSpPr>
        <p:spPr>
          <a:xfrm>
            <a:off x="3948787" y="1739725"/>
            <a:ext cx="15846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Ganhos</a:t>
            </a:r>
            <a:endParaRPr sz="1800"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4" name="Google Shape;174;g3b1cc868f2a_0_209"/>
          <p:cNvCxnSpPr/>
          <p:nvPr/>
        </p:nvCxnSpPr>
        <p:spPr>
          <a:xfrm>
            <a:off x="4741088" y="1204176"/>
            <a:ext cx="0" cy="2259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5" name="Google Shape;175;g3b1cc868f2a_0_209"/>
          <p:cNvSpPr txBox="1"/>
          <p:nvPr/>
        </p:nvSpPr>
        <p:spPr>
          <a:xfrm>
            <a:off x="3948788" y="2367175"/>
            <a:ext cx="15846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6AA84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Respostas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automáticas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em segundos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D9D9D9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6AA84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Dados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confiáveis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padronizados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D9D9D9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6AA84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Autonomia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total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D9D9D9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6AA84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Redução de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dúvidas e ruído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g3b1cc868f2a_0_209"/>
          <p:cNvSpPr/>
          <p:nvPr/>
        </p:nvSpPr>
        <p:spPr>
          <a:xfrm>
            <a:off x="180988" y="1551475"/>
            <a:ext cx="1584600" cy="8157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b1cc868f2a_0_209"/>
          <p:cNvSpPr txBox="1"/>
          <p:nvPr/>
        </p:nvSpPr>
        <p:spPr>
          <a:xfrm>
            <a:off x="198975" y="1593681"/>
            <a:ext cx="15666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Tarefas do Usuário</a:t>
            </a:r>
            <a:endParaRPr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8" name="Google Shape;178;g3b1cc868f2a_0_209"/>
          <p:cNvCxnSpPr/>
          <p:nvPr/>
        </p:nvCxnSpPr>
        <p:spPr>
          <a:xfrm>
            <a:off x="982288" y="1204176"/>
            <a:ext cx="0" cy="2259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g3b1cc868f2a_0_209"/>
          <p:cNvSpPr txBox="1"/>
          <p:nvPr/>
        </p:nvSpPr>
        <p:spPr>
          <a:xfrm>
            <a:off x="138863" y="2367175"/>
            <a:ext cx="16266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Consultar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pendências</a:t>
            </a:r>
            <a:endParaRPr b="1"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 Entender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impacto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prioridades</a:t>
            </a:r>
            <a:endParaRPr b="1"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 Construir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análises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relatórios</a:t>
            </a:r>
            <a:endParaRPr b="1"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 Tomar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decisões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rápidas</a:t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1cc868f2a_0_230"/>
          <p:cNvSpPr/>
          <p:nvPr/>
        </p:nvSpPr>
        <p:spPr>
          <a:xfrm>
            <a:off x="3948838" y="1551475"/>
            <a:ext cx="1584600" cy="8157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g3b1cc868f2a_0_230"/>
          <p:cNvSpPr/>
          <p:nvPr/>
        </p:nvSpPr>
        <p:spPr>
          <a:xfrm>
            <a:off x="2000038" y="1551475"/>
            <a:ext cx="1584600" cy="8157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6" name="Google Shape;186;g3b1cc868f2a_0_230"/>
          <p:cNvCxnSpPr/>
          <p:nvPr/>
        </p:nvCxnSpPr>
        <p:spPr>
          <a:xfrm>
            <a:off x="197738" y="1345125"/>
            <a:ext cx="88074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7" name="Google Shape;187;g3b1cc868f2a_0_230"/>
          <p:cNvSpPr txBox="1"/>
          <p:nvPr/>
        </p:nvSpPr>
        <p:spPr>
          <a:xfrm>
            <a:off x="202700" y="-29425"/>
            <a:ext cx="56925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Proposta de </a:t>
            </a: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valor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188" name="Google Shape;188;g3b1cc868f2a_0_230"/>
          <p:cNvSpPr txBox="1"/>
          <p:nvPr/>
        </p:nvSpPr>
        <p:spPr>
          <a:xfrm>
            <a:off x="2000038" y="1750225"/>
            <a:ext cx="15846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Dores</a:t>
            </a:r>
            <a:endParaRPr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89" name="Google Shape;189;g3b1cc868f2a_0_230"/>
          <p:cNvCxnSpPr/>
          <p:nvPr/>
        </p:nvCxnSpPr>
        <p:spPr>
          <a:xfrm>
            <a:off x="2792388" y="1204176"/>
            <a:ext cx="0" cy="2259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g3b1cc868f2a_0_230"/>
          <p:cNvSpPr txBox="1"/>
          <p:nvPr/>
        </p:nvSpPr>
        <p:spPr>
          <a:xfrm>
            <a:off x="2000088" y="2367175"/>
            <a:ext cx="1584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Informações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espalhadas</a:t>
            </a:r>
            <a:endParaRPr b="1"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Depender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de pontos focais</a:t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Erros por dados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desatualizados</a:t>
            </a:r>
            <a:endParaRPr b="1"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Retrabalho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constante</a:t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91" name="Google Shape;191;g3b1cc868f2a_0_230"/>
          <p:cNvSpPr txBox="1"/>
          <p:nvPr/>
        </p:nvSpPr>
        <p:spPr>
          <a:xfrm>
            <a:off x="3948787" y="1739725"/>
            <a:ext cx="15846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Ganhos</a:t>
            </a:r>
            <a:endParaRPr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2" name="Google Shape;192;g3b1cc868f2a_0_230"/>
          <p:cNvCxnSpPr/>
          <p:nvPr/>
        </p:nvCxnSpPr>
        <p:spPr>
          <a:xfrm>
            <a:off x="4741088" y="1204176"/>
            <a:ext cx="0" cy="2259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g3b1cc868f2a_0_230"/>
          <p:cNvSpPr txBox="1"/>
          <p:nvPr/>
        </p:nvSpPr>
        <p:spPr>
          <a:xfrm>
            <a:off x="3948788" y="2367175"/>
            <a:ext cx="15846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Respostas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automáticas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em segundos</a:t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Dados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confiáveis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padronizados</a:t>
            </a:r>
            <a:endParaRPr b="1"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Autonomia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total</a:t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Redução de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dúvidas e ruído</a:t>
            </a:r>
            <a:endParaRPr b="1"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g3b1cc868f2a_0_230"/>
          <p:cNvSpPr/>
          <p:nvPr/>
        </p:nvSpPr>
        <p:spPr>
          <a:xfrm>
            <a:off x="180988" y="1551475"/>
            <a:ext cx="1584600" cy="8157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b1cc868f2a_0_230"/>
          <p:cNvSpPr txBox="1"/>
          <p:nvPr/>
        </p:nvSpPr>
        <p:spPr>
          <a:xfrm>
            <a:off x="198975" y="1593681"/>
            <a:ext cx="15666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Tarefas do Usuário</a:t>
            </a:r>
            <a:endParaRPr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96" name="Google Shape;196;g3b1cc868f2a_0_230"/>
          <p:cNvCxnSpPr/>
          <p:nvPr/>
        </p:nvCxnSpPr>
        <p:spPr>
          <a:xfrm>
            <a:off x="982288" y="1204176"/>
            <a:ext cx="0" cy="2259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g3b1cc868f2a_0_230"/>
          <p:cNvSpPr txBox="1"/>
          <p:nvPr/>
        </p:nvSpPr>
        <p:spPr>
          <a:xfrm>
            <a:off x="138863" y="2367175"/>
            <a:ext cx="16266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Consultar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pendências</a:t>
            </a:r>
            <a:endParaRPr b="1"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 Entender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impacto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prioridades</a:t>
            </a:r>
            <a:endParaRPr b="1"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 Construir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análises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relatórios</a:t>
            </a:r>
            <a:endParaRPr b="1"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 Tomar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decisões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rápidas</a:t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198" name="Google Shape;198;g3b1cc868f2a_0_230"/>
          <p:cNvCxnSpPr/>
          <p:nvPr/>
        </p:nvCxnSpPr>
        <p:spPr>
          <a:xfrm>
            <a:off x="7414988" y="1204176"/>
            <a:ext cx="0" cy="2259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g3b1cc868f2a_0_230"/>
          <p:cNvSpPr txBox="1"/>
          <p:nvPr/>
        </p:nvSpPr>
        <p:spPr>
          <a:xfrm>
            <a:off x="5883638" y="2382175"/>
            <a:ext cx="30627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6AA84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Inteligência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contextual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6AA84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6AA84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Conexão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direta entre indicadores oficiais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6AA84F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6AA84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Formato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estruturado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 executivo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6AA84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Histórico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exportação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6AA84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Chat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integrado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ao StackSpot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D9D9D9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00" name="Google Shape;200;g3b1cc868f2a_0_230"/>
          <p:cNvSpPr/>
          <p:nvPr/>
        </p:nvSpPr>
        <p:spPr>
          <a:xfrm>
            <a:off x="5883688" y="1551475"/>
            <a:ext cx="3062700" cy="815700"/>
          </a:xfrm>
          <a:prstGeom prst="rect">
            <a:avLst/>
          </a:prstGeom>
          <a:noFill/>
          <a:ln cap="flat" cmpd="sng" w="9525">
            <a:solidFill>
              <a:srgbClr val="6AA84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b1cc868f2a_0_230"/>
          <p:cNvSpPr txBox="1"/>
          <p:nvPr/>
        </p:nvSpPr>
        <p:spPr>
          <a:xfrm>
            <a:off x="5883650" y="1588125"/>
            <a:ext cx="3062700" cy="7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Como o StackPulse</a:t>
            </a:r>
            <a:endParaRPr sz="1800"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entrega valor</a:t>
            </a:r>
            <a:endParaRPr sz="1800"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1cc868f2a_0_1268"/>
          <p:cNvSpPr txBox="1"/>
          <p:nvPr>
            <p:ph idx="4294967295" type="ctrTitle"/>
          </p:nvPr>
        </p:nvSpPr>
        <p:spPr>
          <a:xfrm>
            <a:off x="539825" y="1793025"/>
            <a:ext cx="7728900" cy="690300"/>
          </a:xfrm>
          <a:prstGeom prst="rect">
            <a:avLst/>
          </a:prstGeom>
          <a:noFill/>
          <a:ln>
            <a:noFill/>
          </a:ln>
          <a:effectLst>
            <a:outerShdw blurRad="1428750" rotWithShape="0" algn="bl" dir="60000" dist="38100">
              <a:srgbClr val="FFFFFF">
                <a:alpha val="6353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4000">
                <a:solidFill>
                  <a:srgbClr val="EAD1DC"/>
                </a:solidFill>
                <a:latin typeface="Montserrat"/>
                <a:ea typeface="Montserrat"/>
                <a:cs typeface="Montserrat"/>
                <a:sym typeface="Montserrat"/>
              </a:rPr>
              <a:t>ONDE ESTAMOS HOJE</a:t>
            </a:r>
            <a:endParaRPr b="0" i="0" sz="4000" u="none" cap="none" strike="noStrike">
              <a:solidFill>
                <a:srgbClr val="EAD1D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g3b1cc868f2a_0_1268"/>
          <p:cNvSpPr txBox="1"/>
          <p:nvPr/>
        </p:nvSpPr>
        <p:spPr>
          <a:xfrm>
            <a:off x="578600" y="2550675"/>
            <a:ext cx="7271100" cy="7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E a </a:t>
            </a:r>
            <a:r>
              <a:rPr b="1"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lacuna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que permanece.</a:t>
            </a:r>
            <a:endParaRPr sz="15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Cada iniciativa resolve uma parte do problema. Nenhuma resolve o </a:t>
            </a:r>
            <a:r>
              <a:rPr b="1" lang="pt-BR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todo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5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b1cc868f2a_0_1273"/>
          <p:cNvSpPr txBox="1"/>
          <p:nvPr/>
        </p:nvSpPr>
        <p:spPr>
          <a:xfrm>
            <a:off x="202700" y="-29425"/>
            <a:ext cx="56925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Onde estamos</a:t>
            </a: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 hoje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213" name="Google Shape;213;g3b1cc868f2a_0_1273"/>
          <p:cNvSpPr txBox="1"/>
          <p:nvPr/>
        </p:nvSpPr>
        <p:spPr>
          <a:xfrm>
            <a:off x="202673" y="652525"/>
            <a:ext cx="718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 StackPulse não substitui iniciativas existentes. Ele conecta, governa e transforma informação em </a:t>
            </a:r>
            <a:r>
              <a:rPr b="1" lang="pt-BR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decisão.</a:t>
            </a:r>
            <a:endParaRPr b="1" i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b1cc868f2a_0_256"/>
          <p:cNvSpPr txBox="1"/>
          <p:nvPr>
            <p:ph idx="4294967295" type="ctrTitle"/>
          </p:nvPr>
        </p:nvSpPr>
        <p:spPr>
          <a:xfrm>
            <a:off x="556588" y="1778300"/>
            <a:ext cx="7079700" cy="690300"/>
          </a:xfrm>
          <a:prstGeom prst="rect">
            <a:avLst/>
          </a:prstGeom>
          <a:noFill/>
          <a:ln>
            <a:noFill/>
          </a:ln>
          <a:effectLst>
            <a:outerShdw blurRad="1428750" rotWithShape="0" algn="bl" dir="60000" dist="38100">
              <a:srgbClr val="FFFFFF">
                <a:alpha val="6353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4000">
                <a:solidFill>
                  <a:srgbClr val="FFF2CC"/>
                </a:solidFill>
                <a:latin typeface="Montserrat"/>
                <a:ea typeface="Montserrat"/>
                <a:cs typeface="Montserrat"/>
                <a:sym typeface="Montserrat"/>
              </a:rPr>
              <a:t>MVP</a:t>
            </a:r>
            <a:endParaRPr b="0" i="0" sz="4000" u="none" cap="none" strike="noStrike">
              <a:solidFill>
                <a:srgbClr val="FFF2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g3b1cc868f2a_0_256"/>
          <p:cNvSpPr txBox="1"/>
          <p:nvPr/>
        </p:nvSpPr>
        <p:spPr>
          <a:xfrm>
            <a:off x="607113" y="2552800"/>
            <a:ext cx="79803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A versão </a:t>
            </a:r>
            <a:r>
              <a:rPr b="1" lang="pt-BR" sz="15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1.0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da StackPulse será </a:t>
            </a:r>
            <a:r>
              <a:rPr b="1" lang="pt-BR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simples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lang="pt-BR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escalável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, garantirá mais </a:t>
            </a:r>
            <a:r>
              <a:rPr b="1" lang="pt-BR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autonomia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para os times, menos </a:t>
            </a:r>
            <a:r>
              <a:rPr b="1"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retrabalho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e decisões muito mais </a:t>
            </a:r>
            <a:r>
              <a:rPr b="1" lang="pt-BR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rápidas</a:t>
            </a:r>
            <a:r>
              <a:rPr b="1"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b="1" lang="pt-BR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seguras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5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4" name="Google Shape;224;g3b1cc868f2a_0_384"/>
          <p:cNvCxnSpPr/>
          <p:nvPr/>
        </p:nvCxnSpPr>
        <p:spPr>
          <a:xfrm>
            <a:off x="197738" y="1092575"/>
            <a:ext cx="29514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25" name="Google Shape;225;g3b1cc868f2a_0_384"/>
          <p:cNvSpPr txBox="1"/>
          <p:nvPr/>
        </p:nvSpPr>
        <p:spPr>
          <a:xfrm>
            <a:off x="202700" y="-29425"/>
            <a:ext cx="30393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Versão </a:t>
            </a: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1.0 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226" name="Google Shape;226;g3b1cc868f2a_0_384"/>
          <p:cNvSpPr/>
          <p:nvPr/>
        </p:nvSpPr>
        <p:spPr>
          <a:xfrm>
            <a:off x="181003" y="1298925"/>
            <a:ext cx="1940100" cy="815700"/>
          </a:xfrm>
          <a:prstGeom prst="rect">
            <a:avLst/>
          </a:prstGeom>
          <a:noFill/>
          <a:ln cap="flat" cmpd="sng" w="9525">
            <a:solidFill>
              <a:srgbClr val="F6B26B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b1cc868f2a_0_384"/>
          <p:cNvSpPr txBox="1"/>
          <p:nvPr/>
        </p:nvSpPr>
        <p:spPr>
          <a:xfrm>
            <a:off x="198975" y="1500975"/>
            <a:ext cx="194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Must Have</a:t>
            </a:r>
            <a:endParaRPr sz="1800"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8" name="Google Shape;228;g3b1cc868f2a_0_384"/>
          <p:cNvCxnSpPr/>
          <p:nvPr/>
        </p:nvCxnSpPr>
        <p:spPr>
          <a:xfrm>
            <a:off x="1151038" y="951626"/>
            <a:ext cx="0" cy="225900"/>
          </a:xfrm>
          <a:prstGeom prst="straightConnector1">
            <a:avLst/>
          </a:prstGeom>
          <a:noFill/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9" name="Google Shape;229;g3b1cc868f2a_0_384"/>
          <p:cNvSpPr txBox="1"/>
          <p:nvPr/>
        </p:nvSpPr>
        <p:spPr>
          <a:xfrm>
            <a:off x="138878" y="2114625"/>
            <a:ext cx="19821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Chat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inteligente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dentro do StackSpot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D9D9D9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Conexão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entre indicadores oficiais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D9D9D9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Resumo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executivo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de pendências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D9D9D9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Detalhamento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sob demanda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(persona)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Recomendação de ações / próximos passos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Histórico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 solicitações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4" name="Google Shape;234;g3b1cc868f2a_0_321"/>
          <p:cNvCxnSpPr/>
          <p:nvPr/>
        </p:nvCxnSpPr>
        <p:spPr>
          <a:xfrm>
            <a:off x="197738" y="1092575"/>
            <a:ext cx="43320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5" name="Google Shape;235;g3b1cc868f2a_0_321"/>
          <p:cNvSpPr/>
          <p:nvPr/>
        </p:nvSpPr>
        <p:spPr>
          <a:xfrm>
            <a:off x="181003" y="1298925"/>
            <a:ext cx="1940100" cy="8157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b1cc868f2a_0_321"/>
          <p:cNvSpPr txBox="1"/>
          <p:nvPr/>
        </p:nvSpPr>
        <p:spPr>
          <a:xfrm>
            <a:off x="198975" y="1500975"/>
            <a:ext cx="194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Must Have</a:t>
            </a:r>
            <a:endParaRPr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37" name="Google Shape;237;g3b1cc868f2a_0_321"/>
          <p:cNvCxnSpPr/>
          <p:nvPr/>
        </p:nvCxnSpPr>
        <p:spPr>
          <a:xfrm>
            <a:off x="1151038" y="951626"/>
            <a:ext cx="0" cy="225900"/>
          </a:xfrm>
          <a:prstGeom prst="straightConnector1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8" name="Google Shape;238;g3b1cc868f2a_0_321"/>
          <p:cNvSpPr txBox="1"/>
          <p:nvPr/>
        </p:nvSpPr>
        <p:spPr>
          <a:xfrm>
            <a:off x="138878" y="2114625"/>
            <a:ext cx="19821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Chat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inteligente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dentro do StackSpot</a:t>
            </a:r>
            <a:endParaRPr b="1"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Conexão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entre indicadores oficiais</a:t>
            </a:r>
            <a:endParaRPr b="1"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 Resumo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executivo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de pendências</a:t>
            </a:r>
            <a:endParaRPr b="1"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 Detalhamento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sob demanda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(persona)</a:t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 Recomendação de ações / próximos passos</a:t>
            </a:r>
            <a:endParaRPr b="1"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Histórico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 solicitações</a:t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39" name="Google Shape;239;g3b1cc868f2a_0_321"/>
          <p:cNvSpPr/>
          <p:nvPr/>
        </p:nvSpPr>
        <p:spPr>
          <a:xfrm>
            <a:off x="2397040" y="1298925"/>
            <a:ext cx="1940100" cy="815700"/>
          </a:xfrm>
          <a:prstGeom prst="rect">
            <a:avLst/>
          </a:prstGeom>
          <a:noFill/>
          <a:ln cap="flat" cmpd="sng" w="9525">
            <a:solidFill>
              <a:srgbClr val="F6B26B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b1cc868f2a_0_321"/>
          <p:cNvSpPr txBox="1"/>
          <p:nvPr/>
        </p:nvSpPr>
        <p:spPr>
          <a:xfrm>
            <a:off x="2415013" y="1500975"/>
            <a:ext cx="194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Should Have</a:t>
            </a:r>
            <a:endParaRPr sz="1800"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41" name="Google Shape;241;g3b1cc868f2a_0_321"/>
          <p:cNvCxnSpPr/>
          <p:nvPr/>
        </p:nvCxnSpPr>
        <p:spPr>
          <a:xfrm>
            <a:off x="3367075" y="951626"/>
            <a:ext cx="0" cy="225900"/>
          </a:xfrm>
          <a:prstGeom prst="straightConnector1">
            <a:avLst/>
          </a:prstGeom>
          <a:noFill/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g3b1cc868f2a_0_321"/>
          <p:cNvSpPr txBox="1"/>
          <p:nvPr/>
        </p:nvSpPr>
        <p:spPr>
          <a:xfrm>
            <a:off x="2354915" y="2114625"/>
            <a:ext cx="1982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Alertas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proativos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Comparação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entre siglas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Frases-chave executivas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automáticas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g3b1cc868f2a_0_321"/>
          <p:cNvSpPr txBox="1"/>
          <p:nvPr/>
        </p:nvSpPr>
        <p:spPr>
          <a:xfrm>
            <a:off x="202700" y="-29425"/>
            <a:ext cx="30393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Versão </a:t>
            </a: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1.0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8" name="Google Shape;248;g3b1cc868f2a_0_342"/>
          <p:cNvCxnSpPr/>
          <p:nvPr/>
        </p:nvCxnSpPr>
        <p:spPr>
          <a:xfrm>
            <a:off x="197738" y="1092575"/>
            <a:ext cx="65628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9" name="Google Shape;249;g3b1cc868f2a_0_342"/>
          <p:cNvSpPr/>
          <p:nvPr/>
        </p:nvSpPr>
        <p:spPr>
          <a:xfrm>
            <a:off x="181003" y="1298925"/>
            <a:ext cx="1940100" cy="8157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g3b1cc868f2a_0_342"/>
          <p:cNvSpPr txBox="1"/>
          <p:nvPr/>
        </p:nvSpPr>
        <p:spPr>
          <a:xfrm>
            <a:off x="198975" y="1500975"/>
            <a:ext cx="194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Must Have</a:t>
            </a:r>
            <a:endParaRPr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1" name="Google Shape;251;g3b1cc868f2a_0_342"/>
          <p:cNvCxnSpPr/>
          <p:nvPr/>
        </p:nvCxnSpPr>
        <p:spPr>
          <a:xfrm>
            <a:off x="1151038" y="951626"/>
            <a:ext cx="0" cy="2259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" name="Google Shape;252;g3b1cc868f2a_0_342"/>
          <p:cNvSpPr txBox="1"/>
          <p:nvPr/>
        </p:nvSpPr>
        <p:spPr>
          <a:xfrm>
            <a:off x="138878" y="2114625"/>
            <a:ext cx="19821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Chat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inteligente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dentro do StackSpot</a:t>
            </a:r>
            <a:endParaRPr b="1"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Conexão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entre indicadores oficiais</a:t>
            </a:r>
            <a:endParaRPr b="1"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 Resumo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executivo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de pendências</a:t>
            </a:r>
            <a:endParaRPr b="1"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 Detalhamento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sob demanda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(persona)</a:t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 Recomendação de ações / próximos passos</a:t>
            </a:r>
            <a:endParaRPr b="1"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Histórico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 solicitações</a:t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53" name="Google Shape;253;g3b1cc868f2a_0_342"/>
          <p:cNvSpPr/>
          <p:nvPr/>
        </p:nvSpPr>
        <p:spPr>
          <a:xfrm>
            <a:off x="2397040" y="1298925"/>
            <a:ext cx="1940100" cy="8157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g3b1cc868f2a_0_342"/>
          <p:cNvSpPr txBox="1"/>
          <p:nvPr/>
        </p:nvSpPr>
        <p:spPr>
          <a:xfrm>
            <a:off x="2415013" y="1500975"/>
            <a:ext cx="194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Should Have</a:t>
            </a:r>
            <a:endParaRPr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5" name="Google Shape;255;g3b1cc868f2a_0_342"/>
          <p:cNvCxnSpPr/>
          <p:nvPr/>
        </p:nvCxnSpPr>
        <p:spPr>
          <a:xfrm>
            <a:off x="3367075" y="951626"/>
            <a:ext cx="0" cy="2259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6" name="Google Shape;256;g3b1cc868f2a_0_342"/>
          <p:cNvSpPr txBox="1"/>
          <p:nvPr/>
        </p:nvSpPr>
        <p:spPr>
          <a:xfrm>
            <a:off x="2354915" y="2114625"/>
            <a:ext cx="1982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Alertas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proativos</a:t>
            </a:r>
            <a:endParaRPr b="1"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Comparação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entre siglas</a:t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Frases-chave executivas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automáticas</a:t>
            </a:r>
            <a:endParaRPr b="1"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g3b1cc868f2a_0_342"/>
          <p:cNvSpPr/>
          <p:nvPr/>
        </p:nvSpPr>
        <p:spPr>
          <a:xfrm>
            <a:off x="4676190" y="1298925"/>
            <a:ext cx="1940100" cy="815700"/>
          </a:xfrm>
          <a:prstGeom prst="rect">
            <a:avLst/>
          </a:prstGeom>
          <a:noFill/>
          <a:ln cap="flat" cmpd="sng" w="9525">
            <a:solidFill>
              <a:srgbClr val="F6B26B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3b1cc868f2a_0_342"/>
          <p:cNvSpPr txBox="1"/>
          <p:nvPr/>
        </p:nvSpPr>
        <p:spPr>
          <a:xfrm>
            <a:off x="4694163" y="1500975"/>
            <a:ext cx="194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Could Have</a:t>
            </a:r>
            <a:endParaRPr sz="1800"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59" name="Google Shape;259;g3b1cc868f2a_0_342"/>
          <p:cNvCxnSpPr/>
          <p:nvPr/>
        </p:nvCxnSpPr>
        <p:spPr>
          <a:xfrm>
            <a:off x="5646225" y="951626"/>
            <a:ext cx="0" cy="225900"/>
          </a:xfrm>
          <a:prstGeom prst="straightConnector1">
            <a:avLst/>
          </a:prstGeom>
          <a:noFill/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0" name="Google Shape;260;g3b1cc868f2a_0_342"/>
          <p:cNvSpPr txBox="1"/>
          <p:nvPr/>
        </p:nvSpPr>
        <p:spPr>
          <a:xfrm>
            <a:off x="4634065" y="2114625"/>
            <a:ext cx="1982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Exportação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simples (csv)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Video-resposta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gerada automaticamente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" name="Google Shape;261;g3b1cc868f2a_0_342"/>
          <p:cNvSpPr txBox="1"/>
          <p:nvPr/>
        </p:nvSpPr>
        <p:spPr>
          <a:xfrm>
            <a:off x="202700" y="-29425"/>
            <a:ext cx="30393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Versão </a:t>
            </a: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1.0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6" name="Google Shape;266;g3b1cc868f2a_0_363"/>
          <p:cNvCxnSpPr/>
          <p:nvPr/>
        </p:nvCxnSpPr>
        <p:spPr>
          <a:xfrm>
            <a:off x="197738" y="1092575"/>
            <a:ext cx="87516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67" name="Google Shape;267;g3b1cc868f2a_0_363"/>
          <p:cNvSpPr/>
          <p:nvPr/>
        </p:nvSpPr>
        <p:spPr>
          <a:xfrm>
            <a:off x="181003" y="1298925"/>
            <a:ext cx="1940100" cy="8157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g3b1cc868f2a_0_363"/>
          <p:cNvSpPr txBox="1"/>
          <p:nvPr/>
        </p:nvSpPr>
        <p:spPr>
          <a:xfrm>
            <a:off x="198975" y="1500975"/>
            <a:ext cx="194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Must Have</a:t>
            </a:r>
            <a:endParaRPr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69" name="Google Shape;269;g3b1cc868f2a_0_363"/>
          <p:cNvCxnSpPr/>
          <p:nvPr/>
        </p:nvCxnSpPr>
        <p:spPr>
          <a:xfrm>
            <a:off x="1151038" y="951626"/>
            <a:ext cx="0" cy="2259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g3b1cc868f2a_0_363"/>
          <p:cNvSpPr txBox="1"/>
          <p:nvPr/>
        </p:nvSpPr>
        <p:spPr>
          <a:xfrm>
            <a:off x="138878" y="2114625"/>
            <a:ext cx="19821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Chat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inteligente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dentro do StackSpot</a:t>
            </a:r>
            <a:endParaRPr b="1"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Conexão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entre indicadores oficiais</a:t>
            </a:r>
            <a:endParaRPr b="1"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 Resumo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executivo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de pendências</a:t>
            </a:r>
            <a:endParaRPr b="1"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 Detalhamento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sob demanda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(persona)</a:t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 Recomendação de ações / próximos passos</a:t>
            </a:r>
            <a:endParaRPr b="1"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Histórico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 solicitações</a:t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271" name="Google Shape;271;g3b1cc868f2a_0_363"/>
          <p:cNvSpPr/>
          <p:nvPr/>
        </p:nvSpPr>
        <p:spPr>
          <a:xfrm>
            <a:off x="2397040" y="1298925"/>
            <a:ext cx="1940100" cy="8157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g3b1cc868f2a_0_363"/>
          <p:cNvSpPr txBox="1"/>
          <p:nvPr/>
        </p:nvSpPr>
        <p:spPr>
          <a:xfrm>
            <a:off x="2415013" y="1500975"/>
            <a:ext cx="194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Should Have</a:t>
            </a:r>
            <a:endParaRPr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73" name="Google Shape;273;g3b1cc868f2a_0_363"/>
          <p:cNvCxnSpPr/>
          <p:nvPr/>
        </p:nvCxnSpPr>
        <p:spPr>
          <a:xfrm>
            <a:off x="3367075" y="951626"/>
            <a:ext cx="0" cy="2259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4" name="Google Shape;274;g3b1cc868f2a_0_363"/>
          <p:cNvSpPr txBox="1"/>
          <p:nvPr/>
        </p:nvSpPr>
        <p:spPr>
          <a:xfrm>
            <a:off x="2354915" y="2114625"/>
            <a:ext cx="1982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Alertas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proativos</a:t>
            </a:r>
            <a:endParaRPr b="1"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Comparação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entre siglas</a:t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Frases-chave executivas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automáticas</a:t>
            </a:r>
            <a:endParaRPr b="1"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" name="Google Shape;275;g3b1cc868f2a_0_363"/>
          <p:cNvSpPr/>
          <p:nvPr/>
        </p:nvSpPr>
        <p:spPr>
          <a:xfrm>
            <a:off x="4676190" y="1298925"/>
            <a:ext cx="1940100" cy="8157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b1cc868f2a_0_363"/>
          <p:cNvSpPr txBox="1"/>
          <p:nvPr/>
        </p:nvSpPr>
        <p:spPr>
          <a:xfrm>
            <a:off x="4694163" y="1500975"/>
            <a:ext cx="1940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Could Have</a:t>
            </a:r>
            <a:endParaRPr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77" name="Google Shape;277;g3b1cc868f2a_0_363"/>
          <p:cNvCxnSpPr/>
          <p:nvPr/>
        </p:nvCxnSpPr>
        <p:spPr>
          <a:xfrm>
            <a:off x="5646225" y="951626"/>
            <a:ext cx="0" cy="2259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8" name="Google Shape;278;g3b1cc868f2a_0_363"/>
          <p:cNvSpPr txBox="1"/>
          <p:nvPr/>
        </p:nvSpPr>
        <p:spPr>
          <a:xfrm>
            <a:off x="4634065" y="2114625"/>
            <a:ext cx="1982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Exportação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simples (csv)</a:t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 </a:t>
            </a: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Video-resposta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gerada automaticamente</a:t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9" name="Google Shape;279;g3b1cc868f2a_0_363"/>
          <p:cNvSpPr/>
          <p:nvPr/>
        </p:nvSpPr>
        <p:spPr>
          <a:xfrm>
            <a:off x="6895228" y="1298925"/>
            <a:ext cx="1940100" cy="815700"/>
          </a:xfrm>
          <a:prstGeom prst="rect">
            <a:avLst/>
          </a:prstGeom>
          <a:noFill/>
          <a:ln cap="flat" cmpd="sng" w="9525">
            <a:solidFill>
              <a:srgbClr val="F6B26B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b1cc868f2a_0_363"/>
          <p:cNvSpPr txBox="1"/>
          <p:nvPr/>
        </p:nvSpPr>
        <p:spPr>
          <a:xfrm>
            <a:off x="6913200" y="1348575"/>
            <a:ext cx="19401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Fora do Escopo (V1)</a:t>
            </a:r>
            <a:endParaRPr sz="1800"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81" name="Google Shape;281;g3b1cc868f2a_0_363"/>
          <p:cNvCxnSpPr/>
          <p:nvPr/>
        </p:nvCxnSpPr>
        <p:spPr>
          <a:xfrm>
            <a:off x="7865263" y="951626"/>
            <a:ext cx="0" cy="225900"/>
          </a:xfrm>
          <a:prstGeom prst="straightConnector1">
            <a:avLst/>
          </a:prstGeom>
          <a:noFill/>
          <a:ln cap="flat" cmpd="sng" w="9525">
            <a:solidFill>
              <a:srgbClr val="FFAB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2" name="Google Shape;282;g3b1cc868f2a_0_363"/>
          <p:cNvSpPr txBox="1"/>
          <p:nvPr/>
        </p:nvSpPr>
        <p:spPr>
          <a:xfrm>
            <a:off x="6853103" y="2114625"/>
            <a:ext cx="19821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Geração automática de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apresentações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Interpretação com ferramentas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externas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extras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" name="Google Shape;283;g3b1cc868f2a_0_363"/>
          <p:cNvSpPr txBox="1"/>
          <p:nvPr/>
        </p:nvSpPr>
        <p:spPr>
          <a:xfrm>
            <a:off x="202700" y="-29425"/>
            <a:ext cx="30393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Versão </a:t>
            </a: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1.0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b1cc868f2a_0_577"/>
          <p:cNvSpPr txBox="1"/>
          <p:nvPr>
            <p:ph idx="4294967295" type="ctrTitle"/>
          </p:nvPr>
        </p:nvSpPr>
        <p:spPr>
          <a:xfrm>
            <a:off x="556588" y="1778300"/>
            <a:ext cx="7079700" cy="690300"/>
          </a:xfrm>
          <a:prstGeom prst="rect">
            <a:avLst/>
          </a:prstGeom>
          <a:noFill/>
          <a:ln>
            <a:noFill/>
          </a:ln>
          <a:effectLst>
            <a:outerShdw blurRad="1428750" rotWithShape="0" algn="bl" dir="60000" dist="38100">
              <a:srgbClr val="FFFFFF">
                <a:alpha val="6353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4000">
                <a:solidFill>
                  <a:srgbClr val="FFF2CC"/>
                </a:solidFill>
                <a:latin typeface="Montserrat"/>
                <a:ea typeface="Montserrat"/>
                <a:cs typeface="Montserrat"/>
                <a:sym typeface="Montserrat"/>
              </a:rPr>
              <a:t>Onda 1: Desenvolvimento</a:t>
            </a:r>
            <a:endParaRPr b="0" i="0" sz="4000" u="none" cap="none" strike="noStrike">
              <a:solidFill>
                <a:srgbClr val="FFF2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9" name="Google Shape;289;g3b1cc868f2a_0_577"/>
          <p:cNvSpPr txBox="1"/>
          <p:nvPr/>
        </p:nvSpPr>
        <p:spPr>
          <a:xfrm>
            <a:off x="607123" y="2552800"/>
            <a:ext cx="68328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Construir um sistema </a:t>
            </a:r>
            <a:r>
              <a:rPr b="1" lang="pt-BR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confiável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lang="pt-BR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escalável 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e </a:t>
            </a:r>
            <a:r>
              <a:rPr b="1" lang="pt-BR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auditável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, separando decisão, interpretação, execução e explicação.</a:t>
            </a:r>
            <a:endParaRPr sz="15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b1cc868f2a_0_568"/>
          <p:cNvSpPr txBox="1"/>
          <p:nvPr/>
        </p:nvSpPr>
        <p:spPr>
          <a:xfrm>
            <a:off x="607113" y="2552800"/>
            <a:ext cx="79803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&lt; vídeo rodando &gt;</a:t>
            </a:r>
            <a:endParaRPr sz="15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" name="Google Shape;295;g3b1cc868f2a_0_568"/>
          <p:cNvSpPr txBox="1"/>
          <p:nvPr/>
        </p:nvSpPr>
        <p:spPr>
          <a:xfrm>
            <a:off x="202700" y="-29425"/>
            <a:ext cx="56925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Cenário Atual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b1cc868f2a_0_573"/>
          <p:cNvSpPr txBox="1"/>
          <p:nvPr/>
        </p:nvSpPr>
        <p:spPr>
          <a:xfrm>
            <a:off x="202700" y="-29425"/>
            <a:ext cx="56925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Papéis (Efeito Cascata)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301" name="Google Shape;301;g3b1cc868f2a_0_573"/>
          <p:cNvSpPr txBox="1"/>
          <p:nvPr/>
        </p:nvSpPr>
        <p:spPr>
          <a:xfrm>
            <a:off x="131663" y="2851238"/>
            <a:ext cx="240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8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Governança</a:t>
            </a:r>
            <a:r>
              <a:rPr lang="pt-BR" sz="18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b="1" lang="pt-BR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Humana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g3b1cc868f2a_0_573"/>
          <p:cNvSpPr txBox="1"/>
          <p:nvPr/>
        </p:nvSpPr>
        <p:spPr>
          <a:xfrm>
            <a:off x="2016360" y="2851600"/>
            <a:ext cx="180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Orquestrador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3" name="Google Shape;303;g3b1cc868f2a_0_573"/>
          <p:cNvSpPr txBox="1"/>
          <p:nvPr/>
        </p:nvSpPr>
        <p:spPr>
          <a:xfrm>
            <a:off x="145637" y="3504838"/>
            <a:ext cx="1805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Foco: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Define o que é verdade, como interpretar e o que não pode ser respondido errado</a:t>
            </a:r>
            <a:endParaRPr i="1"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04" name="Google Shape;304;g3b1cc868f2a_0_573"/>
          <p:cNvSpPr txBox="1"/>
          <p:nvPr/>
        </p:nvSpPr>
        <p:spPr>
          <a:xfrm>
            <a:off x="2034774" y="3262363"/>
            <a:ext cx="225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Foco: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decide quem faz o quê</a:t>
            </a:r>
            <a:endParaRPr i="1"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grpSp>
        <p:nvGrpSpPr>
          <p:cNvPr id="305" name="Google Shape;305;g3b1cc868f2a_0_573"/>
          <p:cNvGrpSpPr/>
          <p:nvPr/>
        </p:nvGrpSpPr>
        <p:grpSpPr>
          <a:xfrm>
            <a:off x="4213025" y="2852050"/>
            <a:ext cx="1702820" cy="825975"/>
            <a:chOff x="-3265221" y="3205118"/>
            <a:chExt cx="1962000" cy="825975"/>
          </a:xfrm>
        </p:grpSpPr>
        <p:sp>
          <p:nvSpPr>
            <p:cNvPr id="306" name="Google Shape;306;g3b1cc868f2a_0_573"/>
            <p:cNvSpPr txBox="1"/>
            <p:nvPr/>
          </p:nvSpPr>
          <p:spPr>
            <a:xfrm>
              <a:off x="-3249062" y="3205118"/>
              <a:ext cx="1510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800">
                  <a:solidFill>
                    <a:srgbClr val="B7B7B7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Agente</a:t>
              </a:r>
              <a:r>
                <a:rPr lang="pt-BR" sz="1800">
                  <a:solidFill>
                    <a:srgbClr val="B7B7B7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 </a:t>
              </a:r>
              <a:r>
                <a:rPr b="1" lang="pt-BR"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  <a:endPara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07" name="Google Shape;307;g3b1cc868f2a_0_573"/>
            <p:cNvSpPr txBox="1"/>
            <p:nvPr/>
          </p:nvSpPr>
          <p:spPr>
            <a:xfrm>
              <a:off x="-3265221" y="3538493"/>
              <a:ext cx="1962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pt-BR" sz="1000">
                  <a:solidFill>
                    <a:srgbClr val="CC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Foco: </a:t>
              </a:r>
              <a:r>
                <a:rPr lang="pt-BR"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Interpretação Semântica</a:t>
              </a:r>
              <a:endParaRPr i="1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  <p:pic>
        <p:nvPicPr>
          <p:cNvPr id="308" name="Google Shape;308;g3b1cc868f2a_0_573" title="personas.png"/>
          <p:cNvPicPr preferRelativeResize="0"/>
          <p:nvPr/>
        </p:nvPicPr>
        <p:blipFill rotWithShape="1">
          <a:blip r:embed="rId3">
            <a:alphaModFix/>
          </a:blip>
          <a:srcRect b="57581" l="0" r="72586" t="12636"/>
          <a:stretch/>
        </p:blipFill>
        <p:spPr>
          <a:xfrm>
            <a:off x="2206913" y="1449613"/>
            <a:ext cx="1258425" cy="136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g3b1cc868f2a_0_573" title="personas.png"/>
          <p:cNvPicPr preferRelativeResize="0"/>
          <p:nvPr/>
        </p:nvPicPr>
        <p:blipFill rotWithShape="1">
          <a:blip r:embed="rId3">
            <a:alphaModFix/>
          </a:blip>
          <a:srcRect b="52250" l="23106" r="52066" t="17217"/>
          <a:stretch/>
        </p:blipFill>
        <p:spPr>
          <a:xfrm>
            <a:off x="376888" y="1449613"/>
            <a:ext cx="1139700" cy="140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g3b1cc868f2a_0_573" title="personas.png"/>
          <p:cNvPicPr preferRelativeResize="0"/>
          <p:nvPr/>
        </p:nvPicPr>
        <p:blipFill rotWithShape="1">
          <a:blip r:embed="rId3">
            <a:alphaModFix/>
          </a:blip>
          <a:srcRect b="54635" l="47605" r="27567" t="13731"/>
          <a:stretch/>
        </p:blipFill>
        <p:spPr>
          <a:xfrm>
            <a:off x="4307625" y="1407157"/>
            <a:ext cx="1139700" cy="1452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1" name="Google Shape;311;g3b1cc868f2a_0_573"/>
          <p:cNvCxnSpPr/>
          <p:nvPr/>
        </p:nvCxnSpPr>
        <p:spPr>
          <a:xfrm>
            <a:off x="1644597" y="30978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grpSp>
        <p:nvGrpSpPr>
          <p:cNvPr id="312" name="Google Shape;312;g3b1cc868f2a_0_573"/>
          <p:cNvGrpSpPr/>
          <p:nvPr/>
        </p:nvGrpSpPr>
        <p:grpSpPr>
          <a:xfrm>
            <a:off x="5799088" y="2852050"/>
            <a:ext cx="1584080" cy="979875"/>
            <a:chOff x="-3753426" y="3205118"/>
            <a:chExt cx="1825188" cy="979875"/>
          </a:xfrm>
        </p:grpSpPr>
        <p:sp>
          <p:nvSpPr>
            <p:cNvPr id="313" name="Google Shape;313;g3b1cc868f2a_0_573"/>
            <p:cNvSpPr txBox="1"/>
            <p:nvPr/>
          </p:nvSpPr>
          <p:spPr>
            <a:xfrm>
              <a:off x="-3753426" y="3205118"/>
              <a:ext cx="1510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800">
                  <a:solidFill>
                    <a:srgbClr val="B7B7B7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Agente </a:t>
              </a:r>
              <a:r>
                <a:rPr b="1" lang="pt-BR"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</a:t>
              </a:r>
              <a:endPara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14" name="Google Shape;314;g3b1cc868f2a_0_573"/>
            <p:cNvSpPr txBox="1"/>
            <p:nvPr/>
          </p:nvSpPr>
          <p:spPr>
            <a:xfrm>
              <a:off x="-3740838" y="3538493"/>
              <a:ext cx="18126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pt-BR" sz="1000">
                  <a:solidFill>
                    <a:srgbClr val="CC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Foco: </a:t>
              </a:r>
              <a:r>
                <a:rPr lang="pt-BR"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Execução técnica / Filtragem de base</a:t>
              </a:r>
              <a:endParaRPr i="1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  <p:pic>
        <p:nvPicPr>
          <p:cNvPr id="315" name="Google Shape;315;g3b1cc868f2a_0_573" title="personas.png"/>
          <p:cNvPicPr preferRelativeResize="0"/>
          <p:nvPr/>
        </p:nvPicPr>
        <p:blipFill rotWithShape="1">
          <a:blip r:embed="rId3">
            <a:alphaModFix/>
          </a:blip>
          <a:srcRect b="54635" l="47605" r="27567" t="13731"/>
          <a:stretch/>
        </p:blipFill>
        <p:spPr>
          <a:xfrm>
            <a:off x="5932913" y="1407157"/>
            <a:ext cx="1139700" cy="1452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6" name="Google Shape;316;g3b1cc868f2a_0_573"/>
          <p:cNvGrpSpPr/>
          <p:nvPr/>
        </p:nvGrpSpPr>
        <p:grpSpPr>
          <a:xfrm>
            <a:off x="7428250" y="2852050"/>
            <a:ext cx="1584080" cy="825975"/>
            <a:chOff x="-2106764" y="3205118"/>
            <a:chExt cx="1825188" cy="825975"/>
          </a:xfrm>
        </p:grpSpPr>
        <p:sp>
          <p:nvSpPr>
            <p:cNvPr id="317" name="Google Shape;317;g3b1cc868f2a_0_573"/>
            <p:cNvSpPr txBox="1"/>
            <p:nvPr/>
          </p:nvSpPr>
          <p:spPr>
            <a:xfrm>
              <a:off x="-2106764" y="3205118"/>
              <a:ext cx="1510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800">
                  <a:solidFill>
                    <a:srgbClr val="B7B7B7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Agente </a:t>
              </a:r>
              <a:r>
                <a:rPr b="1" lang="pt-BR"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  <a:endPara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18" name="Google Shape;318;g3b1cc868f2a_0_573"/>
            <p:cNvSpPr txBox="1"/>
            <p:nvPr/>
          </p:nvSpPr>
          <p:spPr>
            <a:xfrm>
              <a:off x="-2094177" y="3538493"/>
              <a:ext cx="1812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pt-BR" sz="1000">
                  <a:solidFill>
                    <a:srgbClr val="CC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Foco: </a:t>
              </a:r>
              <a:r>
                <a:rPr lang="pt-BR"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Resolução e explicação</a:t>
              </a:r>
              <a:endParaRPr i="1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  <p:pic>
        <p:nvPicPr>
          <p:cNvPr id="319" name="Google Shape;319;g3b1cc868f2a_0_573" title="personas.png"/>
          <p:cNvPicPr preferRelativeResize="0"/>
          <p:nvPr/>
        </p:nvPicPr>
        <p:blipFill rotWithShape="1">
          <a:blip r:embed="rId3">
            <a:alphaModFix/>
          </a:blip>
          <a:srcRect b="54635" l="47605" r="27567" t="13731"/>
          <a:stretch/>
        </p:blipFill>
        <p:spPr>
          <a:xfrm>
            <a:off x="7482563" y="1407157"/>
            <a:ext cx="1139700" cy="1452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0" name="Google Shape;320;g3b1cc868f2a_0_573"/>
          <p:cNvCxnSpPr/>
          <p:nvPr/>
        </p:nvCxnSpPr>
        <p:spPr>
          <a:xfrm>
            <a:off x="3822072" y="30978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cxnSp>
        <p:nvCxnSpPr>
          <p:cNvPr id="321" name="Google Shape;321;g3b1cc868f2a_0_573"/>
          <p:cNvCxnSpPr/>
          <p:nvPr/>
        </p:nvCxnSpPr>
        <p:spPr>
          <a:xfrm>
            <a:off x="5394084" y="30978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cxnSp>
        <p:nvCxnSpPr>
          <p:cNvPr id="322" name="Google Shape;322;g3b1cc868f2a_0_573"/>
          <p:cNvCxnSpPr/>
          <p:nvPr/>
        </p:nvCxnSpPr>
        <p:spPr>
          <a:xfrm>
            <a:off x="7023259" y="30978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sp>
        <p:nvSpPr>
          <p:cNvPr id="323" name="Google Shape;323;g3b1cc868f2a_0_573"/>
          <p:cNvSpPr txBox="1"/>
          <p:nvPr/>
        </p:nvSpPr>
        <p:spPr>
          <a:xfrm>
            <a:off x="202682" y="652525"/>
            <a:ext cx="5846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Se qualquer um desses papéis se misturar, vira um sistema </a:t>
            </a: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frágil</a:t>
            </a:r>
            <a:endParaRPr b="1" i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b1cc868f2a_0_722"/>
          <p:cNvSpPr txBox="1"/>
          <p:nvPr/>
        </p:nvSpPr>
        <p:spPr>
          <a:xfrm>
            <a:off x="202700" y="-29425"/>
            <a:ext cx="56925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Papéis (Efeito Cascata)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329" name="Google Shape;329;g3b1cc868f2a_0_722"/>
          <p:cNvSpPr txBox="1"/>
          <p:nvPr/>
        </p:nvSpPr>
        <p:spPr>
          <a:xfrm>
            <a:off x="131663" y="2851238"/>
            <a:ext cx="240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8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Governança </a:t>
            </a:r>
            <a:r>
              <a:rPr b="1" lang="pt-BR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Humana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" name="Google Shape;330;g3b1cc868f2a_0_722"/>
          <p:cNvSpPr txBox="1"/>
          <p:nvPr/>
        </p:nvSpPr>
        <p:spPr>
          <a:xfrm>
            <a:off x="2016360" y="2851600"/>
            <a:ext cx="180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Orquestrador</a:t>
            </a:r>
            <a:endParaRPr b="1"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g3b1cc868f2a_0_722"/>
          <p:cNvSpPr txBox="1"/>
          <p:nvPr/>
        </p:nvSpPr>
        <p:spPr>
          <a:xfrm>
            <a:off x="2049599" y="3262363"/>
            <a:ext cx="225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Foco: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decide quem faz o quê</a:t>
            </a:r>
            <a:endParaRPr i="1"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grpSp>
        <p:nvGrpSpPr>
          <p:cNvPr id="332" name="Google Shape;332;g3b1cc868f2a_0_722"/>
          <p:cNvGrpSpPr/>
          <p:nvPr/>
        </p:nvGrpSpPr>
        <p:grpSpPr>
          <a:xfrm>
            <a:off x="4213025" y="2852050"/>
            <a:ext cx="1702820" cy="825975"/>
            <a:chOff x="-3265221" y="3205118"/>
            <a:chExt cx="1962000" cy="825975"/>
          </a:xfrm>
        </p:grpSpPr>
        <p:sp>
          <p:nvSpPr>
            <p:cNvPr id="333" name="Google Shape;333;g3b1cc868f2a_0_722"/>
            <p:cNvSpPr txBox="1"/>
            <p:nvPr/>
          </p:nvSpPr>
          <p:spPr>
            <a:xfrm>
              <a:off x="-3249062" y="3205118"/>
              <a:ext cx="1510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800">
                  <a:solidFill>
                    <a:srgbClr val="434343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Agente </a:t>
              </a:r>
              <a:r>
                <a:rPr b="1" lang="pt-BR" sz="18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  <a:endParaRPr b="1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34" name="Google Shape;334;g3b1cc868f2a_0_722"/>
            <p:cNvSpPr txBox="1"/>
            <p:nvPr/>
          </p:nvSpPr>
          <p:spPr>
            <a:xfrm>
              <a:off x="-3265221" y="3538493"/>
              <a:ext cx="1962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pt-BR" sz="10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Foco: </a:t>
              </a:r>
              <a:r>
                <a:rPr lang="pt-BR" sz="1000">
                  <a:solidFill>
                    <a:srgbClr val="434343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Interpretação Semântica</a:t>
              </a:r>
              <a:endParaRPr i="1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  <p:pic>
        <p:nvPicPr>
          <p:cNvPr id="335" name="Google Shape;335;g3b1cc868f2a_0_722" title="personas.png"/>
          <p:cNvPicPr preferRelativeResize="0"/>
          <p:nvPr/>
        </p:nvPicPr>
        <p:blipFill rotWithShape="1">
          <a:blip r:embed="rId3">
            <a:alphaModFix/>
          </a:blip>
          <a:srcRect b="57581" l="0" r="72586" t="12636"/>
          <a:stretch/>
        </p:blipFill>
        <p:spPr>
          <a:xfrm>
            <a:off x="2206913" y="1449613"/>
            <a:ext cx="1258425" cy="136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g3b1cc868f2a_0_722" title="personas.png"/>
          <p:cNvPicPr preferRelativeResize="0"/>
          <p:nvPr/>
        </p:nvPicPr>
        <p:blipFill rotWithShape="1">
          <a:blip r:embed="rId4">
            <a:alphaModFix/>
          </a:blip>
          <a:srcRect b="52250" l="23106" r="52066" t="17217"/>
          <a:stretch/>
        </p:blipFill>
        <p:spPr>
          <a:xfrm>
            <a:off x="376888" y="1449613"/>
            <a:ext cx="1139700" cy="140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g3b1cc868f2a_0_722" title="personas.png"/>
          <p:cNvPicPr preferRelativeResize="0"/>
          <p:nvPr/>
        </p:nvPicPr>
        <p:blipFill rotWithShape="1">
          <a:blip r:embed="rId3">
            <a:alphaModFix/>
          </a:blip>
          <a:srcRect b="54635" l="47605" r="27567" t="13731"/>
          <a:stretch/>
        </p:blipFill>
        <p:spPr>
          <a:xfrm>
            <a:off x="4307625" y="1407157"/>
            <a:ext cx="1139700" cy="1452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8" name="Google Shape;338;g3b1cc868f2a_0_722"/>
          <p:cNvCxnSpPr/>
          <p:nvPr/>
        </p:nvCxnSpPr>
        <p:spPr>
          <a:xfrm>
            <a:off x="1644597" y="30978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grpSp>
        <p:nvGrpSpPr>
          <p:cNvPr id="339" name="Google Shape;339;g3b1cc868f2a_0_722"/>
          <p:cNvGrpSpPr/>
          <p:nvPr/>
        </p:nvGrpSpPr>
        <p:grpSpPr>
          <a:xfrm>
            <a:off x="5799088" y="2852050"/>
            <a:ext cx="1584080" cy="979875"/>
            <a:chOff x="-3753426" y="3205118"/>
            <a:chExt cx="1825188" cy="979875"/>
          </a:xfrm>
        </p:grpSpPr>
        <p:sp>
          <p:nvSpPr>
            <p:cNvPr id="340" name="Google Shape;340;g3b1cc868f2a_0_722"/>
            <p:cNvSpPr txBox="1"/>
            <p:nvPr/>
          </p:nvSpPr>
          <p:spPr>
            <a:xfrm>
              <a:off x="-3753426" y="3205118"/>
              <a:ext cx="1510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800">
                  <a:solidFill>
                    <a:srgbClr val="434343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Agente </a:t>
              </a:r>
              <a:r>
                <a:rPr b="1" lang="pt-BR" sz="18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</a:t>
              </a:r>
              <a:endParaRPr b="1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41" name="Google Shape;341;g3b1cc868f2a_0_722"/>
            <p:cNvSpPr txBox="1"/>
            <p:nvPr/>
          </p:nvSpPr>
          <p:spPr>
            <a:xfrm>
              <a:off x="-3740838" y="3538493"/>
              <a:ext cx="18126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pt-BR" sz="10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Foco: </a:t>
              </a:r>
              <a:r>
                <a:rPr lang="pt-BR" sz="1000">
                  <a:solidFill>
                    <a:srgbClr val="434343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Execução técnica / Filtragem de base</a:t>
              </a:r>
              <a:endParaRPr i="1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  <p:pic>
        <p:nvPicPr>
          <p:cNvPr id="342" name="Google Shape;342;g3b1cc868f2a_0_722" title="personas.png"/>
          <p:cNvPicPr preferRelativeResize="0"/>
          <p:nvPr/>
        </p:nvPicPr>
        <p:blipFill rotWithShape="1">
          <a:blip r:embed="rId3">
            <a:alphaModFix/>
          </a:blip>
          <a:srcRect b="54635" l="47605" r="27567" t="13731"/>
          <a:stretch/>
        </p:blipFill>
        <p:spPr>
          <a:xfrm>
            <a:off x="5932913" y="1407157"/>
            <a:ext cx="1139700" cy="1452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3" name="Google Shape;343;g3b1cc868f2a_0_722"/>
          <p:cNvGrpSpPr/>
          <p:nvPr/>
        </p:nvGrpSpPr>
        <p:grpSpPr>
          <a:xfrm>
            <a:off x="7428250" y="2852050"/>
            <a:ext cx="1584080" cy="825975"/>
            <a:chOff x="-2106764" y="3205118"/>
            <a:chExt cx="1825188" cy="825975"/>
          </a:xfrm>
        </p:grpSpPr>
        <p:sp>
          <p:nvSpPr>
            <p:cNvPr id="344" name="Google Shape;344;g3b1cc868f2a_0_722"/>
            <p:cNvSpPr txBox="1"/>
            <p:nvPr/>
          </p:nvSpPr>
          <p:spPr>
            <a:xfrm>
              <a:off x="-2106764" y="3205118"/>
              <a:ext cx="1510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800">
                  <a:solidFill>
                    <a:srgbClr val="434343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Agente </a:t>
              </a:r>
              <a:r>
                <a:rPr b="1" lang="pt-BR" sz="18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  <a:endParaRPr b="1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45" name="Google Shape;345;g3b1cc868f2a_0_722"/>
            <p:cNvSpPr txBox="1"/>
            <p:nvPr/>
          </p:nvSpPr>
          <p:spPr>
            <a:xfrm>
              <a:off x="-2094177" y="3538493"/>
              <a:ext cx="1812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pt-BR" sz="10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Foco: </a:t>
              </a:r>
              <a:r>
                <a:rPr lang="pt-BR" sz="1000">
                  <a:solidFill>
                    <a:srgbClr val="434343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Resolução e explicação</a:t>
              </a:r>
              <a:endParaRPr i="1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  <p:pic>
        <p:nvPicPr>
          <p:cNvPr id="346" name="Google Shape;346;g3b1cc868f2a_0_722" title="personas.png"/>
          <p:cNvPicPr preferRelativeResize="0"/>
          <p:nvPr/>
        </p:nvPicPr>
        <p:blipFill rotWithShape="1">
          <a:blip r:embed="rId3">
            <a:alphaModFix/>
          </a:blip>
          <a:srcRect b="54635" l="47605" r="27567" t="13731"/>
          <a:stretch/>
        </p:blipFill>
        <p:spPr>
          <a:xfrm>
            <a:off x="7482563" y="1407157"/>
            <a:ext cx="1139700" cy="1452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7" name="Google Shape;347;g3b1cc868f2a_0_722"/>
          <p:cNvCxnSpPr/>
          <p:nvPr/>
        </p:nvCxnSpPr>
        <p:spPr>
          <a:xfrm>
            <a:off x="3822072" y="30978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stealth"/>
          </a:ln>
        </p:spPr>
      </p:cxnSp>
      <p:cxnSp>
        <p:nvCxnSpPr>
          <p:cNvPr id="348" name="Google Shape;348;g3b1cc868f2a_0_722"/>
          <p:cNvCxnSpPr/>
          <p:nvPr/>
        </p:nvCxnSpPr>
        <p:spPr>
          <a:xfrm>
            <a:off x="5394084" y="30978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stealth"/>
          </a:ln>
        </p:spPr>
      </p:cxnSp>
      <p:cxnSp>
        <p:nvCxnSpPr>
          <p:cNvPr id="349" name="Google Shape;349;g3b1cc868f2a_0_722"/>
          <p:cNvCxnSpPr/>
          <p:nvPr/>
        </p:nvCxnSpPr>
        <p:spPr>
          <a:xfrm>
            <a:off x="7023259" y="30978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stealth"/>
          </a:ln>
        </p:spPr>
      </p:cxnSp>
      <p:sp>
        <p:nvSpPr>
          <p:cNvPr id="350" name="Google Shape;350;g3b1cc868f2a_0_722"/>
          <p:cNvSpPr txBox="1"/>
          <p:nvPr/>
        </p:nvSpPr>
        <p:spPr>
          <a:xfrm>
            <a:off x="145637" y="3504838"/>
            <a:ext cx="1805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Não conversa com usuário, conversa com sistema. Isso é governança de verdade.</a:t>
            </a:r>
            <a:endParaRPr i="1"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b1cc868f2a_0_665"/>
          <p:cNvSpPr txBox="1"/>
          <p:nvPr/>
        </p:nvSpPr>
        <p:spPr>
          <a:xfrm>
            <a:off x="202700" y="-29425"/>
            <a:ext cx="56925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Papéis (Efeito Cascata)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356" name="Google Shape;356;g3b1cc868f2a_0_665"/>
          <p:cNvSpPr txBox="1"/>
          <p:nvPr/>
        </p:nvSpPr>
        <p:spPr>
          <a:xfrm>
            <a:off x="131663" y="2851238"/>
            <a:ext cx="240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8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Governança </a:t>
            </a:r>
            <a:r>
              <a:rPr b="1" lang="pt-BR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Humana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7" name="Google Shape;357;g3b1cc868f2a_0_665"/>
          <p:cNvSpPr txBox="1"/>
          <p:nvPr/>
        </p:nvSpPr>
        <p:spPr>
          <a:xfrm>
            <a:off x="145637" y="3504838"/>
            <a:ext cx="1805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Não conversa com usuário, conversa com sistema. Isso é governança de verdade.</a:t>
            </a:r>
            <a:endParaRPr i="1"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358" name="Google Shape;358;g3b1cc868f2a_0_665" title="personas.png"/>
          <p:cNvPicPr preferRelativeResize="0"/>
          <p:nvPr/>
        </p:nvPicPr>
        <p:blipFill rotWithShape="1">
          <a:blip r:embed="rId3">
            <a:alphaModFix/>
          </a:blip>
          <a:srcRect b="52250" l="23106" r="52066" t="17217"/>
          <a:stretch/>
        </p:blipFill>
        <p:spPr>
          <a:xfrm>
            <a:off x="376888" y="1449613"/>
            <a:ext cx="1139700" cy="1401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9" name="Google Shape;359;g3b1cc868f2a_0_665"/>
          <p:cNvCxnSpPr/>
          <p:nvPr/>
        </p:nvCxnSpPr>
        <p:spPr>
          <a:xfrm>
            <a:off x="1644597" y="30978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sp>
        <p:nvSpPr>
          <p:cNvPr id="360" name="Google Shape;360;g3b1cc868f2a_0_665"/>
          <p:cNvSpPr txBox="1"/>
          <p:nvPr/>
        </p:nvSpPr>
        <p:spPr>
          <a:xfrm>
            <a:off x="2110237" y="1927975"/>
            <a:ext cx="18057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Responsabilidade 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Definir regras de negócio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Definir vocabulário oficial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Definir mapeamentos semânticos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Definir prioridades, exceções e riscos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Definir o que pode ou não ser inferido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b1cc868f2a_0_750"/>
          <p:cNvSpPr txBox="1"/>
          <p:nvPr/>
        </p:nvSpPr>
        <p:spPr>
          <a:xfrm>
            <a:off x="131663" y="2851238"/>
            <a:ext cx="240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8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Governança </a:t>
            </a:r>
            <a:r>
              <a:rPr b="1" lang="pt-BR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Humana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6" name="Google Shape;366;g3b1cc868f2a_0_750"/>
          <p:cNvSpPr txBox="1"/>
          <p:nvPr/>
        </p:nvSpPr>
        <p:spPr>
          <a:xfrm>
            <a:off x="145637" y="3504838"/>
            <a:ext cx="1805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Não conversa com usuário, conversa com sistema. Isso é governança de verdade.</a:t>
            </a:r>
            <a:endParaRPr i="1"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367" name="Google Shape;367;g3b1cc868f2a_0_750" title="personas.png"/>
          <p:cNvPicPr preferRelativeResize="0"/>
          <p:nvPr/>
        </p:nvPicPr>
        <p:blipFill rotWithShape="1">
          <a:blip r:embed="rId3">
            <a:alphaModFix/>
          </a:blip>
          <a:srcRect b="52250" l="23106" r="52066" t="17217"/>
          <a:stretch/>
        </p:blipFill>
        <p:spPr>
          <a:xfrm>
            <a:off x="376888" y="1449613"/>
            <a:ext cx="1139700" cy="1401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8" name="Google Shape;368;g3b1cc868f2a_0_750"/>
          <p:cNvCxnSpPr/>
          <p:nvPr/>
        </p:nvCxnSpPr>
        <p:spPr>
          <a:xfrm>
            <a:off x="1644597" y="30978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sp>
        <p:nvSpPr>
          <p:cNvPr id="369" name="Google Shape;369;g3b1cc868f2a_0_750"/>
          <p:cNvSpPr txBox="1"/>
          <p:nvPr/>
        </p:nvSpPr>
        <p:spPr>
          <a:xfrm>
            <a:off x="2110237" y="1927975"/>
            <a:ext cx="18057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Responsabilidade 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Definir regras de negócio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Definir vocabulário oficial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Definir mapeamentos semânticos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Definir prioridades, exceções e riscos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Definir o que pode ou não ser inferido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70" name="Google Shape;370;g3b1cc868f2a_0_750"/>
          <p:cNvSpPr txBox="1"/>
          <p:nvPr/>
        </p:nvSpPr>
        <p:spPr>
          <a:xfrm>
            <a:off x="4089512" y="1927975"/>
            <a:ext cx="18057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Exemplos Concretos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“NF2 é uma sigla, não um produto”</a:t>
            </a:r>
            <a:b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</a:b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“PRRCON89 impacta Score de Resiliência, mas não Score de Cyber”</a:t>
            </a:r>
            <a:b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</a:b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“Quando o usuário pergunta ‘prioridade’, devolver sempre Produção antes de Teste”</a:t>
            </a:r>
            <a:b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</a:b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“Nunca inferir dados que não estejam em base oficial”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371" name="Google Shape;371;g3b1cc868f2a_0_750"/>
          <p:cNvCxnSpPr/>
          <p:nvPr/>
        </p:nvCxnSpPr>
        <p:spPr>
          <a:xfrm>
            <a:off x="3684497" y="30978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sp>
        <p:nvSpPr>
          <p:cNvPr id="372" name="Google Shape;372;g3b1cc868f2a_0_750"/>
          <p:cNvSpPr txBox="1"/>
          <p:nvPr/>
        </p:nvSpPr>
        <p:spPr>
          <a:xfrm>
            <a:off x="202700" y="-29425"/>
            <a:ext cx="56925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Papéis (Efeito Cascata)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b1cc868f2a_0_764"/>
          <p:cNvSpPr txBox="1"/>
          <p:nvPr/>
        </p:nvSpPr>
        <p:spPr>
          <a:xfrm>
            <a:off x="131663" y="2851238"/>
            <a:ext cx="240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8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Governança </a:t>
            </a:r>
            <a:r>
              <a:rPr b="1" lang="pt-BR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Humana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8" name="Google Shape;378;g3b1cc868f2a_0_764"/>
          <p:cNvSpPr txBox="1"/>
          <p:nvPr/>
        </p:nvSpPr>
        <p:spPr>
          <a:xfrm>
            <a:off x="145637" y="3504838"/>
            <a:ext cx="18057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Não conversa com usuário, conversa com sistema. Isso é governança de verdade.</a:t>
            </a:r>
            <a:endParaRPr i="1"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379" name="Google Shape;379;g3b1cc868f2a_0_764" title="personas.png"/>
          <p:cNvPicPr preferRelativeResize="0"/>
          <p:nvPr/>
        </p:nvPicPr>
        <p:blipFill rotWithShape="1">
          <a:blip r:embed="rId3">
            <a:alphaModFix/>
          </a:blip>
          <a:srcRect b="52250" l="23106" r="52066" t="17217"/>
          <a:stretch/>
        </p:blipFill>
        <p:spPr>
          <a:xfrm>
            <a:off x="376888" y="1449613"/>
            <a:ext cx="1139700" cy="1401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0" name="Google Shape;380;g3b1cc868f2a_0_764"/>
          <p:cNvCxnSpPr/>
          <p:nvPr/>
        </p:nvCxnSpPr>
        <p:spPr>
          <a:xfrm>
            <a:off x="1644597" y="30978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sp>
        <p:nvSpPr>
          <p:cNvPr id="381" name="Google Shape;381;g3b1cc868f2a_0_764"/>
          <p:cNvSpPr txBox="1"/>
          <p:nvPr/>
        </p:nvSpPr>
        <p:spPr>
          <a:xfrm>
            <a:off x="2110237" y="1927975"/>
            <a:ext cx="18057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Responsabilidade 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Definir regras de negócio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Definir vocabulário oficial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Definir mapeamentos semânticos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Definir prioridades, exceções e riscos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Definir o que pode ou não ser inferido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82" name="Google Shape;382;g3b1cc868f2a_0_764"/>
          <p:cNvSpPr txBox="1"/>
          <p:nvPr/>
        </p:nvSpPr>
        <p:spPr>
          <a:xfrm>
            <a:off x="4089512" y="1927975"/>
            <a:ext cx="18057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Exemplos Concretos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“NF2 é uma sigla, não um produto”</a:t>
            </a:r>
            <a:b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</a:b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“PRRCON89 impacta Score de Resiliência, mas não Score de Cyber”</a:t>
            </a:r>
            <a:b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</a:b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“Quando o usuário pergunta ‘prioridade’, devolver sempre Produção antes de Teste”</a:t>
            </a:r>
            <a:b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</a:b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“Nunca inferir dados que não estejam em base oficial”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383" name="Google Shape;383;g3b1cc868f2a_0_764"/>
          <p:cNvCxnSpPr/>
          <p:nvPr/>
        </p:nvCxnSpPr>
        <p:spPr>
          <a:xfrm>
            <a:off x="3684497" y="30978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cxnSp>
        <p:nvCxnSpPr>
          <p:cNvPr id="384" name="Google Shape;384;g3b1cc868f2a_0_764"/>
          <p:cNvCxnSpPr/>
          <p:nvPr/>
        </p:nvCxnSpPr>
        <p:spPr>
          <a:xfrm>
            <a:off x="5895197" y="30978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sp>
        <p:nvSpPr>
          <p:cNvPr id="385" name="Google Shape;385;g3b1cc868f2a_0_764"/>
          <p:cNvSpPr txBox="1"/>
          <p:nvPr/>
        </p:nvSpPr>
        <p:spPr>
          <a:xfrm>
            <a:off x="6339175" y="1927975"/>
            <a:ext cx="27297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Forma técnica de entrada no sistema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Arquivos de regra versionados (YAML / JSON / Markdown)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Tabelas de mapeamento semântico (ex: sigla → entidade)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Documentação estruturada, não texto solto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86" name="Google Shape;386;g3b1cc868f2a_0_764"/>
          <p:cNvSpPr txBox="1"/>
          <p:nvPr/>
        </p:nvSpPr>
        <p:spPr>
          <a:xfrm>
            <a:off x="202700" y="-29425"/>
            <a:ext cx="56925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Papéis (Efeito Cascata)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b1cc868f2a_0_778"/>
          <p:cNvSpPr txBox="1"/>
          <p:nvPr/>
        </p:nvSpPr>
        <p:spPr>
          <a:xfrm>
            <a:off x="131663" y="2851238"/>
            <a:ext cx="240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Governança </a:t>
            </a:r>
            <a:r>
              <a:rPr b="1" lang="pt-BR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Humana</a:t>
            </a:r>
            <a:endParaRPr b="1"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2" name="Google Shape;392;g3b1cc868f2a_0_778"/>
          <p:cNvSpPr txBox="1"/>
          <p:nvPr/>
        </p:nvSpPr>
        <p:spPr>
          <a:xfrm>
            <a:off x="2016360" y="2851600"/>
            <a:ext cx="180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Orquestrador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3" name="Google Shape;393;g3b1cc868f2a_0_778"/>
          <p:cNvSpPr txBox="1"/>
          <p:nvPr/>
        </p:nvSpPr>
        <p:spPr>
          <a:xfrm>
            <a:off x="145637" y="3504838"/>
            <a:ext cx="1805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Foco: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Define o que é verdade, como interpretar e o que não pode ser respondido errado</a:t>
            </a:r>
            <a:endParaRPr i="1"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94" name="Google Shape;394;g3b1cc868f2a_0_778"/>
          <p:cNvSpPr txBox="1"/>
          <p:nvPr/>
        </p:nvSpPr>
        <p:spPr>
          <a:xfrm>
            <a:off x="1996674" y="3262363"/>
            <a:ext cx="225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Foco: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decide quem faz o quê</a:t>
            </a:r>
            <a:endParaRPr i="1"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grpSp>
        <p:nvGrpSpPr>
          <p:cNvPr id="395" name="Google Shape;395;g3b1cc868f2a_0_778"/>
          <p:cNvGrpSpPr/>
          <p:nvPr/>
        </p:nvGrpSpPr>
        <p:grpSpPr>
          <a:xfrm>
            <a:off x="4213025" y="2852050"/>
            <a:ext cx="1702820" cy="825975"/>
            <a:chOff x="-3265221" y="3205118"/>
            <a:chExt cx="1962000" cy="825975"/>
          </a:xfrm>
        </p:grpSpPr>
        <p:sp>
          <p:nvSpPr>
            <p:cNvPr id="396" name="Google Shape;396;g3b1cc868f2a_0_778"/>
            <p:cNvSpPr txBox="1"/>
            <p:nvPr/>
          </p:nvSpPr>
          <p:spPr>
            <a:xfrm>
              <a:off x="-3249062" y="3205118"/>
              <a:ext cx="1510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800">
                  <a:solidFill>
                    <a:srgbClr val="434343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Agente </a:t>
              </a:r>
              <a:r>
                <a:rPr b="1" lang="pt-BR" sz="18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  <a:endParaRPr b="1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7" name="Google Shape;397;g3b1cc868f2a_0_778"/>
            <p:cNvSpPr txBox="1"/>
            <p:nvPr/>
          </p:nvSpPr>
          <p:spPr>
            <a:xfrm>
              <a:off x="-3265221" y="3538493"/>
              <a:ext cx="1962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pt-BR" sz="10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Foco: </a:t>
              </a:r>
              <a:r>
                <a:rPr lang="pt-BR" sz="1000">
                  <a:solidFill>
                    <a:srgbClr val="434343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Interpretação Semântica</a:t>
              </a:r>
              <a:endParaRPr i="1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  <p:pic>
        <p:nvPicPr>
          <p:cNvPr id="398" name="Google Shape;398;g3b1cc868f2a_0_778" title="personas.png"/>
          <p:cNvPicPr preferRelativeResize="0"/>
          <p:nvPr/>
        </p:nvPicPr>
        <p:blipFill rotWithShape="1">
          <a:blip r:embed="rId3">
            <a:alphaModFix/>
          </a:blip>
          <a:srcRect b="57581" l="0" r="72586" t="12636"/>
          <a:stretch/>
        </p:blipFill>
        <p:spPr>
          <a:xfrm>
            <a:off x="2206913" y="1449613"/>
            <a:ext cx="1258425" cy="136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g3b1cc868f2a_0_778" title="personas.png"/>
          <p:cNvPicPr preferRelativeResize="0"/>
          <p:nvPr/>
        </p:nvPicPr>
        <p:blipFill rotWithShape="1">
          <a:blip r:embed="rId3">
            <a:alphaModFix amt="19000"/>
          </a:blip>
          <a:srcRect b="52250" l="23106" r="52066" t="17217"/>
          <a:stretch/>
        </p:blipFill>
        <p:spPr>
          <a:xfrm>
            <a:off x="376888" y="1449613"/>
            <a:ext cx="1139700" cy="140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g3b1cc868f2a_0_778" title="personas.png"/>
          <p:cNvPicPr preferRelativeResize="0"/>
          <p:nvPr/>
        </p:nvPicPr>
        <p:blipFill rotWithShape="1">
          <a:blip r:embed="rId3">
            <a:alphaModFix amt="19000"/>
          </a:blip>
          <a:srcRect b="54635" l="47605" r="27567" t="13731"/>
          <a:stretch/>
        </p:blipFill>
        <p:spPr>
          <a:xfrm>
            <a:off x="4307625" y="1407157"/>
            <a:ext cx="1139700" cy="1452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1" name="Google Shape;401;g3b1cc868f2a_0_778"/>
          <p:cNvCxnSpPr/>
          <p:nvPr/>
        </p:nvCxnSpPr>
        <p:spPr>
          <a:xfrm>
            <a:off x="1644597" y="30978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stealth"/>
          </a:ln>
        </p:spPr>
      </p:cxnSp>
      <p:grpSp>
        <p:nvGrpSpPr>
          <p:cNvPr id="402" name="Google Shape;402;g3b1cc868f2a_0_778"/>
          <p:cNvGrpSpPr/>
          <p:nvPr/>
        </p:nvGrpSpPr>
        <p:grpSpPr>
          <a:xfrm>
            <a:off x="5799088" y="2852050"/>
            <a:ext cx="1584080" cy="979875"/>
            <a:chOff x="-3753426" y="3205118"/>
            <a:chExt cx="1825188" cy="979875"/>
          </a:xfrm>
        </p:grpSpPr>
        <p:sp>
          <p:nvSpPr>
            <p:cNvPr id="403" name="Google Shape;403;g3b1cc868f2a_0_778"/>
            <p:cNvSpPr txBox="1"/>
            <p:nvPr/>
          </p:nvSpPr>
          <p:spPr>
            <a:xfrm>
              <a:off x="-3753426" y="3205118"/>
              <a:ext cx="1510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800">
                  <a:solidFill>
                    <a:srgbClr val="434343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Agente </a:t>
              </a:r>
              <a:r>
                <a:rPr b="1" lang="pt-BR" sz="18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</a:t>
              </a:r>
              <a:endParaRPr b="1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04" name="Google Shape;404;g3b1cc868f2a_0_778"/>
            <p:cNvSpPr txBox="1"/>
            <p:nvPr/>
          </p:nvSpPr>
          <p:spPr>
            <a:xfrm>
              <a:off x="-3740838" y="3538493"/>
              <a:ext cx="18126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pt-BR" sz="10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Foco: </a:t>
              </a:r>
              <a:r>
                <a:rPr lang="pt-BR" sz="1000">
                  <a:solidFill>
                    <a:srgbClr val="434343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Execução técnica / Filtragem de base</a:t>
              </a:r>
              <a:endParaRPr i="1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  <p:pic>
        <p:nvPicPr>
          <p:cNvPr id="405" name="Google Shape;405;g3b1cc868f2a_0_778" title="personas.png"/>
          <p:cNvPicPr preferRelativeResize="0"/>
          <p:nvPr/>
        </p:nvPicPr>
        <p:blipFill rotWithShape="1">
          <a:blip r:embed="rId3">
            <a:alphaModFix amt="19000"/>
          </a:blip>
          <a:srcRect b="54635" l="47605" r="27567" t="13731"/>
          <a:stretch/>
        </p:blipFill>
        <p:spPr>
          <a:xfrm>
            <a:off x="5932913" y="1407157"/>
            <a:ext cx="1139700" cy="1452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6" name="Google Shape;406;g3b1cc868f2a_0_778"/>
          <p:cNvGrpSpPr/>
          <p:nvPr/>
        </p:nvGrpSpPr>
        <p:grpSpPr>
          <a:xfrm>
            <a:off x="7428250" y="2852050"/>
            <a:ext cx="1584080" cy="825975"/>
            <a:chOff x="-2106764" y="3205118"/>
            <a:chExt cx="1825188" cy="825975"/>
          </a:xfrm>
        </p:grpSpPr>
        <p:sp>
          <p:nvSpPr>
            <p:cNvPr id="407" name="Google Shape;407;g3b1cc868f2a_0_778"/>
            <p:cNvSpPr txBox="1"/>
            <p:nvPr/>
          </p:nvSpPr>
          <p:spPr>
            <a:xfrm>
              <a:off x="-2106764" y="3205118"/>
              <a:ext cx="1510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800">
                  <a:solidFill>
                    <a:srgbClr val="434343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Agente </a:t>
              </a:r>
              <a:r>
                <a:rPr b="1" lang="pt-BR" sz="18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  <a:endParaRPr b="1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08" name="Google Shape;408;g3b1cc868f2a_0_778"/>
            <p:cNvSpPr txBox="1"/>
            <p:nvPr/>
          </p:nvSpPr>
          <p:spPr>
            <a:xfrm>
              <a:off x="-2094177" y="3538493"/>
              <a:ext cx="1812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pt-BR" sz="10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Foco: </a:t>
              </a:r>
              <a:r>
                <a:rPr lang="pt-BR" sz="1000">
                  <a:solidFill>
                    <a:srgbClr val="434343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Resolução e explicação</a:t>
              </a:r>
              <a:endParaRPr i="1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  <p:pic>
        <p:nvPicPr>
          <p:cNvPr id="409" name="Google Shape;409;g3b1cc868f2a_0_778" title="personas.png"/>
          <p:cNvPicPr preferRelativeResize="0"/>
          <p:nvPr/>
        </p:nvPicPr>
        <p:blipFill rotWithShape="1">
          <a:blip r:embed="rId3">
            <a:alphaModFix amt="19000"/>
          </a:blip>
          <a:srcRect b="54635" l="47605" r="27567" t="13731"/>
          <a:stretch/>
        </p:blipFill>
        <p:spPr>
          <a:xfrm>
            <a:off x="7482563" y="1407157"/>
            <a:ext cx="1139700" cy="1452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0" name="Google Shape;410;g3b1cc868f2a_0_778"/>
          <p:cNvCxnSpPr/>
          <p:nvPr/>
        </p:nvCxnSpPr>
        <p:spPr>
          <a:xfrm>
            <a:off x="3822072" y="30978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stealth"/>
          </a:ln>
        </p:spPr>
      </p:cxnSp>
      <p:cxnSp>
        <p:nvCxnSpPr>
          <p:cNvPr id="411" name="Google Shape;411;g3b1cc868f2a_0_778"/>
          <p:cNvCxnSpPr/>
          <p:nvPr/>
        </p:nvCxnSpPr>
        <p:spPr>
          <a:xfrm>
            <a:off x="5394084" y="30978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stealth"/>
          </a:ln>
        </p:spPr>
      </p:cxnSp>
      <p:cxnSp>
        <p:nvCxnSpPr>
          <p:cNvPr id="412" name="Google Shape;412;g3b1cc868f2a_0_778"/>
          <p:cNvCxnSpPr/>
          <p:nvPr/>
        </p:nvCxnSpPr>
        <p:spPr>
          <a:xfrm>
            <a:off x="7023259" y="30978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stealth"/>
          </a:ln>
        </p:spPr>
      </p:cxnSp>
      <p:sp>
        <p:nvSpPr>
          <p:cNvPr id="413" name="Google Shape;413;g3b1cc868f2a_0_778"/>
          <p:cNvSpPr txBox="1"/>
          <p:nvPr/>
        </p:nvSpPr>
        <p:spPr>
          <a:xfrm>
            <a:off x="202700" y="-29425"/>
            <a:ext cx="56925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Papéis (Efeito Cascata)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8" name="Google Shape;418;g3b1cc868f2a_0_815"/>
          <p:cNvCxnSpPr/>
          <p:nvPr/>
        </p:nvCxnSpPr>
        <p:spPr>
          <a:xfrm>
            <a:off x="2035122" y="30978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sp>
        <p:nvSpPr>
          <p:cNvPr id="419" name="Google Shape;419;g3b1cc868f2a_0_815"/>
          <p:cNvSpPr txBox="1"/>
          <p:nvPr/>
        </p:nvSpPr>
        <p:spPr>
          <a:xfrm>
            <a:off x="2491537" y="2081875"/>
            <a:ext cx="18057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Função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Recebe a pergunta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Decide quais agentes acionar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Controla ordem, dependência e retorno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Garante que ninguém “invente moda”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20" name="Google Shape;420;g3b1cc868f2a_0_815"/>
          <p:cNvSpPr txBox="1"/>
          <p:nvPr/>
        </p:nvSpPr>
        <p:spPr>
          <a:xfrm>
            <a:off x="178035" y="2859900"/>
            <a:ext cx="180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Orquestrador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1" name="Google Shape;421;g3b1cc868f2a_0_815"/>
          <p:cNvSpPr txBox="1"/>
          <p:nvPr/>
        </p:nvSpPr>
        <p:spPr>
          <a:xfrm>
            <a:off x="202674" y="3270663"/>
            <a:ext cx="225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É o “cérebro” do fluxo</a:t>
            </a:r>
            <a:endParaRPr i="1"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422" name="Google Shape;422;g3b1cc868f2a_0_815" title="personas.png"/>
          <p:cNvPicPr preferRelativeResize="0"/>
          <p:nvPr/>
        </p:nvPicPr>
        <p:blipFill rotWithShape="1">
          <a:blip r:embed="rId3">
            <a:alphaModFix/>
          </a:blip>
          <a:srcRect b="57581" l="0" r="72586" t="12636"/>
          <a:stretch/>
        </p:blipFill>
        <p:spPr>
          <a:xfrm>
            <a:off x="368588" y="1457913"/>
            <a:ext cx="1258425" cy="1367175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g3b1cc868f2a_0_815"/>
          <p:cNvSpPr txBox="1"/>
          <p:nvPr/>
        </p:nvSpPr>
        <p:spPr>
          <a:xfrm>
            <a:off x="202700" y="-29425"/>
            <a:ext cx="56925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Papéis (Efeito Cascata)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8" name="Google Shape;428;g3b1cc868f2a_0_829"/>
          <p:cNvCxnSpPr/>
          <p:nvPr/>
        </p:nvCxnSpPr>
        <p:spPr>
          <a:xfrm>
            <a:off x="2035122" y="30978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sp>
        <p:nvSpPr>
          <p:cNvPr id="429" name="Google Shape;429;g3b1cc868f2a_0_829"/>
          <p:cNvSpPr txBox="1"/>
          <p:nvPr/>
        </p:nvSpPr>
        <p:spPr>
          <a:xfrm>
            <a:off x="2491537" y="2081875"/>
            <a:ext cx="18057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Função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Recebe a pergunta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Decide quais agentes acionar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Controla ordem, dependência e retorno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Garante que ninguém “invente moda”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30" name="Google Shape;430;g3b1cc868f2a_0_829"/>
          <p:cNvSpPr txBox="1"/>
          <p:nvPr/>
        </p:nvSpPr>
        <p:spPr>
          <a:xfrm>
            <a:off x="178035" y="2859900"/>
            <a:ext cx="180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Orquestrador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g3b1cc868f2a_0_829"/>
          <p:cNvSpPr txBox="1"/>
          <p:nvPr/>
        </p:nvSpPr>
        <p:spPr>
          <a:xfrm>
            <a:off x="202674" y="3270663"/>
            <a:ext cx="225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É o “cérebro” do fluxo</a:t>
            </a:r>
            <a:endParaRPr i="1"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432" name="Google Shape;432;g3b1cc868f2a_0_829" title="personas.png"/>
          <p:cNvPicPr preferRelativeResize="0"/>
          <p:nvPr/>
        </p:nvPicPr>
        <p:blipFill rotWithShape="1">
          <a:blip r:embed="rId3">
            <a:alphaModFix/>
          </a:blip>
          <a:srcRect b="57581" l="0" r="72586" t="12636"/>
          <a:stretch/>
        </p:blipFill>
        <p:spPr>
          <a:xfrm>
            <a:off x="368588" y="1457913"/>
            <a:ext cx="1258425" cy="1367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3" name="Google Shape;433;g3b1cc868f2a_0_829"/>
          <p:cNvCxnSpPr/>
          <p:nvPr/>
        </p:nvCxnSpPr>
        <p:spPr>
          <a:xfrm>
            <a:off x="4041622" y="3090745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sp>
        <p:nvSpPr>
          <p:cNvPr id="434" name="Google Shape;434;g3b1cc868f2a_0_829"/>
          <p:cNvSpPr txBox="1"/>
          <p:nvPr/>
        </p:nvSpPr>
        <p:spPr>
          <a:xfrm>
            <a:off x="4498024" y="2074800"/>
            <a:ext cx="20277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Responsabilidade Técnica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Classificação da pergunta (lookup, status, explicação, resolução)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Envio de instruções claras para cada agente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Consolidação do resultado final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35" name="Google Shape;435;g3b1cc868f2a_0_829"/>
          <p:cNvSpPr txBox="1"/>
          <p:nvPr/>
        </p:nvSpPr>
        <p:spPr>
          <a:xfrm>
            <a:off x="202700" y="-29425"/>
            <a:ext cx="56925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Papéis (Efeito Cascata)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0" name="Google Shape;440;g3b1cc868f2a_0_841"/>
          <p:cNvCxnSpPr/>
          <p:nvPr/>
        </p:nvCxnSpPr>
        <p:spPr>
          <a:xfrm>
            <a:off x="2035122" y="30978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sp>
        <p:nvSpPr>
          <p:cNvPr id="441" name="Google Shape;441;g3b1cc868f2a_0_841"/>
          <p:cNvSpPr txBox="1"/>
          <p:nvPr/>
        </p:nvSpPr>
        <p:spPr>
          <a:xfrm>
            <a:off x="2491537" y="2081875"/>
            <a:ext cx="18057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Função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Recebe a pergunta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Decide quais agentes acionar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Controla ordem, dependência e retorno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Garante que ninguém “invente moda”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42" name="Google Shape;442;g3b1cc868f2a_0_841"/>
          <p:cNvSpPr txBox="1"/>
          <p:nvPr/>
        </p:nvSpPr>
        <p:spPr>
          <a:xfrm>
            <a:off x="178035" y="2859900"/>
            <a:ext cx="180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Orquestrador</a:t>
            </a:r>
            <a:endParaRPr b="1" sz="1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3" name="Google Shape;443;g3b1cc868f2a_0_841"/>
          <p:cNvSpPr txBox="1"/>
          <p:nvPr/>
        </p:nvSpPr>
        <p:spPr>
          <a:xfrm>
            <a:off x="202674" y="3270663"/>
            <a:ext cx="225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É o “cérebro” do fluxo</a:t>
            </a:r>
            <a:endParaRPr i="1"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pic>
        <p:nvPicPr>
          <p:cNvPr id="444" name="Google Shape;444;g3b1cc868f2a_0_841" title="personas.png"/>
          <p:cNvPicPr preferRelativeResize="0"/>
          <p:nvPr/>
        </p:nvPicPr>
        <p:blipFill rotWithShape="1">
          <a:blip r:embed="rId3">
            <a:alphaModFix/>
          </a:blip>
          <a:srcRect b="57581" l="0" r="72586" t="12636"/>
          <a:stretch/>
        </p:blipFill>
        <p:spPr>
          <a:xfrm>
            <a:off x="368588" y="1457913"/>
            <a:ext cx="1258425" cy="1367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5" name="Google Shape;445;g3b1cc868f2a_0_841"/>
          <p:cNvCxnSpPr/>
          <p:nvPr/>
        </p:nvCxnSpPr>
        <p:spPr>
          <a:xfrm>
            <a:off x="4041622" y="3090745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sp>
        <p:nvSpPr>
          <p:cNvPr id="446" name="Google Shape;446;g3b1cc868f2a_0_841"/>
          <p:cNvSpPr txBox="1"/>
          <p:nvPr/>
        </p:nvSpPr>
        <p:spPr>
          <a:xfrm>
            <a:off x="4498024" y="2074800"/>
            <a:ext cx="20277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Responsabilidade Técnica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Classificação da pergunta (lookup, status, explicação, resolução)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Envio de instruções claras para cada agente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Consolidação do resultado final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447" name="Google Shape;447;g3b1cc868f2a_0_841"/>
          <p:cNvCxnSpPr/>
          <p:nvPr/>
        </p:nvCxnSpPr>
        <p:spPr>
          <a:xfrm>
            <a:off x="6289522" y="3090745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sp>
        <p:nvSpPr>
          <p:cNvPr id="448" name="Google Shape;448;g3b1cc868f2a_0_841"/>
          <p:cNvSpPr txBox="1"/>
          <p:nvPr/>
        </p:nvSpPr>
        <p:spPr>
          <a:xfrm>
            <a:off x="6745924" y="2065275"/>
            <a:ext cx="20277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Exemplo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1"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“Quais são as pendências da sigla NF2?”</a:t>
            </a:r>
            <a:endParaRPr i="1"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O orquestrador entende: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Tipo: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consulta objetiva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Precisa de: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Interpretação semântica (Agente 1); Consulta em base estruturada (Agente 2)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Não precisa: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Documentação extensa; Inferência avançada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49" name="Google Shape;449;g3b1cc868f2a_0_841"/>
          <p:cNvSpPr txBox="1"/>
          <p:nvPr/>
        </p:nvSpPr>
        <p:spPr>
          <a:xfrm>
            <a:off x="202700" y="-29425"/>
            <a:ext cx="56925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Papéis (Efeito Cascata)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b1cc868f2a_0_882"/>
          <p:cNvSpPr txBox="1"/>
          <p:nvPr/>
        </p:nvSpPr>
        <p:spPr>
          <a:xfrm>
            <a:off x="131663" y="2851238"/>
            <a:ext cx="240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Governança </a:t>
            </a:r>
            <a:r>
              <a:rPr b="1" lang="pt-BR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Humana</a:t>
            </a:r>
            <a:endParaRPr b="1"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5" name="Google Shape;455;g3b1cc868f2a_0_882"/>
          <p:cNvSpPr txBox="1"/>
          <p:nvPr/>
        </p:nvSpPr>
        <p:spPr>
          <a:xfrm>
            <a:off x="2016360" y="2851600"/>
            <a:ext cx="180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Orquestrador</a:t>
            </a:r>
            <a:endParaRPr b="1"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6" name="Google Shape;456;g3b1cc868f2a_0_882"/>
          <p:cNvSpPr txBox="1"/>
          <p:nvPr/>
        </p:nvSpPr>
        <p:spPr>
          <a:xfrm>
            <a:off x="145637" y="3504838"/>
            <a:ext cx="1805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Foco: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Define o que é verdade, como interpretar e o que não pode ser respondido errado</a:t>
            </a:r>
            <a:endParaRPr i="1"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457" name="Google Shape;457;g3b1cc868f2a_0_882"/>
          <p:cNvSpPr txBox="1"/>
          <p:nvPr/>
        </p:nvSpPr>
        <p:spPr>
          <a:xfrm>
            <a:off x="2034774" y="3262363"/>
            <a:ext cx="225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Foco: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decide quem faz o quê</a:t>
            </a:r>
            <a:endParaRPr i="1"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grpSp>
        <p:nvGrpSpPr>
          <p:cNvPr id="458" name="Google Shape;458;g3b1cc868f2a_0_882"/>
          <p:cNvGrpSpPr/>
          <p:nvPr/>
        </p:nvGrpSpPr>
        <p:grpSpPr>
          <a:xfrm>
            <a:off x="4213025" y="2852050"/>
            <a:ext cx="1702820" cy="825975"/>
            <a:chOff x="-3265221" y="3205118"/>
            <a:chExt cx="1962000" cy="825975"/>
          </a:xfrm>
        </p:grpSpPr>
        <p:sp>
          <p:nvSpPr>
            <p:cNvPr id="459" name="Google Shape;459;g3b1cc868f2a_0_882"/>
            <p:cNvSpPr txBox="1"/>
            <p:nvPr/>
          </p:nvSpPr>
          <p:spPr>
            <a:xfrm>
              <a:off x="-3249062" y="3205118"/>
              <a:ext cx="1510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800">
                  <a:solidFill>
                    <a:srgbClr val="B7B7B7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Agente </a:t>
              </a:r>
              <a:r>
                <a:rPr b="1" lang="pt-BR"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  <a:endPara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60" name="Google Shape;460;g3b1cc868f2a_0_882"/>
            <p:cNvSpPr txBox="1"/>
            <p:nvPr/>
          </p:nvSpPr>
          <p:spPr>
            <a:xfrm>
              <a:off x="-3265221" y="3538493"/>
              <a:ext cx="1962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pt-BR" sz="1000">
                  <a:solidFill>
                    <a:srgbClr val="CC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Foco: </a:t>
              </a:r>
              <a:r>
                <a:rPr lang="pt-BR"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Interpretação Semântica</a:t>
              </a:r>
              <a:endParaRPr i="1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  <p:pic>
        <p:nvPicPr>
          <p:cNvPr id="461" name="Google Shape;461;g3b1cc868f2a_0_882" title="personas.png"/>
          <p:cNvPicPr preferRelativeResize="0"/>
          <p:nvPr/>
        </p:nvPicPr>
        <p:blipFill rotWithShape="1">
          <a:blip r:embed="rId3">
            <a:alphaModFix amt="13000"/>
          </a:blip>
          <a:srcRect b="57581" l="0" r="72586" t="12636"/>
          <a:stretch/>
        </p:blipFill>
        <p:spPr>
          <a:xfrm>
            <a:off x="2206913" y="1449613"/>
            <a:ext cx="1258425" cy="136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g3b1cc868f2a_0_882" title="personas.png"/>
          <p:cNvPicPr preferRelativeResize="0"/>
          <p:nvPr/>
        </p:nvPicPr>
        <p:blipFill rotWithShape="1">
          <a:blip r:embed="rId3">
            <a:alphaModFix amt="13000"/>
          </a:blip>
          <a:srcRect b="52250" l="23106" r="52066" t="17217"/>
          <a:stretch/>
        </p:blipFill>
        <p:spPr>
          <a:xfrm>
            <a:off x="376888" y="1449613"/>
            <a:ext cx="1139700" cy="140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g3b1cc868f2a_0_882" title="personas.png"/>
          <p:cNvPicPr preferRelativeResize="0"/>
          <p:nvPr/>
        </p:nvPicPr>
        <p:blipFill rotWithShape="1">
          <a:blip r:embed="rId3">
            <a:alphaModFix/>
          </a:blip>
          <a:srcRect b="54635" l="47605" r="27567" t="13731"/>
          <a:stretch/>
        </p:blipFill>
        <p:spPr>
          <a:xfrm>
            <a:off x="4307625" y="1407157"/>
            <a:ext cx="1139700" cy="1452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4" name="Google Shape;464;g3b1cc868f2a_0_882"/>
          <p:cNvCxnSpPr/>
          <p:nvPr/>
        </p:nvCxnSpPr>
        <p:spPr>
          <a:xfrm>
            <a:off x="1644597" y="30978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stealth"/>
          </a:ln>
        </p:spPr>
      </p:cxnSp>
      <p:grpSp>
        <p:nvGrpSpPr>
          <p:cNvPr id="465" name="Google Shape;465;g3b1cc868f2a_0_882"/>
          <p:cNvGrpSpPr/>
          <p:nvPr/>
        </p:nvGrpSpPr>
        <p:grpSpPr>
          <a:xfrm>
            <a:off x="5799088" y="2852050"/>
            <a:ext cx="1584080" cy="979875"/>
            <a:chOff x="-3753426" y="3205118"/>
            <a:chExt cx="1825188" cy="979875"/>
          </a:xfrm>
        </p:grpSpPr>
        <p:sp>
          <p:nvSpPr>
            <p:cNvPr id="466" name="Google Shape;466;g3b1cc868f2a_0_882"/>
            <p:cNvSpPr txBox="1"/>
            <p:nvPr/>
          </p:nvSpPr>
          <p:spPr>
            <a:xfrm>
              <a:off x="-3753426" y="3205118"/>
              <a:ext cx="1510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800">
                  <a:solidFill>
                    <a:srgbClr val="434343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Agente </a:t>
              </a:r>
              <a:r>
                <a:rPr b="1" lang="pt-BR" sz="18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</a:t>
              </a:r>
              <a:endParaRPr b="1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67" name="Google Shape;467;g3b1cc868f2a_0_882"/>
            <p:cNvSpPr txBox="1"/>
            <p:nvPr/>
          </p:nvSpPr>
          <p:spPr>
            <a:xfrm>
              <a:off x="-3740838" y="3538493"/>
              <a:ext cx="18126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pt-BR" sz="10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Foco: </a:t>
              </a:r>
              <a:r>
                <a:rPr lang="pt-BR" sz="1000">
                  <a:solidFill>
                    <a:srgbClr val="434343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Execução técnica / Filtragem de base</a:t>
              </a:r>
              <a:endParaRPr i="1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  <p:pic>
        <p:nvPicPr>
          <p:cNvPr id="468" name="Google Shape;468;g3b1cc868f2a_0_882" title="personas.png"/>
          <p:cNvPicPr preferRelativeResize="0"/>
          <p:nvPr/>
        </p:nvPicPr>
        <p:blipFill rotWithShape="1">
          <a:blip r:embed="rId3">
            <a:alphaModFix amt="13000"/>
          </a:blip>
          <a:srcRect b="54635" l="47605" r="27567" t="13731"/>
          <a:stretch/>
        </p:blipFill>
        <p:spPr>
          <a:xfrm>
            <a:off x="5932913" y="1407157"/>
            <a:ext cx="1139700" cy="1452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9" name="Google Shape;469;g3b1cc868f2a_0_882"/>
          <p:cNvGrpSpPr/>
          <p:nvPr/>
        </p:nvGrpSpPr>
        <p:grpSpPr>
          <a:xfrm>
            <a:off x="7428250" y="2852050"/>
            <a:ext cx="1584080" cy="825975"/>
            <a:chOff x="-2106764" y="3205118"/>
            <a:chExt cx="1825188" cy="825975"/>
          </a:xfrm>
        </p:grpSpPr>
        <p:sp>
          <p:nvSpPr>
            <p:cNvPr id="470" name="Google Shape;470;g3b1cc868f2a_0_882"/>
            <p:cNvSpPr txBox="1"/>
            <p:nvPr/>
          </p:nvSpPr>
          <p:spPr>
            <a:xfrm>
              <a:off x="-2106764" y="3205118"/>
              <a:ext cx="1510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800">
                  <a:solidFill>
                    <a:srgbClr val="434343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Agente </a:t>
              </a:r>
              <a:r>
                <a:rPr b="1" lang="pt-BR" sz="18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  <a:endParaRPr b="1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71" name="Google Shape;471;g3b1cc868f2a_0_882"/>
            <p:cNvSpPr txBox="1"/>
            <p:nvPr/>
          </p:nvSpPr>
          <p:spPr>
            <a:xfrm>
              <a:off x="-2094177" y="3538493"/>
              <a:ext cx="1812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pt-BR" sz="10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Foco: </a:t>
              </a:r>
              <a:r>
                <a:rPr lang="pt-BR" sz="1000">
                  <a:solidFill>
                    <a:srgbClr val="434343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Resolução e explicação</a:t>
              </a:r>
              <a:endParaRPr i="1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  <p:pic>
        <p:nvPicPr>
          <p:cNvPr id="472" name="Google Shape;472;g3b1cc868f2a_0_882" title="personas.png"/>
          <p:cNvPicPr preferRelativeResize="0"/>
          <p:nvPr/>
        </p:nvPicPr>
        <p:blipFill rotWithShape="1">
          <a:blip r:embed="rId3">
            <a:alphaModFix amt="13000"/>
          </a:blip>
          <a:srcRect b="54635" l="47605" r="27567" t="13731"/>
          <a:stretch/>
        </p:blipFill>
        <p:spPr>
          <a:xfrm>
            <a:off x="7482563" y="1407157"/>
            <a:ext cx="1139700" cy="1452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3" name="Google Shape;473;g3b1cc868f2a_0_882"/>
          <p:cNvCxnSpPr/>
          <p:nvPr/>
        </p:nvCxnSpPr>
        <p:spPr>
          <a:xfrm>
            <a:off x="3822072" y="30978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stealth"/>
          </a:ln>
        </p:spPr>
      </p:cxnSp>
      <p:cxnSp>
        <p:nvCxnSpPr>
          <p:cNvPr id="474" name="Google Shape;474;g3b1cc868f2a_0_882"/>
          <p:cNvCxnSpPr/>
          <p:nvPr/>
        </p:nvCxnSpPr>
        <p:spPr>
          <a:xfrm>
            <a:off x="5394084" y="30978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stealth"/>
          </a:ln>
        </p:spPr>
      </p:cxnSp>
      <p:cxnSp>
        <p:nvCxnSpPr>
          <p:cNvPr id="475" name="Google Shape;475;g3b1cc868f2a_0_882"/>
          <p:cNvCxnSpPr/>
          <p:nvPr/>
        </p:nvCxnSpPr>
        <p:spPr>
          <a:xfrm>
            <a:off x="7023259" y="30978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stealth"/>
          </a:ln>
        </p:spPr>
      </p:cxnSp>
      <p:sp>
        <p:nvSpPr>
          <p:cNvPr id="476" name="Google Shape;476;g3b1cc868f2a_0_882"/>
          <p:cNvSpPr txBox="1"/>
          <p:nvPr/>
        </p:nvSpPr>
        <p:spPr>
          <a:xfrm>
            <a:off x="202700" y="-29425"/>
            <a:ext cx="56925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Papéis (Efeito Cascata)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1" name="Google Shape;481;g3b1cc868f2a_0_924"/>
          <p:cNvCxnSpPr/>
          <p:nvPr/>
        </p:nvCxnSpPr>
        <p:spPr>
          <a:xfrm>
            <a:off x="1616022" y="2623195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sp>
        <p:nvSpPr>
          <p:cNvPr id="482" name="Google Shape;482;g3b1cc868f2a_0_924"/>
          <p:cNvSpPr txBox="1"/>
          <p:nvPr/>
        </p:nvSpPr>
        <p:spPr>
          <a:xfrm>
            <a:off x="2072437" y="1607250"/>
            <a:ext cx="18057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Função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Identifica entidades (“NF2”)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Normaliza termos (“sigla”, “pendências”)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Transforma em formato estruturado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grpSp>
        <p:nvGrpSpPr>
          <p:cNvPr id="483" name="Google Shape;483;g3b1cc868f2a_0_924"/>
          <p:cNvGrpSpPr/>
          <p:nvPr/>
        </p:nvGrpSpPr>
        <p:grpSpPr>
          <a:xfrm>
            <a:off x="280900" y="2932650"/>
            <a:ext cx="1702820" cy="1287675"/>
            <a:chOff x="-3265221" y="3205118"/>
            <a:chExt cx="1962000" cy="1287675"/>
          </a:xfrm>
        </p:grpSpPr>
        <p:sp>
          <p:nvSpPr>
            <p:cNvPr id="484" name="Google Shape;484;g3b1cc868f2a_0_924"/>
            <p:cNvSpPr txBox="1"/>
            <p:nvPr/>
          </p:nvSpPr>
          <p:spPr>
            <a:xfrm>
              <a:off x="-3249062" y="3205118"/>
              <a:ext cx="1510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800">
                  <a:solidFill>
                    <a:srgbClr val="B7B7B7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Agente </a:t>
              </a:r>
              <a:r>
                <a:rPr b="1" lang="pt-BR"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  <a:endPara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85" name="Google Shape;485;g3b1cc868f2a_0_924"/>
            <p:cNvSpPr txBox="1"/>
            <p:nvPr/>
          </p:nvSpPr>
          <p:spPr>
            <a:xfrm>
              <a:off x="-3265221" y="3538493"/>
              <a:ext cx="1962000" cy="95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Não consulta base. Entende linguagem humana e transforma em parâmetros técnicos</a:t>
              </a:r>
              <a:endParaRPr i="1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  <p:pic>
        <p:nvPicPr>
          <p:cNvPr id="486" name="Google Shape;486;g3b1cc868f2a_0_924" title="personas.png"/>
          <p:cNvPicPr preferRelativeResize="0"/>
          <p:nvPr/>
        </p:nvPicPr>
        <p:blipFill rotWithShape="1">
          <a:blip r:embed="rId3">
            <a:alphaModFix/>
          </a:blip>
          <a:srcRect b="54635" l="47605" r="27567" t="13731"/>
          <a:stretch/>
        </p:blipFill>
        <p:spPr>
          <a:xfrm>
            <a:off x="375500" y="1487757"/>
            <a:ext cx="1139700" cy="1452125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g3b1cc868f2a_0_924"/>
          <p:cNvSpPr txBox="1"/>
          <p:nvPr/>
        </p:nvSpPr>
        <p:spPr>
          <a:xfrm>
            <a:off x="202700" y="-29425"/>
            <a:ext cx="56925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Papéis (Efeito Cascata)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2" name="Google Shape;492;g3b1cc868f2a_0_954"/>
          <p:cNvCxnSpPr/>
          <p:nvPr/>
        </p:nvCxnSpPr>
        <p:spPr>
          <a:xfrm>
            <a:off x="1616022" y="2623195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sp>
        <p:nvSpPr>
          <p:cNvPr id="493" name="Google Shape;493;g3b1cc868f2a_0_954"/>
          <p:cNvSpPr txBox="1"/>
          <p:nvPr/>
        </p:nvSpPr>
        <p:spPr>
          <a:xfrm>
            <a:off x="2072437" y="1607250"/>
            <a:ext cx="18057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Função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Identifica entidades (“NF2”)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Normaliza termos (“sigla”, “pendências”)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Transforma em formato estruturado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grpSp>
        <p:nvGrpSpPr>
          <p:cNvPr id="494" name="Google Shape;494;g3b1cc868f2a_0_954"/>
          <p:cNvGrpSpPr/>
          <p:nvPr/>
        </p:nvGrpSpPr>
        <p:grpSpPr>
          <a:xfrm>
            <a:off x="280900" y="2932650"/>
            <a:ext cx="1702820" cy="1287675"/>
            <a:chOff x="-3265221" y="3205118"/>
            <a:chExt cx="1962000" cy="1287675"/>
          </a:xfrm>
        </p:grpSpPr>
        <p:sp>
          <p:nvSpPr>
            <p:cNvPr id="495" name="Google Shape;495;g3b1cc868f2a_0_954"/>
            <p:cNvSpPr txBox="1"/>
            <p:nvPr/>
          </p:nvSpPr>
          <p:spPr>
            <a:xfrm>
              <a:off x="-3249062" y="3205118"/>
              <a:ext cx="1510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800">
                  <a:solidFill>
                    <a:srgbClr val="B7B7B7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Agente </a:t>
              </a:r>
              <a:r>
                <a:rPr b="1" lang="pt-BR"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  <a:endPara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496" name="Google Shape;496;g3b1cc868f2a_0_954"/>
            <p:cNvSpPr txBox="1"/>
            <p:nvPr/>
          </p:nvSpPr>
          <p:spPr>
            <a:xfrm>
              <a:off x="-3265221" y="3538493"/>
              <a:ext cx="1962000" cy="95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Não consulta base. Entende linguagem humana e transforma em parâmetros técnicos</a:t>
              </a:r>
              <a:endParaRPr i="1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  <p:pic>
        <p:nvPicPr>
          <p:cNvPr id="497" name="Google Shape;497;g3b1cc868f2a_0_954" title="personas.png"/>
          <p:cNvPicPr preferRelativeResize="0"/>
          <p:nvPr/>
        </p:nvPicPr>
        <p:blipFill rotWithShape="1">
          <a:blip r:embed="rId3">
            <a:alphaModFix/>
          </a:blip>
          <a:srcRect b="54635" l="47605" r="27567" t="13731"/>
          <a:stretch/>
        </p:blipFill>
        <p:spPr>
          <a:xfrm>
            <a:off x="375500" y="1487757"/>
            <a:ext cx="1139700" cy="1452125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g3b1cc868f2a_0_954"/>
          <p:cNvSpPr txBox="1"/>
          <p:nvPr/>
        </p:nvSpPr>
        <p:spPr>
          <a:xfrm>
            <a:off x="4789849" y="1607250"/>
            <a:ext cx="1805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Output Esperado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{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"entidade": "sigla",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"valor": "NF2",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"tipo_consulta": "pendencias",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"formato": "lista"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}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499" name="Google Shape;499;g3b1cc868f2a_0_954"/>
          <p:cNvCxnSpPr/>
          <p:nvPr/>
        </p:nvCxnSpPr>
        <p:spPr>
          <a:xfrm>
            <a:off x="3931388" y="2623200"/>
            <a:ext cx="8052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sp>
        <p:nvSpPr>
          <p:cNvPr id="500" name="Google Shape;500;g3b1cc868f2a_0_954"/>
          <p:cNvSpPr txBox="1"/>
          <p:nvPr/>
        </p:nvSpPr>
        <p:spPr>
          <a:xfrm>
            <a:off x="202700" y="-29425"/>
            <a:ext cx="56925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Papéis (Efeito Cascata)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5" name="Google Shape;505;g3b1cc868f2a_0_938"/>
          <p:cNvCxnSpPr/>
          <p:nvPr/>
        </p:nvCxnSpPr>
        <p:spPr>
          <a:xfrm>
            <a:off x="1616022" y="2623195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sp>
        <p:nvSpPr>
          <p:cNvPr id="506" name="Google Shape;506;g3b1cc868f2a_0_938"/>
          <p:cNvSpPr txBox="1"/>
          <p:nvPr/>
        </p:nvSpPr>
        <p:spPr>
          <a:xfrm>
            <a:off x="2072437" y="1607250"/>
            <a:ext cx="18057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Função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Identifica entidades (“NF2”)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Normaliza termos (“sigla”, “pendências”)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Transforma em formato estruturado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grpSp>
        <p:nvGrpSpPr>
          <p:cNvPr id="507" name="Google Shape;507;g3b1cc868f2a_0_938"/>
          <p:cNvGrpSpPr/>
          <p:nvPr/>
        </p:nvGrpSpPr>
        <p:grpSpPr>
          <a:xfrm>
            <a:off x="280900" y="2932650"/>
            <a:ext cx="1702820" cy="1287675"/>
            <a:chOff x="-3265221" y="3205118"/>
            <a:chExt cx="1962000" cy="1287675"/>
          </a:xfrm>
        </p:grpSpPr>
        <p:sp>
          <p:nvSpPr>
            <p:cNvPr id="508" name="Google Shape;508;g3b1cc868f2a_0_938"/>
            <p:cNvSpPr txBox="1"/>
            <p:nvPr/>
          </p:nvSpPr>
          <p:spPr>
            <a:xfrm>
              <a:off x="-3249062" y="3205118"/>
              <a:ext cx="1510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800">
                  <a:solidFill>
                    <a:srgbClr val="B7B7B7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Agente </a:t>
              </a:r>
              <a:r>
                <a:rPr b="1" lang="pt-BR"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  <a:endPara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09" name="Google Shape;509;g3b1cc868f2a_0_938"/>
            <p:cNvSpPr txBox="1"/>
            <p:nvPr/>
          </p:nvSpPr>
          <p:spPr>
            <a:xfrm>
              <a:off x="-3265221" y="3538493"/>
              <a:ext cx="1962000" cy="95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Não consulta base. Entende linguagem humana e transforma em parâmetros técnicos</a:t>
              </a:r>
              <a:endParaRPr i="1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  <p:pic>
        <p:nvPicPr>
          <p:cNvPr id="510" name="Google Shape;510;g3b1cc868f2a_0_938" title="personas.png"/>
          <p:cNvPicPr preferRelativeResize="0"/>
          <p:nvPr/>
        </p:nvPicPr>
        <p:blipFill rotWithShape="1">
          <a:blip r:embed="rId3">
            <a:alphaModFix/>
          </a:blip>
          <a:srcRect b="54635" l="47605" r="27567" t="13731"/>
          <a:stretch/>
        </p:blipFill>
        <p:spPr>
          <a:xfrm>
            <a:off x="375500" y="1487757"/>
            <a:ext cx="1139700" cy="1452125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g3b1cc868f2a_0_938"/>
          <p:cNvSpPr txBox="1"/>
          <p:nvPr/>
        </p:nvSpPr>
        <p:spPr>
          <a:xfrm>
            <a:off x="4789849" y="1607250"/>
            <a:ext cx="1805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Output Esperado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{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"entidade": "sigla",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"valor": "NF2",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"tipo_consulta": "pendencias",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"formato": "lista"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}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512" name="Google Shape;512;g3b1cc868f2a_0_938"/>
          <p:cNvSpPr txBox="1"/>
          <p:nvPr/>
        </p:nvSpPr>
        <p:spPr>
          <a:xfrm>
            <a:off x="7111787" y="1607250"/>
            <a:ext cx="18057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Ponto de Atenção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Esse agente não pode saber regra de negócio profunda.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Se souber, estará misturando camadas.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513" name="Google Shape;513;g3b1cc868f2a_0_938"/>
          <p:cNvCxnSpPr/>
          <p:nvPr/>
        </p:nvCxnSpPr>
        <p:spPr>
          <a:xfrm>
            <a:off x="6306525" y="2623200"/>
            <a:ext cx="8052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cxnSp>
        <p:nvCxnSpPr>
          <p:cNvPr id="514" name="Google Shape;514;g3b1cc868f2a_0_938"/>
          <p:cNvCxnSpPr/>
          <p:nvPr/>
        </p:nvCxnSpPr>
        <p:spPr>
          <a:xfrm>
            <a:off x="3931388" y="2623200"/>
            <a:ext cx="8052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sp>
        <p:nvSpPr>
          <p:cNvPr id="515" name="Google Shape;515;g3b1cc868f2a_0_938"/>
          <p:cNvSpPr txBox="1"/>
          <p:nvPr/>
        </p:nvSpPr>
        <p:spPr>
          <a:xfrm>
            <a:off x="202700" y="-29425"/>
            <a:ext cx="56925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Papéis (Efeito Cascata)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b1cc868f2a_0_996"/>
          <p:cNvSpPr txBox="1"/>
          <p:nvPr/>
        </p:nvSpPr>
        <p:spPr>
          <a:xfrm>
            <a:off x="131663" y="2851238"/>
            <a:ext cx="240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Governança </a:t>
            </a:r>
            <a:r>
              <a:rPr b="1" lang="pt-BR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Humana</a:t>
            </a:r>
            <a:endParaRPr b="1"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1" name="Google Shape;521;g3b1cc868f2a_0_996"/>
          <p:cNvSpPr txBox="1"/>
          <p:nvPr/>
        </p:nvSpPr>
        <p:spPr>
          <a:xfrm>
            <a:off x="2016360" y="2851600"/>
            <a:ext cx="180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Orquestrador</a:t>
            </a:r>
            <a:endParaRPr b="1"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2" name="Google Shape;522;g3b1cc868f2a_0_996"/>
          <p:cNvSpPr txBox="1"/>
          <p:nvPr/>
        </p:nvSpPr>
        <p:spPr>
          <a:xfrm>
            <a:off x="145637" y="3504838"/>
            <a:ext cx="1805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Foco: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Define o que é verdade, como interpretar e o que não pode ser respondido errado</a:t>
            </a:r>
            <a:endParaRPr i="1"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523" name="Google Shape;523;g3b1cc868f2a_0_996"/>
          <p:cNvSpPr txBox="1"/>
          <p:nvPr/>
        </p:nvSpPr>
        <p:spPr>
          <a:xfrm>
            <a:off x="2034774" y="3262363"/>
            <a:ext cx="225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Foco: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decide quem faz o quê</a:t>
            </a:r>
            <a:endParaRPr i="1"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grpSp>
        <p:nvGrpSpPr>
          <p:cNvPr id="524" name="Google Shape;524;g3b1cc868f2a_0_996"/>
          <p:cNvGrpSpPr/>
          <p:nvPr/>
        </p:nvGrpSpPr>
        <p:grpSpPr>
          <a:xfrm>
            <a:off x="4213025" y="2852050"/>
            <a:ext cx="1702820" cy="825975"/>
            <a:chOff x="-3265221" y="3205118"/>
            <a:chExt cx="1962000" cy="825975"/>
          </a:xfrm>
        </p:grpSpPr>
        <p:sp>
          <p:nvSpPr>
            <p:cNvPr id="525" name="Google Shape;525;g3b1cc868f2a_0_996"/>
            <p:cNvSpPr txBox="1"/>
            <p:nvPr/>
          </p:nvSpPr>
          <p:spPr>
            <a:xfrm>
              <a:off x="-3249062" y="3205118"/>
              <a:ext cx="1510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800">
                  <a:solidFill>
                    <a:srgbClr val="434343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Agente </a:t>
              </a:r>
              <a:r>
                <a:rPr b="1" lang="pt-BR" sz="18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  <a:endParaRPr b="1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26" name="Google Shape;526;g3b1cc868f2a_0_996"/>
            <p:cNvSpPr txBox="1"/>
            <p:nvPr/>
          </p:nvSpPr>
          <p:spPr>
            <a:xfrm>
              <a:off x="-3265221" y="3538493"/>
              <a:ext cx="1962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pt-BR" sz="10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Foco: </a:t>
              </a:r>
              <a:r>
                <a:rPr lang="pt-BR" sz="1000">
                  <a:solidFill>
                    <a:srgbClr val="434343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Interpretação Semântica</a:t>
              </a:r>
              <a:endParaRPr i="1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  <p:pic>
        <p:nvPicPr>
          <p:cNvPr id="527" name="Google Shape;527;g3b1cc868f2a_0_996" title="personas.png"/>
          <p:cNvPicPr preferRelativeResize="0"/>
          <p:nvPr/>
        </p:nvPicPr>
        <p:blipFill rotWithShape="1">
          <a:blip r:embed="rId3">
            <a:alphaModFix amt="25000"/>
          </a:blip>
          <a:srcRect b="57581" l="0" r="72586" t="12636"/>
          <a:stretch/>
        </p:blipFill>
        <p:spPr>
          <a:xfrm>
            <a:off x="2206913" y="1449613"/>
            <a:ext cx="1258425" cy="136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g3b1cc868f2a_0_996" title="personas.png"/>
          <p:cNvPicPr preferRelativeResize="0"/>
          <p:nvPr/>
        </p:nvPicPr>
        <p:blipFill rotWithShape="1">
          <a:blip r:embed="rId3">
            <a:alphaModFix amt="25000"/>
          </a:blip>
          <a:srcRect b="52250" l="23106" r="52066" t="17217"/>
          <a:stretch/>
        </p:blipFill>
        <p:spPr>
          <a:xfrm>
            <a:off x="376888" y="1449613"/>
            <a:ext cx="1139700" cy="140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g3b1cc868f2a_0_996" title="personas.png"/>
          <p:cNvPicPr preferRelativeResize="0"/>
          <p:nvPr/>
        </p:nvPicPr>
        <p:blipFill rotWithShape="1">
          <a:blip r:embed="rId3">
            <a:alphaModFix amt="25000"/>
          </a:blip>
          <a:srcRect b="54635" l="47605" r="27567" t="13731"/>
          <a:stretch/>
        </p:blipFill>
        <p:spPr>
          <a:xfrm>
            <a:off x="4307625" y="1407157"/>
            <a:ext cx="1139700" cy="1452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0" name="Google Shape;530;g3b1cc868f2a_0_996"/>
          <p:cNvCxnSpPr/>
          <p:nvPr/>
        </p:nvCxnSpPr>
        <p:spPr>
          <a:xfrm>
            <a:off x="1644597" y="30978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stealth"/>
          </a:ln>
        </p:spPr>
      </p:cxnSp>
      <p:grpSp>
        <p:nvGrpSpPr>
          <p:cNvPr id="531" name="Google Shape;531;g3b1cc868f2a_0_996"/>
          <p:cNvGrpSpPr/>
          <p:nvPr/>
        </p:nvGrpSpPr>
        <p:grpSpPr>
          <a:xfrm>
            <a:off x="5799088" y="2852050"/>
            <a:ext cx="1584080" cy="979875"/>
            <a:chOff x="-3753426" y="3205118"/>
            <a:chExt cx="1825188" cy="979875"/>
          </a:xfrm>
        </p:grpSpPr>
        <p:sp>
          <p:nvSpPr>
            <p:cNvPr id="532" name="Google Shape;532;g3b1cc868f2a_0_996"/>
            <p:cNvSpPr txBox="1"/>
            <p:nvPr/>
          </p:nvSpPr>
          <p:spPr>
            <a:xfrm>
              <a:off x="-3753426" y="3205118"/>
              <a:ext cx="1510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800">
                  <a:solidFill>
                    <a:srgbClr val="B7B7B7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Agente </a:t>
              </a:r>
              <a:r>
                <a:rPr b="1" lang="pt-BR"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</a:t>
              </a:r>
              <a:endPara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33" name="Google Shape;533;g3b1cc868f2a_0_996"/>
            <p:cNvSpPr txBox="1"/>
            <p:nvPr/>
          </p:nvSpPr>
          <p:spPr>
            <a:xfrm>
              <a:off x="-3740838" y="3538493"/>
              <a:ext cx="18126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pt-BR" sz="1000">
                  <a:solidFill>
                    <a:srgbClr val="CC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Foco: </a:t>
              </a:r>
              <a:r>
                <a:rPr lang="pt-BR"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Execução técnica / Filtragem de base</a:t>
              </a:r>
              <a:endParaRPr i="1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  <p:pic>
        <p:nvPicPr>
          <p:cNvPr id="534" name="Google Shape;534;g3b1cc868f2a_0_996" title="personas.png"/>
          <p:cNvPicPr preferRelativeResize="0"/>
          <p:nvPr/>
        </p:nvPicPr>
        <p:blipFill rotWithShape="1">
          <a:blip r:embed="rId3">
            <a:alphaModFix/>
          </a:blip>
          <a:srcRect b="54635" l="47605" r="27567" t="13731"/>
          <a:stretch/>
        </p:blipFill>
        <p:spPr>
          <a:xfrm>
            <a:off x="5932913" y="1407157"/>
            <a:ext cx="1139700" cy="1452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5" name="Google Shape;535;g3b1cc868f2a_0_996"/>
          <p:cNvGrpSpPr/>
          <p:nvPr/>
        </p:nvGrpSpPr>
        <p:grpSpPr>
          <a:xfrm>
            <a:off x="7428250" y="2852050"/>
            <a:ext cx="1584080" cy="825975"/>
            <a:chOff x="-2106764" y="3205118"/>
            <a:chExt cx="1825188" cy="825975"/>
          </a:xfrm>
        </p:grpSpPr>
        <p:sp>
          <p:nvSpPr>
            <p:cNvPr id="536" name="Google Shape;536;g3b1cc868f2a_0_996"/>
            <p:cNvSpPr txBox="1"/>
            <p:nvPr/>
          </p:nvSpPr>
          <p:spPr>
            <a:xfrm>
              <a:off x="-2106764" y="3205118"/>
              <a:ext cx="1510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800">
                  <a:solidFill>
                    <a:srgbClr val="434343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Agente </a:t>
              </a:r>
              <a:r>
                <a:rPr b="1" lang="pt-BR" sz="18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  <a:endParaRPr b="1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37" name="Google Shape;537;g3b1cc868f2a_0_996"/>
            <p:cNvSpPr txBox="1"/>
            <p:nvPr/>
          </p:nvSpPr>
          <p:spPr>
            <a:xfrm>
              <a:off x="-2094177" y="3538493"/>
              <a:ext cx="1812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pt-BR" sz="10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Foco: </a:t>
              </a:r>
              <a:r>
                <a:rPr lang="pt-BR" sz="1000">
                  <a:solidFill>
                    <a:srgbClr val="434343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Resolução e explicação</a:t>
              </a:r>
              <a:endParaRPr i="1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  <p:pic>
        <p:nvPicPr>
          <p:cNvPr id="538" name="Google Shape;538;g3b1cc868f2a_0_996" title="personas.png"/>
          <p:cNvPicPr preferRelativeResize="0"/>
          <p:nvPr/>
        </p:nvPicPr>
        <p:blipFill rotWithShape="1">
          <a:blip r:embed="rId3">
            <a:alphaModFix amt="25000"/>
          </a:blip>
          <a:srcRect b="54635" l="47605" r="27567" t="13731"/>
          <a:stretch/>
        </p:blipFill>
        <p:spPr>
          <a:xfrm>
            <a:off x="7482563" y="1407157"/>
            <a:ext cx="1139700" cy="1452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9" name="Google Shape;539;g3b1cc868f2a_0_996"/>
          <p:cNvCxnSpPr/>
          <p:nvPr/>
        </p:nvCxnSpPr>
        <p:spPr>
          <a:xfrm>
            <a:off x="3822072" y="30978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stealth"/>
          </a:ln>
        </p:spPr>
      </p:cxnSp>
      <p:cxnSp>
        <p:nvCxnSpPr>
          <p:cNvPr id="540" name="Google Shape;540;g3b1cc868f2a_0_996"/>
          <p:cNvCxnSpPr/>
          <p:nvPr/>
        </p:nvCxnSpPr>
        <p:spPr>
          <a:xfrm>
            <a:off x="5394084" y="30978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stealth"/>
          </a:ln>
        </p:spPr>
      </p:cxnSp>
      <p:cxnSp>
        <p:nvCxnSpPr>
          <p:cNvPr id="541" name="Google Shape;541;g3b1cc868f2a_0_996"/>
          <p:cNvCxnSpPr/>
          <p:nvPr/>
        </p:nvCxnSpPr>
        <p:spPr>
          <a:xfrm>
            <a:off x="7023259" y="30978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stealth"/>
          </a:ln>
        </p:spPr>
      </p:cxnSp>
      <p:sp>
        <p:nvSpPr>
          <p:cNvPr id="542" name="Google Shape;542;g3b1cc868f2a_0_996"/>
          <p:cNvSpPr txBox="1"/>
          <p:nvPr/>
        </p:nvSpPr>
        <p:spPr>
          <a:xfrm>
            <a:off x="202700" y="-29425"/>
            <a:ext cx="56925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Papéis (Efeito Cascata)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7" name="Google Shape;547;g3b1cc868f2a_0_1089"/>
          <p:cNvCxnSpPr/>
          <p:nvPr/>
        </p:nvCxnSpPr>
        <p:spPr>
          <a:xfrm>
            <a:off x="1476197" y="25513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sp>
        <p:nvSpPr>
          <p:cNvPr id="548" name="Google Shape;548;g3b1cc868f2a_0_1089"/>
          <p:cNvSpPr txBox="1"/>
          <p:nvPr/>
        </p:nvSpPr>
        <p:spPr>
          <a:xfrm>
            <a:off x="1932603" y="1560350"/>
            <a:ext cx="13830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Função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Recebe parâmetros estruturados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Executa query (SQL, API, index, parquet, etc.)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Retorna dados brutos ou semi-tratados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grpSp>
        <p:nvGrpSpPr>
          <p:cNvPr id="549" name="Google Shape;549;g3b1cc868f2a_0_1089"/>
          <p:cNvGrpSpPr/>
          <p:nvPr/>
        </p:nvGrpSpPr>
        <p:grpSpPr>
          <a:xfrm>
            <a:off x="202663" y="2932650"/>
            <a:ext cx="1816605" cy="1287675"/>
            <a:chOff x="-3753426" y="3205118"/>
            <a:chExt cx="2093104" cy="1287675"/>
          </a:xfrm>
        </p:grpSpPr>
        <p:sp>
          <p:nvSpPr>
            <p:cNvPr id="550" name="Google Shape;550;g3b1cc868f2a_0_1089"/>
            <p:cNvSpPr txBox="1"/>
            <p:nvPr/>
          </p:nvSpPr>
          <p:spPr>
            <a:xfrm>
              <a:off x="-3753426" y="3205118"/>
              <a:ext cx="1510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800">
                  <a:solidFill>
                    <a:srgbClr val="B7B7B7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Agente </a:t>
              </a:r>
              <a:r>
                <a:rPr b="1" lang="pt-BR"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</a:t>
              </a:r>
              <a:endPara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51" name="Google Shape;551;g3b1cc868f2a_0_1089"/>
            <p:cNvSpPr txBox="1"/>
            <p:nvPr/>
          </p:nvSpPr>
          <p:spPr>
            <a:xfrm>
              <a:off x="-3740822" y="3538493"/>
              <a:ext cx="2080500" cy="95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pt-BR" sz="1000">
                  <a:solidFill>
                    <a:srgbClr val="CC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Foco: </a:t>
              </a:r>
              <a:r>
                <a:rPr lang="pt-BR"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Executa busca eficiente, sem LLM “ler base inteira”</a:t>
              </a:r>
              <a:endParaRPr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pt-BR" sz="1000">
                  <a:solidFill>
                    <a:srgbClr val="CC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Impedimento: </a:t>
              </a:r>
              <a:r>
                <a:rPr lang="pt-BR"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Tokens.</a:t>
              </a:r>
              <a:endParaRPr b="1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552" name="Google Shape;552;g3b1cc868f2a_0_1089" title="personas.png"/>
          <p:cNvPicPr preferRelativeResize="0"/>
          <p:nvPr/>
        </p:nvPicPr>
        <p:blipFill rotWithShape="1">
          <a:blip r:embed="rId3">
            <a:alphaModFix/>
          </a:blip>
          <a:srcRect b="54635" l="47605" r="27567" t="13731"/>
          <a:stretch/>
        </p:blipFill>
        <p:spPr>
          <a:xfrm>
            <a:off x="336488" y="1487757"/>
            <a:ext cx="1139700" cy="1452125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g3b1cc868f2a_0_1089"/>
          <p:cNvSpPr txBox="1"/>
          <p:nvPr/>
        </p:nvSpPr>
        <p:spPr>
          <a:xfrm>
            <a:off x="202700" y="-29425"/>
            <a:ext cx="56925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Papéis (Efeito Cascata)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8" name="Google Shape;558;g3b1cc868f2a_0_1057"/>
          <p:cNvCxnSpPr/>
          <p:nvPr/>
        </p:nvCxnSpPr>
        <p:spPr>
          <a:xfrm>
            <a:off x="1476197" y="25513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sp>
        <p:nvSpPr>
          <p:cNvPr id="559" name="Google Shape;559;g3b1cc868f2a_0_1057"/>
          <p:cNvSpPr txBox="1"/>
          <p:nvPr/>
        </p:nvSpPr>
        <p:spPr>
          <a:xfrm>
            <a:off x="1932603" y="1560350"/>
            <a:ext cx="13830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Função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Recebe parâmetros estruturados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Executa query (SQL, API, index, parquet, etc.)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Retorna dados brutos ou semi-tratados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grpSp>
        <p:nvGrpSpPr>
          <p:cNvPr id="560" name="Google Shape;560;g3b1cc868f2a_0_1057"/>
          <p:cNvGrpSpPr/>
          <p:nvPr/>
        </p:nvGrpSpPr>
        <p:grpSpPr>
          <a:xfrm>
            <a:off x="202663" y="2932650"/>
            <a:ext cx="1816605" cy="1287675"/>
            <a:chOff x="-3753426" y="3205118"/>
            <a:chExt cx="2093104" cy="1287675"/>
          </a:xfrm>
        </p:grpSpPr>
        <p:sp>
          <p:nvSpPr>
            <p:cNvPr id="561" name="Google Shape;561;g3b1cc868f2a_0_1057"/>
            <p:cNvSpPr txBox="1"/>
            <p:nvPr/>
          </p:nvSpPr>
          <p:spPr>
            <a:xfrm>
              <a:off x="-3753426" y="3205118"/>
              <a:ext cx="1510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800">
                  <a:solidFill>
                    <a:srgbClr val="B7B7B7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Agente </a:t>
              </a:r>
              <a:r>
                <a:rPr b="1" lang="pt-BR"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</a:t>
              </a:r>
              <a:endPara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2" name="Google Shape;562;g3b1cc868f2a_0_1057"/>
            <p:cNvSpPr txBox="1"/>
            <p:nvPr/>
          </p:nvSpPr>
          <p:spPr>
            <a:xfrm>
              <a:off x="-3740822" y="3538493"/>
              <a:ext cx="2080500" cy="95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pt-BR" sz="1000">
                  <a:solidFill>
                    <a:srgbClr val="CC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Foco: </a:t>
              </a:r>
              <a:r>
                <a:rPr lang="pt-BR"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Executa busca eficiente, sem LLM “ler base inteira”</a:t>
              </a:r>
              <a:endParaRPr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pt-BR" sz="1000">
                  <a:solidFill>
                    <a:srgbClr val="CC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Impedimento: </a:t>
              </a:r>
              <a:r>
                <a:rPr lang="pt-BR"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Tokens.</a:t>
              </a:r>
              <a:endParaRPr b="1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563" name="Google Shape;563;g3b1cc868f2a_0_1057" title="personas.png"/>
          <p:cNvPicPr preferRelativeResize="0"/>
          <p:nvPr/>
        </p:nvPicPr>
        <p:blipFill rotWithShape="1">
          <a:blip r:embed="rId3">
            <a:alphaModFix/>
          </a:blip>
          <a:srcRect b="54635" l="47605" r="27567" t="13731"/>
          <a:stretch/>
        </p:blipFill>
        <p:spPr>
          <a:xfrm>
            <a:off x="336488" y="1487757"/>
            <a:ext cx="1139700" cy="1452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4" name="Google Shape;564;g3b1cc868f2a_0_1057"/>
          <p:cNvCxnSpPr/>
          <p:nvPr/>
        </p:nvCxnSpPr>
        <p:spPr>
          <a:xfrm>
            <a:off x="3119172" y="25513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sp>
        <p:nvSpPr>
          <p:cNvPr id="565" name="Google Shape;565;g3b1cc868f2a_0_1057"/>
          <p:cNvSpPr txBox="1"/>
          <p:nvPr/>
        </p:nvSpPr>
        <p:spPr>
          <a:xfrm>
            <a:off x="3709488" y="1560350"/>
            <a:ext cx="17202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Exemplo de Input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{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"filtro": {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  "sigla": "NF2"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},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"campos": ["pendencia", "indicador", "data_muro", "criticidade"]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}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566" name="Google Shape;566;g3b1cc868f2a_0_1057"/>
          <p:cNvSpPr txBox="1"/>
          <p:nvPr/>
        </p:nvSpPr>
        <p:spPr>
          <a:xfrm>
            <a:off x="202700" y="-29425"/>
            <a:ext cx="56925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Papéis (Efeito Cascata)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1" name="Google Shape;571;g3b1cc868f2a_0_1073"/>
          <p:cNvCxnSpPr/>
          <p:nvPr/>
        </p:nvCxnSpPr>
        <p:spPr>
          <a:xfrm>
            <a:off x="1476197" y="25513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sp>
        <p:nvSpPr>
          <p:cNvPr id="572" name="Google Shape;572;g3b1cc868f2a_0_1073"/>
          <p:cNvSpPr txBox="1"/>
          <p:nvPr/>
        </p:nvSpPr>
        <p:spPr>
          <a:xfrm>
            <a:off x="1932603" y="1560350"/>
            <a:ext cx="13830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Função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Recebe parâmetros estruturados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Executa query (SQL, API, index, parquet, etc.)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Retorna dados brutos ou semi-tratados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grpSp>
        <p:nvGrpSpPr>
          <p:cNvPr id="573" name="Google Shape;573;g3b1cc868f2a_0_1073"/>
          <p:cNvGrpSpPr/>
          <p:nvPr/>
        </p:nvGrpSpPr>
        <p:grpSpPr>
          <a:xfrm>
            <a:off x="202663" y="2932650"/>
            <a:ext cx="1816605" cy="1287675"/>
            <a:chOff x="-3753426" y="3205118"/>
            <a:chExt cx="2093104" cy="1287675"/>
          </a:xfrm>
        </p:grpSpPr>
        <p:sp>
          <p:nvSpPr>
            <p:cNvPr id="574" name="Google Shape;574;g3b1cc868f2a_0_1073"/>
            <p:cNvSpPr txBox="1"/>
            <p:nvPr/>
          </p:nvSpPr>
          <p:spPr>
            <a:xfrm>
              <a:off x="-3753426" y="3205118"/>
              <a:ext cx="1510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800">
                  <a:solidFill>
                    <a:srgbClr val="B7B7B7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Agente </a:t>
              </a:r>
              <a:r>
                <a:rPr b="1" lang="pt-BR"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</a:t>
              </a:r>
              <a:endPara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75" name="Google Shape;575;g3b1cc868f2a_0_1073"/>
            <p:cNvSpPr txBox="1"/>
            <p:nvPr/>
          </p:nvSpPr>
          <p:spPr>
            <a:xfrm>
              <a:off x="-3740822" y="3538493"/>
              <a:ext cx="2080500" cy="95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pt-BR" sz="1000">
                  <a:solidFill>
                    <a:srgbClr val="CC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Foco: </a:t>
              </a:r>
              <a:r>
                <a:rPr lang="pt-BR"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Executa busca eficiente, sem LLM “ler base inteira”</a:t>
              </a:r>
              <a:endParaRPr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pt-BR" sz="1000">
                  <a:solidFill>
                    <a:srgbClr val="CC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Impedimento: </a:t>
              </a:r>
              <a:r>
                <a:rPr lang="pt-BR"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Tokens.</a:t>
              </a:r>
              <a:endParaRPr b="1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576" name="Google Shape;576;g3b1cc868f2a_0_1073" title="personas.png"/>
          <p:cNvPicPr preferRelativeResize="0"/>
          <p:nvPr/>
        </p:nvPicPr>
        <p:blipFill rotWithShape="1">
          <a:blip r:embed="rId3">
            <a:alphaModFix/>
          </a:blip>
          <a:srcRect b="54635" l="47605" r="27567" t="13731"/>
          <a:stretch/>
        </p:blipFill>
        <p:spPr>
          <a:xfrm>
            <a:off x="336488" y="1487757"/>
            <a:ext cx="1139700" cy="1452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7" name="Google Shape;577;g3b1cc868f2a_0_1073"/>
          <p:cNvCxnSpPr/>
          <p:nvPr/>
        </p:nvCxnSpPr>
        <p:spPr>
          <a:xfrm>
            <a:off x="3119172" y="25513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sp>
        <p:nvSpPr>
          <p:cNvPr id="578" name="Google Shape;578;g3b1cc868f2a_0_1073"/>
          <p:cNvSpPr txBox="1"/>
          <p:nvPr/>
        </p:nvSpPr>
        <p:spPr>
          <a:xfrm>
            <a:off x="3709488" y="1560350"/>
            <a:ext cx="17202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Exemplo de Input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{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"filtro": {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  "sigla": "NF2"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},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"campos": ["pendencia", "indicador", "data_muro", "criticidade"]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}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579" name="Google Shape;579;g3b1cc868f2a_0_1073"/>
          <p:cNvCxnSpPr/>
          <p:nvPr/>
        </p:nvCxnSpPr>
        <p:spPr>
          <a:xfrm>
            <a:off x="5429697" y="25513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sp>
        <p:nvSpPr>
          <p:cNvPr id="580" name="Google Shape;580;g3b1cc868f2a_0_1073"/>
          <p:cNvSpPr txBox="1"/>
          <p:nvPr/>
        </p:nvSpPr>
        <p:spPr>
          <a:xfrm>
            <a:off x="5839426" y="1560350"/>
            <a:ext cx="17202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Exemplo de Output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[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{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  "pendencia": "PRRCON89",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  "indicador": "Resiliência",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  "criticidade": "Alta"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}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]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581" name="Google Shape;581;g3b1cc868f2a_0_1073"/>
          <p:cNvSpPr txBox="1"/>
          <p:nvPr/>
        </p:nvSpPr>
        <p:spPr>
          <a:xfrm>
            <a:off x="202700" y="-29425"/>
            <a:ext cx="56925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Papéis (Efeito Cascata)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6" name="Google Shape;586;g3b1cc868f2a_0_1039"/>
          <p:cNvCxnSpPr/>
          <p:nvPr/>
        </p:nvCxnSpPr>
        <p:spPr>
          <a:xfrm>
            <a:off x="1476197" y="25513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sp>
        <p:nvSpPr>
          <p:cNvPr id="587" name="Google Shape;587;g3b1cc868f2a_0_1039"/>
          <p:cNvSpPr txBox="1"/>
          <p:nvPr/>
        </p:nvSpPr>
        <p:spPr>
          <a:xfrm>
            <a:off x="1932603" y="1560350"/>
            <a:ext cx="13830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Função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Recebe parâmetros estruturados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Executa query (SQL, API, index, parquet, etc.)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Retorna dados brutos ou semi-tratados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grpSp>
        <p:nvGrpSpPr>
          <p:cNvPr id="588" name="Google Shape;588;g3b1cc868f2a_0_1039"/>
          <p:cNvGrpSpPr/>
          <p:nvPr/>
        </p:nvGrpSpPr>
        <p:grpSpPr>
          <a:xfrm>
            <a:off x="202663" y="2932650"/>
            <a:ext cx="1816605" cy="1287675"/>
            <a:chOff x="-3753426" y="3205118"/>
            <a:chExt cx="2093104" cy="1287675"/>
          </a:xfrm>
        </p:grpSpPr>
        <p:sp>
          <p:nvSpPr>
            <p:cNvPr id="589" name="Google Shape;589;g3b1cc868f2a_0_1039"/>
            <p:cNvSpPr txBox="1"/>
            <p:nvPr/>
          </p:nvSpPr>
          <p:spPr>
            <a:xfrm>
              <a:off x="-3753426" y="3205118"/>
              <a:ext cx="1510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800">
                  <a:solidFill>
                    <a:srgbClr val="B7B7B7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Agente </a:t>
              </a:r>
              <a:r>
                <a:rPr b="1" lang="pt-BR"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</a:t>
              </a:r>
              <a:endPara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90" name="Google Shape;590;g3b1cc868f2a_0_1039"/>
            <p:cNvSpPr txBox="1"/>
            <p:nvPr/>
          </p:nvSpPr>
          <p:spPr>
            <a:xfrm>
              <a:off x="-3740822" y="3538493"/>
              <a:ext cx="2080500" cy="95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pt-BR" sz="1000">
                  <a:solidFill>
                    <a:srgbClr val="CC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Foco: </a:t>
              </a:r>
              <a:r>
                <a:rPr lang="pt-BR"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Executa busca eficiente, sem LLM “ler base inteira”</a:t>
              </a:r>
              <a:endParaRPr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t/>
              </a:r>
              <a:endParaRPr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pt-BR" sz="1000">
                  <a:solidFill>
                    <a:srgbClr val="CC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Impedimento: </a:t>
              </a:r>
              <a:r>
                <a:rPr lang="pt-BR"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Tokens.</a:t>
              </a:r>
              <a:endParaRPr b="1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591" name="Google Shape;591;g3b1cc868f2a_0_1039" title="personas.png"/>
          <p:cNvPicPr preferRelativeResize="0"/>
          <p:nvPr/>
        </p:nvPicPr>
        <p:blipFill rotWithShape="1">
          <a:blip r:embed="rId3">
            <a:alphaModFix/>
          </a:blip>
          <a:srcRect b="54635" l="47605" r="27567" t="13731"/>
          <a:stretch/>
        </p:blipFill>
        <p:spPr>
          <a:xfrm>
            <a:off x="336488" y="1487757"/>
            <a:ext cx="1139700" cy="1452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2" name="Google Shape;592;g3b1cc868f2a_0_1039"/>
          <p:cNvCxnSpPr/>
          <p:nvPr/>
        </p:nvCxnSpPr>
        <p:spPr>
          <a:xfrm>
            <a:off x="3119172" y="25513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sp>
        <p:nvSpPr>
          <p:cNvPr id="593" name="Google Shape;593;g3b1cc868f2a_0_1039"/>
          <p:cNvSpPr txBox="1"/>
          <p:nvPr/>
        </p:nvSpPr>
        <p:spPr>
          <a:xfrm>
            <a:off x="3709488" y="1560350"/>
            <a:ext cx="17202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Exemplo de Input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{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"filtro": {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  "sigla": "NF2"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},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"campos": ["pendencia", "indicador", "data_muro", "criticidade"]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}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594" name="Google Shape;594;g3b1cc868f2a_0_1039"/>
          <p:cNvCxnSpPr/>
          <p:nvPr/>
        </p:nvCxnSpPr>
        <p:spPr>
          <a:xfrm>
            <a:off x="5429697" y="25513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sp>
        <p:nvSpPr>
          <p:cNvPr id="595" name="Google Shape;595;g3b1cc868f2a_0_1039"/>
          <p:cNvSpPr txBox="1"/>
          <p:nvPr/>
        </p:nvSpPr>
        <p:spPr>
          <a:xfrm>
            <a:off x="5839426" y="1560350"/>
            <a:ext cx="17202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Exemplo de Output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[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{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  "pendencia": "PRRCON89",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  "indicador": "Resiliência",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  "criticidade": "Alta"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}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]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596" name="Google Shape;596;g3b1cc868f2a_0_1039"/>
          <p:cNvSpPr txBox="1"/>
          <p:nvPr/>
        </p:nvSpPr>
        <p:spPr>
          <a:xfrm>
            <a:off x="7530552" y="1560350"/>
            <a:ext cx="15105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Ponto de Atenção: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Esse agente não interpreta contexto, ele executa.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Por que isso importa?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Evita custo desnecessário, latência alta e uso ineficiente de tokens.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597" name="Google Shape;597;g3b1cc868f2a_0_1039"/>
          <p:cNvCxnSpPr/>
          <p:nvPr/>
        </p:nvCxnSpPr>
        <p:spPr>
          <a:xfrm>
            <a:off x="7034197" y="25513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sp>
        <p:nvSpPr>
          <p:cNvPr id="598" name="Google Shape;598;g3b1cc868f2a_0_1039"/>
          <p:cNvSpPr txBox="1"/>
          <p:nvPr/>
        </p:nvSpPr>
        <p:spPr>
          <a:xfrm>
            <a:off x="202700" y="-29425"/>
            <a:ext cx="56925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Papéis (Efeito Cascata)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b1cc868f2a_0_1101"/>
          <p:cNvSpPr txBox="1"/>
          <p:nvPr/>
        </p:nvSpPr>
        <p:spPr>
          <a:xfrm>
            <a:off x="131663" y="2851238"/>
            <a:ext cx="240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Governança </a:t>
            </a:r>
            <a:r>
              <a:rPr b="1" lang="pt-BR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Humana</a:t>
            </a:r>
            <a:endParaRPr b="1"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4" name="Google Shape;604;g3b1cc868f2a_0_1101"/>
          <p:cNvSpPr txBox="1"/>
          <p:nvPr/>
        </p:nvSpPr>
        <p:spPr>
          <a:xfrm>
            <a:off x="2016360" y="2851600"/>
            <a:ext cx="1805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Orquestrador</a:t>
            </a:r>
            <a:endParaRPr b="1"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5" name="Google Shape;605;g3b1cc868f2a_0_1101"/>
          <p:cNvSpPr txBox="1"/>
          <p:nvPr/>
        </p:nvSpPr>
        <p:spPr>
          <a:xfrm>
            <a:off x="145637" y="3504838"/>
            <a:ext cx="1805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Foco: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Define o que é verdade, como interpretar e o que não pode ser respondido errado</a:t>
            </a:r>
            <a:endParaRPr i="1"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606" name="Google Shape;606;g3b1cc868f2a_0_1101"/>
          <p:cNvSpPr txBox="1"/>
          <p:nvPr/>
        </p:nvSpPr>
        <p:spPr>
          <a:xfrm>
            <a:off x="2034774" y="3262363"/>
            <a:ext cx="225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Foco: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decide quem faz o quê</a:t>
            </a:r>
            <a:endParaRPr i="1"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grpSp>
        <p:nvGrpSpPr>
          <p:cNvPr id="607" name="Google Shape;607;g3b1cc868f2a_0_1101"/>
          <p:cNvGrpSpPr/>
          <p:nvPr/>
        </p:nvGrpSpPr>
        <p:grpSpPr>
          <a:xfrm>
            <a:off x="4213025" y="2852050"/>
            <a:ext cx="1702820" cy="825975"/>
            <a:chOff x="-3265221" y="3205118"/>
            <a:chExt cx="1962000" cy="825975"/>
          </a:xfrm>
        </p:grpSpPr>
        <p:sp>
          <p:nvSpPr>
            <p:cNvPr id="608" name="Google Shape;608;g3b1cc868f2a_0_1101"/>
            <p:cNvSpPr txBox="1"/>
            <p:nvPr/>
          </p:nvSpPr>
          <p:spPr>
            <a:xfrm>
              <a:off x="-3249062" y="3205118"/>
              <a:ext cx="1510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800">
                  <a:solidFill>
                    <a:srgbClr val="434343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Agente </a:t>
              </a:r>
              <a:r>
                <a:rPr b="1" lang="pt-BR" sz="18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  <a:endParaRPr b="1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09" name="Google Shape;609;g3b1cc868f2a_0_1101"/>
            <p:cNvSpPr txBox="1"/>
            <p:nvPr/>
          </p:nvSpPr>
          <p:spPr>
            <a:xfrm>
              <a:off x="-3265221" y="3538493"/>
              <a:ext cx="19620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pt-BR" sz="10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Foco: </a:t>
              </a:r>
              <a:r>
                <a:rPr lang="pt-BR" sz="1000">
                  <a:solidFill>
                    <a:srgbClr val="434343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Interpretação Semântica</a:t>
              </a:r>
              <a:endParaRPr i="1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  <p:pic>
        <p:nvPicPr>
          <p:cNvPr id="610" name="Google Shape;610;g3b1cc868f2a_0_1101" title="personas.png"/>
          <p:cNvPicPr preferRelativeResize="0"/>
          <p:nvPr/>
        </p:nvPicPr>
        <p:blipFill rotWithShape="1">
          <a:blip r:embed="rId3">
            <a:alphaModFix amt="27000"/>
          </a:blip>
          <a:srcRect b="57581" l="0" r="72586" t="12636"/>
          <a:stretch/>
        </p:blipFill>
        <p:spPr>
          <a:xfrm>
            <a:off x="2206913" y="1449613"/>
            <a:ext cx="1258425" cy="136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1" name="Google Shape;611;g3b1cc868f2a_0_1101" title="personas.png"/>
          <p:cNvPicPr preferRelativeResize="0"/>
          <p:nvPr/>
        </p:nvPicPr>
        <p:blipFill rotWithShape="1">
          <a:blip r:embed="rId3">
            <a:alphaModFix amt="27000"/>
          </a:blip>
          <a:srcRect b="52250" l="23106" r="52066" t="17217"/>
          <a:stretch/>
        </p:blipFill>
        <p:spPr>
          <a:xfrm>
            <a:off x="376888" y="1449613"/>
            <a:ext cx="1139700" cy="140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g3b1cc868f2a_0_1101" title="personas.png"/>
          <p:cNvPicPr preferRelativeResize="0"/>
          <p:nvPr/>
        </p:nvPicPr>
        <p:blipFill rotWithShape="1">
          <a:blip r:embed="rId3">
            <a:alphaModFix amt="27000"/>
          </a:blip>
          <a:srcRect b="54635" l="47605" r="27567" t="13731"/>
          <a:stretch/>
        </p:blipFill>
        <p:spPr>
          <a:xfrm>
            <a:off x="4307625" y="1407157"/>
            <a:ext cx="1139700" cy="1452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3" name="Google Shape;613;g3b1cc868f2a_0_1101"/>
          <p:cNvCxnSpPr/>
          <p:nvPr/>
        </p:nvCxnSpPr>
        <p:spPr>
          <a:xfrm>
            <a:off x="1644597" y="30978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stealth"/>
          </a:ln>
        </p:spPr>
      </p:cxnSp>
      <p:grpSp>
        <p:nvGrpSpPr>
          <p:cNvPr id="614" name="Google Shape;614;g3b1cc868f2a_0_1101"/>
          <p:cNvGrpSpPr/>
          <p:nvPr/>
        </p:nvGrpSpPr>
        <p:grpSpPr>
          <a:xfrm>
            <a:off x="5799088" y="2852050"/>
            <a:ext cx="1584080" cy="979875"/>
            <a:chOff x="-3753426" y="3205118"/>
            <a:chExt cx="1825188" cy="979875"/>
          </a:xfrm>
        </p:grpSpPr>
        <p:sp>
          <p:nvSpPr>
            <p:cNvPr id="615" name="Google Shape;615;g3b1cc868f2a_0_1101"/>
            <p:cNvSpPr txBox="1"/>
            <p:nvPr/>
          </p:nvSpPr>
          <p:spPr>
            <a:xfrm>
              <a:off x="-3753426" y="3205118"/>
              <a:ext cx="1510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800">
                  <a:solidFill>
                    <a:srgbClr val="434343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Agente </a:t>
              </a:r>
              <a:r>
                <a:rPr b="1" lang="pt-BR" sz="18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</a:t>
              </a:r>
              <a:endParaRPr b="1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16" name="Google Shape;616;g3b1cc868f2a_0_1101"/>
            <p:cNvSpPr txBox="1"/>
            <p:nvPr/>
          </p:nvSpPr>
          <p:spPr>
            <a:xfrm>
              <a:off x="-3740838" y="3538493"/>
              <a:ext cx="18126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pt-BR" sz="10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Foco: </a:t>
              </a:r>
              <a:r>
                <a:rPr lang="pt-BR" sz="1000">
                  <a:solidFill>
                    <a:srgbClr val="434343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Execução técnica / Filtragem de base</a:t>
              </a:r>
              <a:endParaRPr i="1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  <p:pic>
        <p:nvPicPr>
          <p:cNvPr id="617" name="Google Shape;617;g3b1cc868f2a_0_1101" title="personas.png"/>
          <p:cNvPicPr preferRelativeResize="0"/>
          <p:nvPr/>
        </p:nvPicPr>
        <p:blipFill rotWithShape="1">
          <a:blip r:embed="rId3">
            <a:alphaModFix amt="27000"/>
          </a:blip>
          <a:srcRect b="54635" l="47605" r="27567" t="13731"/>
          <a:stretch/>
        </p:blipFill>
        <p:spPr>
          <a:xfrm>
            <a:off x="5932913" y="1407157"/>
            <a:ext cx="1139700" cy="1452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18" name="Google Shape;618;g3b1cc868f2a_0_1101"/>
          <p:cNvGrpSpPr/>
          <p:nvPr/>
        </p:nvGrpSpPr>
        <p:grpSpPr>
          <a:xfrm>
            <a:off x="7428250" y="2852050"/>
            <a:ext cx="1584080" cy="825975"/>
            <a:chOff x="-2106764" y="3205118"/>
            <a:chExt cx="1825188" cy="825975"/>
          </a:xfrm>
        </p:grpSpPr>
        <p:sp>
          <p:nvSpPr>
            <p:cNvPr id="619" name="Google Shape;619;g3b1cc868f2a_0_1101"/>
            <p:cNvSpPr txBox="1"/>
            <p:nvPr/>
          </p:nvSpPr>
          <p:spPr>
            <a:xfrm>
              <a:off x="-2106764" y="3205118"/>
              <a:ext cx="1510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800">
                  <a:solidFill>
                    <a:srgbClr val="B7B7B7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Agente </a:t>
              </a:r>
              <a:r>
                <a:rPr b="1" lang="pt-BR"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  <a:endPara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20" name="Google Shape;620;g3b1cc868f2a_0_1101"/>
            <p:cNvSpPr txBox="1"/>
            <p:nvPr/>
          </p:nvSpPr>
          <p:spPr>
            <a:xfrm>
              <a:off x="-2094177" y="3538493"/>
              <a:ext cx="18126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pt-BR" sz="1000">
                  <a:solidFill>
                    <a:srgbClr val="CC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Foco: </a:t>
              </a:r>
              <a:r>
                <a:rPr lang="pt-BR"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Resolução e explicação</a:t>
              </a:r>
              <a:endParaRPr i="1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  <p:pic>
        <p:nvPicPr>
          <p:cNvPr id="621" name="Google Shape;621;g3b1cc868f2a_0_1101" title="personas.png"/>
          <p:cNvPicPr preferRelativeResize="0"/>
          <p:nvPr/>
        </p:nvPicPr>
        <p:blipFill rotWithShape="1">
          <a:blip r:embed="rId3">
            <a:alphaModFix/>
          </a:blip>
          <a:srcRect b="54635" l="47605" r="27567" t="13731"/>
          <a:stretch/>
        </p:blipFill>
        <p:spPr>
          <a:xfrm>
            <a:off x="7482563" y="1407157"/>
            <a:ext cx="1139700" cy="1452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22" name="Google Shape;622;g3b1cc868f2a_0_1101"/>
          <p:cNvCxnSpPr/>
          <p:nvPr/>
        </p:nvCxnSpPr>
        <p:spPr>
          <a:xfrm>
            <a:off x="3822072" y="30978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stealth"/>
          </a:ln>
        </p:spPr>
      </p:cxnSp>
      <p:cxnSp>
        <p:nvCxnSpPr>
          <p:cNvPr id="623" name="Google Shape;623;g3b1cc868f2a_0_1101"/>
          <p:cNvCxnSpPr/>
          <p:nvPr/>
        </p:nvCxnSpPr>
        <p:spPr>
          <a:xfrm>
            <a:off x="5394084" y="30978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stealth"/>
          </a:ln>
        </p:spPr>
      </p:cxnSp>
      <p:cxnSp>
        <p:nvCxnSpPr>
          <p:cNvPr id="624" name="Google Shape;624;g3b1cc868f2a_0_1101"/>
          <p:cNvCxnSpPr/>
          <p:nvPr/>
        </p:nvCxnSpPr>
        <p:spPr>
          <a:xfrm>
            <a:off x="7023259" y="3097820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stealth"/>
          </a:ln>
        </p:spPr>
      </p:cxnSp>
      <p:sp>
        <p:nvSpPr>
          <p:cNvPr id="625" name="Google Shape;625;g3b1cc868f2a_0_1101"/>
          <p:cNvSpPr txBox="1"/>
          <p:nvPr/>
        </p:nvSpPr>
        <p:spPr>
          <a:xfrm>
            <a:off x="204300" y="-29425"/>
            <a:ext cx="56925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Papéis (Efeito Cascata)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0" name="Google Shape;630;g3b1cc868f2a_0_1128"/>
          <p:cNvCxnSpPr/>
          <p:nvPr/>
        </p:nvCxnSpPr>
        <p:spPr>
          <a:xfrm>
            <a:off x="1476197" y="2563795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grpSp>
        <p:nvGrpSpPr>
          <p:cNvPr id="631" name="Google Shape;631;g3b1cc868f2a_0_1128"/>
          <p:cNvGrpSpPr/>
          <p:nvPr/>
        </p:nvGrpSpPr>
        <p:grpSpPr>
          <a:xfrm>
            <a:off x="246400" y="2932650"/>
            <a:ext cx="1584080" cy="1595475"/>
            <a:chOff x="-2106764" y="3205118"/>
            <a:chExt cx="1825188" cy="1595475"/>
          </a:xfrm>
        </p:grpSpPr>
        <p:sp>
          <p:nvSpPr>
            <p:cNvPr id="632" name="Google Shape;632;g3b1cc868f2a_0_1128"/>
            <p:cNvSpPr txBox="1"/>
            <p:nvPr/>
          </p:nvSpPr>
          <p:spPr>
            <a:xfrm>
              <a:off x="-2106764" y="3205118"/>
              <a:ext cx="1510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800">
                  <a:solidFill>
                    <a:srgbClr val="B7B7B7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Agente </a:t>
              </a:r>
              <a:r>
                <a:rPr b="1" lang="pt-BR"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  <a:endPara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33" name="Google Shape;633;g3b1cc868f2a_0_1128"/>
            <p:cNvSpPr txBox="1"/>
            <p:nvPr/>
          </p:nvSpPr>
          <p:spPr>
            <a:xfrm>
              <a:off x="-2094177" y="3538493"/>
              <a:ext cx="1812600" cy="12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pt-BR" sz="1000">
                  <a:solidFill>
                    <a:srgbClr val="CC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Foco: </a:t>
              </a:r>
              <a:r>
                <a:rPr lang="pt-BR"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Transformar dado em entendimento acionável: </a:t>
              </a:r>
              <a:r>
                <a:rPr i="1" lang="pt-BR"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“como resolver?”, “qual impacto?”, “qual prioridade?”</a:t>
              </a:r>
              <a:endParaRPr i="1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  <p:pic>
        <p:nvPicPr>
          <p:cNvPr id="634" name="Google Shape;634;g3b1cc868f2a_0_1128" title="personas.png"/>
          <p:cNvPicPr preferRelativeResize="0"/>
          <p:nvPr/>
        </p:nvPicPr>
        <p:blipFill rotWithShape="1">
          <a:blip r:embed="rId3">
            <a:alphaModFix/>
          </a:blip>
          <a:srcRect b="54635" l="47605" r="27567" t="13731"/>
          <a:stretch/>
        </p:blipFill>
        <p:spPr>
          <a:xfrm>
            <a:off x="300713" y="1487757"/>
            <a:ext cx="1139700" cy="1452125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g3b1cc868f2a_0_1128"/>
          <p:cNvSpPr txBox="1"/>
          <p:nvPr/>
        </p:nvSpPr>
        <p:spPr>
          <a:xfrm>
            <a:off x="1961174" y="1582775"/>
            <a:ext cx="18696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Função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Cruza resultado com: Regras de negócio (definidas por governança) e Documentações relevantes;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Aplica lógica de cascata: Se resolver X → impacta Y e Z.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636" name="Google Shape;636;g3b1cc868f2a_0_1128"/>
          <p:cNvSpPr txBox="1"/>
          <p:nvPr/>
        </p:nvSpPr>
        <p:spPr>
          <a:xfrm>
            <a:off x="202700" y="-29425"/>
            <a:ext cx="56925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Papéis (Efeito Cascata)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1" name="Google Shape;641;g3b1cc868f2a_0_1161"/>
          <p:cNvCxnSpPr/>
          <p:nvPr/>
        </p:nvCxnSpPr>
        <p:spPr>
          <a:xfrm>
            <a:off x="1476197" y="2563795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grpSp>
        <p:nvGrpSpPr>
          <p:cNvPr id="642" name="Google Shape;642;g3b1cc868f2a_0_1161"/>
          <p:cNvGrpSpPr/>
          <p:nvPr/>
        </p:nvGrpSpPr>
        <p:grpSpPr>
          <a:xfrm>
            <a:off x="246400" y="2932650"/>
            <a:ext cx="1584080" cy="1595475"/>
            <a:chOff x="-2106764" y="3205118"/>
            <a:chExt cx="1825188" cy="1595475"/>
          </a:xfrm>
        </p:grpSpPr>
        <p:sp>
          <p:nvSpPr>
            <p:cNvPr id="643" name="Google Shape;643;g3b1cc868f2a_0_1161"/>
            <p:cNvSpPr txBox="1"/>
            <p:nvPr/>
          </p:nvSpPr>
          <p:spPr>
            <a:xfrm>
              <a:off x="-2106764" y="3205118"/>
              <a:ext cx="1510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800">
                  <a:solidFill>
                    <a:srgbClr val="B7B7B7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Agente </a:t>
              </a:r>
              <a:r>
                <a:rPr b="1" lang="pt-BR"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  <a:endPara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44" name="Google Shape;644;g3b1cc868f2a_0_1161"/>
            <p:cNvSpPr txBox="1"/>
            <p:nvPr/>
          </p:nvSpPr>
          <p:spPr>
            <a:xfrm>
              <a:off x="-2094177" y="3538493"/>
              <a:ext cx="1812600" cy="12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pt-BR" sz="1000">
                  <a:solidFill>
                    <a:srgbClr val="CC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Foco: </a:t>
              </a:r>
              <a:r>
                <a:rPr lang="pt-BR"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Transformar dado em entendimento acionável: </a:t>
              </a:r>
              <a:r>
                <a:rPr i="1" lang="pt-BR"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“como resolver?”, “qual impacto?”, “qual prioridade?”</a:t>
              </a:r>
              <a:endParaRPr i="1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  <p:pic>
        <p:nvPicPr>
          <p:cNvPr id="645" name="Google Shape;645;g3b1cc868f2a_0_1161" title="personas.png"/>
          <p:cNvPicPr preferRelativeResize="0"/>
          <p:nvPr/>
        </p:nvPicPr>
        <p:blipFill rotWithShape="1">
          <a:blip r:embed="rId3">
            <a:alphaModFix/>
          </a:blip>
          <a:srcRect b="54635" l="47605" r="27567" t="13731"/>
          <a:stretch/>
        </p:blipFill>
        <p:spPr>
          <a:xfrm>
            <a:off x="300713" y="1487757"/>
            <a:ext cx="1139700" cy="1452125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g3b1cc868f2a_0_1161"/>
          <p:cNvSpPr txBox="1"/>
          <p:nvPr/>
        </p:nvSpPr>
        <p:spPr>
          <a:xfrm>
            <a:off x="1961174" y="1582775"/>
            <a:ext cx="18696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Função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Cruza resultado com: Regras de negócio (definidas por governança) e Documentações relevantes;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Aplica lógica de cascata: Se resolver X → impacta Y e Z.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647" name="Google Shape;647;g3b1cc868f2a_0_1161"/>
          <p:cNvSpPr txBox="1"/>
          <p:nvPr/>
        </p:nvSpPr>
        <p:spPr>
          <a:xfrm>
            <a:off x="4880240" y="1582763"/>
            <a:ext cx="1383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Exemplo Input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{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"pendencia": "PRRCON89"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}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648" name="Google Shape;648;g3b1cc868f2a_0_1161"/>
          <p:cNvCxnSpPr/>
          <p:nvPr/>
        </p:nvCxnSpPr>
        <p:spPr>
          <a:xfrm>
            <a:off x="3911847" y="2573733"/>
            <a:ext cx="9684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sp>
        <p:nvSpPr>
          <p:cNvPr id="649" name="Google Shape;649;g3b1cc868f2a_0_1161"/>
          <p:cNvSpPr txBox="1"/>
          <p:nvPr/>
        </p:nvSpPr>
        <p:spPr>
          <a:xfrm>
            <a:off x="202700" y="-29425"/>
            <a:ext cx="56925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Papéis (Efeito Cascata)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4" name="Google Shape;654;g3b1cc868f2a_0_1175"/>
          <p:cNvCxnSpPr/>
          <p:nvPr/>
        </p:nvCxnSpPr>
        <p:spPr>
          <a:xfrm>
            <a:off x="1476197" y="2563795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grpSp>
        <p:nvGrpSpPr>
          <p:cNvPr id="655" name="Google Shape;655;g3b1cc868f2a_0_1175"/>
          <p:cNvGrpSpPr/>
          <p:nvPr/>
        </p:nvGrpSpPr>
        <p:grpSpPr>
          <a:xfrm>
            <a:off x="246400" y="2932650"/>
            <a:ext cx="1584080" cy="1595475"/>
            <a:chOff x="-2106764" y="3205118"/>
            <a:chExt cx="1825188" cy="1595475"/>
          </a:xfrm>
        </p:grpSpPr>
        <p:sp>
          <p:nvSpPr>
            <p:cNvPr id="656" name="Google Shape;656;g3b1cc868f2a_0_1175"/>
            <p:cNvSpPr txBox="1"/>
            <p:nvPr/>
          </p:nvSpPr>
          <p:spPr>
            <a:xfrm>
              <a:off x="-2106764" y="3205118"/>
              <a:ext cx="15105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800">
                  <a:solidFill>
                    <a:srgbClr val="B7B7B7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Agente </a:t>
              </a:r>
              <a:r>
                <a:rPr b="1" lang="pt-BR" sz="18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  <a:endParaRPr b="1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57" name="Google Shape;657;g3b1cc868f2a_0_1175"/>
            <p:cNvSpPr txBox="1"/>
            <p:nvPr/>
          </p:nvSpPr>
          <p:spPr>
            <a:xfrm>
              <a:off x="-2094177" y="3538493"/>
              <a:ext cx="1812600" cy="12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1" lang="pt-BR" sz="1000">
                  <a:solidFill>
                    <a:srgbClr val="CC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Foco: </a:t>
              </a:r>
              <a:r>
                <a:rPr lang="pt-BR"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Transformar dado em entendimento acionável: </a:t>
              </a:r>
              <a:r>
                <a:rPr i="1" lang="pt-BR"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“como resolver?”, “qual impacto?”, “qual prioridade?”</a:t>
              </a:r>
              <a:endParaRPr i="1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</p:grpSp>
      <p:pic>
        <p:nvPicPr>
          <p:cNvPr id="658" name="Google Shape;658;g3b1cc868f2a_0_1175" title="personas.png"/>
          <p:cNvPicPr preferRelativeResize="0"/>
          <p:nvPr/>
        </p:nvPicPr>
        <p:blipFill rotWithShape="1">
          <a:blip r:embed="rId3">
            <a:alphaModFix/>
          </a:blip>
          <a:srcRect b="54635" l="47605" r="27567" t="13731"/>
          <a:stretch/>
        </p:blipFill>
        <p:spPr>
          <a:xfrm>
            <a:off x="300713" y="1487757"/>
            <a:ext cx="1139700" cy="1452125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g3b1cc868f2a_0_1175"/>
          <p:cNvSpPr txBox="1"/>
          <p:nvPr/>
        </p:nvSpPr>
        <p:spPr>
          <a:xfrm>
            <a:off x="1961175" y="1582775"/>
            <a:ext cx="1584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Função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Cruza resultado com: Regras de negócio (definidas por governança) e Documentações relevantes;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Aplica lógica de cascata: Se resolver X → impacta Y e Z.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660" name="Google Shape;660;g3b1cc868f2a_0_1175"/>
          <p:cNvSpPr txBox="1"/>
          <p:nvPr/>
        </p:nvSpPr>
        <p:spPr>
          <a:xfrm>
            <a:off x="3883665" y="1582763"/>
            <a:ext cx="1383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Exemplo Input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{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"pendencia": "PRRCON89"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}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661" name="Google Shape;661;g3b1cc868f2a_0_1175"/>
          <p:cNvSpPr txBox="1"/>
          <p:nvPr/>
        </p:nvSpPr>
        <p:spPr>
          <a:xfrm>
            <a:off x="5381274" y="1582775"/>
            <a:ext cx="16890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Exemplo Output</a:t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sz="1000">
              <a:solidFill>
                <a:srgbClr val="CCCCC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“Essa pendência impacta o indicador de Alta Disponibilidade no Score de Resiliência.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Para resolver, é necessário garantir o recurso em 3 AZs.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 resolução gera +5 p.p. no score da RT Cross.”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662" name="Google Shape;662;g3b1cc868f2a_0_1175"/>
          <p:cNvCxnSpPr/>
          <p:nvPr/>
        </p:nvCxnSpPr>
        <p:spPr>
          <a:xfrm>
            <a:off x="3468822" y="2563795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cxnSp>
        <p:nvCxnSpPr>
          <p:cNvPr id="663" name="Google Shape;663;g3b1cc868f2a_0_1175"/>
          <p:cNvCxnSpPr/>
          <p:nvPr/>
        </p:nvCxnSpPr>
        <p:spPr>
          <a:xfrm>
            <a:off x="4976284" y="2571745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sp>
        <p:nvSpPr>
          <p:cNvPr id="664" name="Google Shape;664;g3b1cc868f2a_0_1175"/>
          <p:cNvSpPr txBox="1"/>
          <p:nvPr/>
        </p:nvSpPr>
        <p:spPr>
          <a:xfrm>
            <a:off x="7422699" y="1582775"/>
            <a:ext cx="1689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Ponto de Atenção: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Aqui o sistema deixa de informar e passa a orientar decisão.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cxnSp>
        <p:nvCxnSpPr>
          <p:cNvPr id="665" name="Google Shape;665;g3b1cc868f2a_0_1175"/>
          <p:cNvCxnSpPr/>
          <p:nvPr/>
        </p:nvCxnSpPr>
        <p:spPr>
          <a:xfrm>
            <a:off x="6976534" y="2571745"/>
            <a:ext cx="405000" cy="0"/>
          </a:xfrm>
          <a:prstGeom prst="straightConnector1">
            <a:avLst/>
          </a:prstGeom>
          <a:noFill/>
          <a:ln cap="flat" cmpd="sng" w="9525">
            <a:solidFill>
              <a:srgbClr val="FCE5CD"/>
            </a:solidFill>
            <a:prstDash val="dot"/>
            <a:round/>
            <a:headEnd len="sm" w="sm" type="none"/>
            <a:tailEnd len="sm" w="sm" type="stealth"/>
          </a:ln>
        </p:spPr>
      </p:cxnSp>
      <p:sp>
        <p:nvSpPr>
          <p:cNvPr id="666" name="Google Shape;666;g3b1cc868f2a_0_1175"/>
          <p:cNvSpPr txBox="1"/>
          <p:nvPr/>
        </p:nvSpPr>
        <p:spPr>
          <a:xfrm>
            <a:off x="202700" y="-29425"/>
            <a:ext cx="56925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Papéis (Efeito Cascata)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b1cc868f2a_0_397"/>
          <p:cNvSpPr txBox="1"/>
          <p:nvPr>
            <p:ph idx="4294967295" type="ctrTitle"/>
          </p:nvPr>
        </p:nvSpPr>
        <p:spPr>
          <a:xfrm>
            <a:off x="244500" y="1778300"/>
            <a:ext cx="8655000" cy="690300"/>
          </a:xfrm>
          <a:prstGeom prst="rect">
            <a:avLst/>
          </a:prstGeom>
          <a:noFill/>
          <a:ln>
            <a:noFill/>
          </a:ln>
          <a:effectLst>
            <a:outerShdw blurRad="1428750" rotWithShape="0" algn="bl" dir="60000" dist="38100">
              <a:srgbClr val="FFFFFF">
                <a:alpha val="6353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40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rPr>
              <a:t>KPIs de Valor e Plano de Medição</a:t>
            </a:r>
            <a:endParaRPr b="0" i="0" sz="4000" u="none" cap="none" strike="noStrike">
              <a:solidFill>
                <a:srgbClr val="F4CCC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2" name="Google Shape;672;g3b1cc868f2a_0_397"/>
          <p:cNvSpPr txBox="1"/>
          <p:nvPr/>
        </p:nvSpPr>
        <p:spPr>
          <a:xfrm>
            <a:off x="295013" y="2552800"/>
            <a:ext cx="79803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KPIs focados em </a:t>
            </a:r>
            <a:r>
              <a:rPr b="1"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eficiência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autonomia 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e </a:t>
            </a:r>
            <a:r>
              <a:rPr b="1"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confiança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na decisão, para o tipo de </a:t>
            </a:r>
            <a:r>
              <a:rPr b="1"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produto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que muda </a:t>
            </a:r>
            <a:r>
              <a:rPr b="1" lang="pt-BR" sz="15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ponteiros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5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7" name="Google Shape;677;g3b1cc868f2a_0_402"/>
          <p:cNvGrpSpPr/>
          <p:nvPr/>
        </p:nvGrpSpPr>
        <p:grpSpPr>
          <a:xfrm>
            <a:off x="106363" y="2106229"/>
            <a:ext cx="8931270" cy="1722300"/>
            <a:chOff x="106363" y="1710588"/>
            <a:chExt cx="8931270" cy="1722300"/>
          </a:xfrm>
        </p:grpSpPr>
        <p:sp>
          <p:nvSpPr>
            <p:cNvPr id="678" name="Google Shape;678;g3b1cc868f2a_0_402"/>
            <p:cNvSpPr txBox="1"/>
            <p:nvPr/>
          </p:nvSpPr>
          <p:spPr>
            <a:xfrm>
              <a:off x="106363" y="1796438"/>
              <a:ext cx="18057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800">
                  <a:solidFill>
                    <a:srgbClr val="B7B7B7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Redução de</a:t>
              </a:r>
              <a:r>
                <a:rPr lang="pt-BR" sz="1800">
                  <a:solidFill>
                    <a:srgbClr val="B7B7B7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 </a:t>
              </a:r>
              <a:r>
                <a:rPr b="1" lang="pt-BR" sz="18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Tempo</a:t>
              </a:r>
              <a:endParaRPr b="1" sz="18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79" name="Google Shape;679;g3b1cc868f2a_0_402"/>
            <p:cNvSpPr txBox="1"/>
            <p:nvPr/>
          </p:nvSpPr>
          <p:spPr>
            <a:xfrm>
              <a:off x="1851191" y="1789145"/>
              <a:ext cx="2318100" cy="73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800">
                  <a:solidFill>
                    <a:srgbClr val="B7B7B7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Redução de</a:t>
              </a:r>
              <a:r>
                <a:rPr lang="pt-BR" sz="1800">
                  <a:solidFill>
                    <a:srgbClr val="B7B7B7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 </a:t>
              </a:r>
              <a:r>
                <a:rPr b="1" lang="pt-BR" sz="18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Dúvidas</a:t>
              </a:r>
              <a:endParaRPr b="1" sz="1800">
                <a:solidFill>
                  <a:srgbClr val="F4CCCC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80" name="Google Shape;680;g3b1cc868f2a_0_402"/>
            <p:cNvSpPr txBox="1"/>
            <p:nvPr/>
          </p:nvSpPr>
          <p:spPr>
            <a:xfrm>
              <a:off x="120325" y="2478609"/>
              <a:ext cx="16527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Redução de tempo médio de resposta (baseline a ser medido na fase piloto).</a:t>
              </a:r>
              <a:endParaRPr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681" name="Google Shape;681;g3b1cc868f2a_0_402"/>
            <p:cNvSpPr txBox="1"/>
            <p:nvPr/>
          </p:nvSpPr>
          <p:spPr>
            <a:xfrm>
              <a:off x="1773064" y="2461438"/>
              <a:ext cx="19140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pt-BR"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Redução de consultas recorrentes a especialistas (mensurado por volume de escalonamentos).</a:t>
              </a:r>
              <a:endParaRPr i="1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grpSp>
          <p:nvGrpSpPr>
            <p:cNvPr id="682" name="Google Shape;682;g3b1cc868f2a_0_402"/>
            <p:cNvGrpSpPr/>
            <p:nvPr/>
          </p:nvGrpSpPr>
          <p:grpSpPr>
            <a:xfrm>
              <a:off x="3646325" y="1789131"/>
              <a:ext cx="1805695" cy="1447003"/>
              <a:chOff x="-3175349" y="3168436"/>
              <a:chExt cx="2080533" cy="1447003"/>
            </a:xfrm>
          </p:grpSpPr>
          <p:sp>
            <p:nvSpPr>
              <p:cNvPr id="683" name="Google Shape;683;g3b1cc868f2a_0_402"/>
              <p:cNvSpPr txBox="1"/>
              <p:nvPr/>
            </p:nvSpPr>
            <p:spPr>
              <a:xfrm>
                <a:off x="-3056816" y="3168436"/>
                <a:ext cx="1962000" cy="7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pt-BR" sz="1800">
                    <a:solidFill>
                      <a:srgbClr val="B7B7B7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Aumento de</a:t>
                </a:r>
                <a:endParaRPr sz="1800">
                  <a:solidFill>
                    <a:srgbClr val="B7B7B7"/>
                  </a:solidFill>
                  <a:latin typeface="Montserrat Light"/>
                  <a:ea typeface="Montserrat Light"/>
                  <a:cs typeface="Montserrat Light"/>
                  <a:sym typeface="Montserrat Light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1" lang="pt-BR" sz="1800">
                    <a:solidFill>
                      <a:srgbClr val="F4CCCC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Autonomia</a:t>
                </a:r>
                <a:endParaRPr b="1" sz="18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84" name="Google Shape;684;g3b1cc868f2a_0_402"/>
              <p:cNvSpPr txBox="1"/>
              <p:nvPr/>
            </p:nvSpPr>
            <p:spPr>
              <a:xfrm>
                <a:off x="-3175349" y="3815039"/>
                <a:ext cx="2080500" cy="800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pt-BR" sz="1000">
                    <a:solidFill>
                      <a:srgbClr val="CCCCCC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Medido por uso recorrente e resolução sem dependência humana).</a:t>
                </a:r>
                <a:endParaRPr i="1" sz="1000">
                  <a:solidFill>
                    <a:srgbClr val="CCCCCC"/>
                  </a:solidFill>
                  <a:latin typeface="Montserrat Light"/>
                  <a:ea typeface="Montserrat Light"/>
                  <a:cs typeface="Montserrat Light"/>
                  <a:sym typeface="Montserrat Light"/>
                </a:endParaRPr>
              </a:p>
            </p:txBody>
          </p:sp>
        </p:grpSp>
        <p:cxnSp>
          <p:nvCxnSpPr>
            <p:cNvPr id="685" name="Google Shape;685;g3b1cc868f2a_0_402"/>
            <p:cNvCxnSpPr/>
            <p:nvPr/>
          </p:nvCxnSpPr>
          <p:spPr>
            <a:xfrm>
              <a:off x="1781038" y="1710588"/>
              <a:ext cx="0" cy="1722300"/>
            </a:xfrm>
            <a:prstGeom prst="straightConnector1">
              <a:avLst/>
            </a:prstGeom>
            <a:noFill/>
            <a:ln cap="flat" cmpd="sng" w="9525">
              <a:solidFill>
                <a:srgbClr val="FCE5CD"/>
              </a:solidFill>
              <a:prstDash val="dot"/>
              <a:round/>
              <a:headEnd len="sm" w="sm" type="none"/>
              <a:tailEnd len="sm" w="sm" type="none"/>
            </a:ln>
          </p:spPr>
        </p:cxnSp>
        <p:grpSp>
          <p:nvGrpSpPr>
            <p:cNvPr id="686" name="Google Shape;686;g3b1cc868f2a_0_402"/>
            <p:cNvGrpSpPr/>
            <p:nvPr/>
          </p:nvGrpSpPr>
          <p:grpSpPr>
            <a:xfrm>
              <a:off x="5428525" y="1796431"/>
              <a:ext cx="1805695" cy="1148728"/>
              <a:chOff x="-1312001" y="3175736"/>
              <a:chExt cx="2080533" cy="1148728"/>
            </a:xfrm>
          </p:grpSpPr>
          <p:sp>
            <p:nvSpPr>
              <p:cNvPr id="687" name="Google Shape;687;g3b1cc868f2a_0_402"/>
              <p:cNvSpPr txBox="1"/>
              <p:nvPr/>
            </p:nvSpPr>
            <p:spPr>
              <a:xfrm>
                <a:off x="-1193468" y="3175736"/>
                <a:ext cx="1962000" cy="7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pt-BR" sz="1800">
                    <a:solidFill>
                      <a:srgbClr val="B7B7B7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Satisfação dos </a:t>
                </a:r>
                <a:r>
                  <a:rPr b="1" lang="pt-BR" sz="1800">
                    <a:solidFill>
                      <a:srgbClr val="F4CCCC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Usuários</a:t>
                </a:r>
                <a:endParaRPr b="1" sz="18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88" name="Google Shape;688;g3b1cc868f2a_0_402"/>
              <p:cNvSpPr txBox="1"/>
              <p:nvPr/>
            </p:nvSpPr>
            <p:spPr>
              <a:xfrm>
                <a:off x="-1312001" y="3831864"/>
                <a:ext cx="20805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pt-BR" sz="1000">
                    <a:solidFill>
                      <a:srgbClr val="CCCCCC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NPS a ser coletado após fase piloto.</a:t>
                </a:r>
                <a:endParaRPr b="1" i="1" sz="1000">
                  <a:solidFill>
                    <a:srgbClr val="CCCCCC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grpSp>
          <p:nvGrpSpPr>
            <p:cNvPr id="689" name="Google Shape;689;g3b1cc868f2a_0_402"/>
            <p:cNvGrpSpPr/>
            <p:nvPr/>
          </p:nvGrpSpPr>
          <p:grpSpPr>
            <a:xfrm>
              <a:off x="7231950" y="1796443"/>
              <a:ext cx="1805683" cy="1165640"/>
              <a:chOff x="-1779740" y="2726111"/>
              <a:chExt cx="2080520" cy="1165640"/>
            </a:xfrm>
          </p:grpSpPr>
          <p:sp>
            <p:nvSpPr>
              <p:cNvPr id="690" name="Google Shape;690;g3b1cc868f2a_0_402"/>
              <p:cNvSpPr txBox="1"/>
              <p:nvPr/>
            </p:nvSpPr>
            <p:spPr>
              <a:xfrm>
                <a:off x="-1661220" y="2726111"/>
                <a:ext cx="1962000" cy="73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pt-BR" sz="1800">
                    <a:solidFill>
                      <a:srgbClr val="B7B7B7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Precisão das </a:t>
                </a:r>
                <a:r>
                  <a:rPr b="1" lang="pt-BR" sz="1800">
                    <a:solidFill>
                      <a:srgbClr val="F4CCCC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Respostas</a:t>
                </a:r>
                <a:endParaRPr b="1" sz="1800">
                  <a:solidFill>
                    <a:srgbClr val="F4CCCC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691" name="Google Shape;691;g3b1cc868f2a_0_402"/>
              <p:cNvSpPr txBox="1"/>
              <p:nvPr/>
            </p:nvSpPr>
            <p:spPr>
              <a:xfrm>
                <a:off x="-1779740" y="3399152"/>
                <a:ext cx="20805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pt-BR" sz="1000">
                    <a:solidFill>
                      <a:srgbClr val="CCCCCC"/>
                    </a:solidFill>
                    <a:latin typeface="Montserrat Light"/>
                    <a:ea typeface="Montserrat Light"/>
                    <a:cs typeface="Montserrat Light"/>
                    <a:sym typeface="Montserrat Light"/>
                  </a:rPr>
                  <a:t>Baseada em validação com fontes oficiais.</a:t>
                </a:r>
                <a:endParaRPr b="1" i="1" sz="1000">
                  <a:solidFill>
                    <a:srgbClr val="CCCCCC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cxnSp>
          <p:nvCxnSpPr>
            <p:cNvPr id="692" name="Google Shape;692;g3b1cc868f2a_0_402"/>
            <p:cNvCxnSpPr/>
            <p:nvPr/>
          </p:nvCxnSpPr>
          <p:spPr>
            <a:xfrm>
              <a:off x="3669813" y="1710588"/>
              <a:ext cx="0" cy="1722300"/>
            </a:xfrm>
            <a:prstGeom prst="straightConnector1">
              <a:avLst/>
            </a:prstGeom>
            <a:noFill/>
            <a:ln cap="flat" cmpd="sng" w="9525">
              <a:solidFill>
                <a:srgbClr val="FCE5CD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693" name="Google Shape;693;g3b1cc868f2a_0_402"/>
            <p:cNvCxnSpPr/>
            <p:nvPr/>
          </p:nvCxnSpPr>
          <p:spPr>
            <a:xfrm>
              <a:off x="5441838" y="1710588"/>
              <a:ext cx="0" cy="1722300"/>
            </a:xfrm>
            <a:prstGeom prst="straightConnector1">
              <a:avLst/>
            </a:prstGeom>
            <a:noFill/>
            <a:ln cap="flat" cmpd="sng" w="9525">
              <a:solidFill>
                <a:srgbClr val="FCE5CD"/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694" name="Google Shape;694;g3b1cc868f2a_0_402"/>
            <p:cNvCxnSpPr/>
            <p:nvPr/>
          </p:nvCxnSpPr>
          <p:spPr>
            <a:xfrm>
              <a:off x="7257388" y="1710588"/>
              <a:ext cx="0" cy="1722300"/>
            </a:xfrm>
            <a:prstGeom prst="straightConnector1">
              <a:avLst/>
            </a:prstGeom>
            <a:noFill/>
            <a:ln cap="flat" cmpd="sng" w="9525">
              <a:solidFill>
                <a:srgbClr val="FCE5CD"/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pic>
        <p:nvPicPr>
          <p:cNvPr id="695" name="Google Shape;695;g3b1cc868f2a_0_402" title="tempo.png"/>
          <p:cNvPicPr preferRelativeResize="0"/>
          <p:nvPr/>
        </p:nvPicPr>
        <p:blipFill>
          <a:blip r:embed="rId3">
            <a:alphaModFix amt="55000"/>
          </a:blip>
          <a:stretch>
            <a:fillRect/>
          </a:stretch>
        </p:blipFill>
        <p:spPr>
          <a:xfrm>
            <a:off x="539750" y="1200375"/>
            <a:ext cx="801075" cy="80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6" name="Google Shape;696;g3b1cc868f2a_0_402" title="entrevista.png"/>
          <p:cNvPicPr preferRelativeResize="0"/>
          <p:nvPr/>
        </p:nvPicPr>
        <p:blipFill>
          <a:blip r:embed="rId4">
            <a:alphaModFix amt="71000"/>
          </a:blip>
          <a:stretch>
            <a:fillRect/>
          </a:stretch>
        </p:blipFill>
        <p:spPr>
          <a:xfrm>
            <a:off x="2171700" y="1106875"/>
            <a:ext cx="1094600" cy="109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7" name="Google Shape;697;g3b1cc868f2a_0_402" title="motivacao.png"/>
          <p:cNvPicPr preferRelativeResize="0"/>
          <p:nvPr/>
        </p:nvPicPr>
        <p:blipFill>
          <a:blip r:embed="rId5">
            <a:alphaModFix amt="60000"/>
          </a:blip>
          <a:stretch>
            <a:fillRect/>
          </a:stretch>
        </p:blipFill>
        <p:spPr>
          <a:xfrm>
            <a:off x="4171463" y="1200363"/>
            <a:ext cx="801075" cy="80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g3b1cc868f2a_0_402" title="satisfacao.png"/>
          <p:cNvPicPr preferRelativeResize="0"/>
          <p:nvPr/>
        </p:nvPicPr>
        <p:blipFill>
          <a:blip r:embed="rId6">
            <a:alphaModFix amt="55000"/>
          </a:blip>
          <a:stretch>
            <a:fillRect/>
          </a:stretch>
        </p:blipFill>
        <p:spPr>
          <a:xfrm>
            <a:off x="5924550" y="1200375"/>
            <a:ext cx="801075" cy="80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g3b1cc868f2a_0_402" title="precisao.png"/>
          <p:cNvPicPr preferRelativeResize="0"/>
          <p:nvPr/>
        </p:nvPicPr>
        <p:blipFill>
          <a:blip r:embed="rId7">
            <a:alphaModFix amt="52999"/>
          </a:blip>
          <a:stretch>
            <a:fillRect/>
          </a:stretch>
        </p:blipFill>
        <p:spPr>
          <a:xfrm>
            <a:off x="7677625" y="1200375"/>
            <a:ext cx="867750" cy="86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b1cc868f2a_0_1198"/>
          <p:cNvSpPr txBox="1"/>
          <p:nvPr>
            <p:ph idx="4294967295" type="ctrTitle"/>
          </p:nvPr>
        </p:nvSpPr>
        <p:spPr>
          <a:xfrm>
            <a:off x="556588" y="1778300"/>
            <a:ext cx="7079700" cy="690300"/>
          </a:xfrm>
          <a:prstGeom prst="rect">
            <a:avLst/>
          </a:prstGeom>
          <a:noFill/>
          <a:ln>
            <a:noFill/>
          </a:ln>
          <a:effectLst>
            <a:outerShdw blurRad="1428750" rotWithShape="0" algn="bl" dir="60000" dist="38100">
              <a:srgbClr val="FFFFFF">
                <a:alpha val="6353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pt-BR" sz="4000">
                <a:solidFill>
                  <a:srgbClr val="C9DAF8"/>
                </a:solidFill>
                <a:latin typeface="Montserrat"/>
                <a:ea typeface="Montserrat"/>
                <a:cs typeface="Montserrat"/>
                <a:sym typeface="Montserrat"/>
              </a:rPr>
              <a:t>Roadmap</a:t>
            </a:r>
            <a:endParaRPr b="0" i="0" sz="4000" u="none" cap="none" strike="noStrike">
              <a:solidFill>
                <a:srgbClr val="C9DAF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5" name="Google Shape;705;g3b1cc868f2a_0_1198"/>
          <p:cNvSpPr txBox="1"/>
          <p:nvPr/>
        </p:nvSpPr>
        <p:spPr>
          <a:xfrm>
            <a:off x="607113" y="2552800"/>
            <a:ext cx="79803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Evolução do produto priorizada por impacto no </a:t>
            </a:r>
            <a:r>
              <a:rPr b="1"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negócio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, valor ao </a:t>
            </a:r>
            <a:r>
              <a:rPr b="1"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usuário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e </a:t>
            </a:r>
            <a:r>
              <a:rPr b="1"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viabilidade</a:t>
            </a:r>
            <a:r>
              <a:rPr lang="pt-BR" sz="1500">
                <a:solidFill>
                  <a:srgbClr val="999999"/>
                </a:solidFill>
                <a:latin typeface="Montserrat"/>
                <a:ea typeface="Montserrat"/>
                <a:cs typeface="Montserrat"/>
                <a:sym typeface="Montserrat"/>
              </a:rPr>
              <a:t> técnica.</a:t>
            </a:r>
            <a:endParaRPr sz="1500">
              <a:solidFill>
                <a:srgbClr val="99999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0" name="Google Shape;710;g3b1cc868f2a_0_1203"/>
          <p:cNvCxnSpPr/>
          <p:nvPr/>
        </p:nvCxnSpPr>
        <p:spPr>
          <a:xfrm>
            <a:off x="197738" y="1367725"/>
            <a:ext cx="28422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1" name="Google Shape;711;g3b1cc868f2a_0_1203"/>
          <p:cNvSpPr txBox="1"/>
          <p:nvPr/>
        </p:nvSpPr>
        <p:spPr>
          <a:xfrm>
            <a:off x="202700" y="-29425"/>
            <a:ext cx="28539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Expansão em </a:t>
            </a: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Ondas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712" name="Google Shape;712;g3b1cc868f2a_0_1203"/>
          <p:cNvSpPr/>
          <p:nvPr/>
        </p:nvSpPr>
        <p:spPr>
          <a:xfrm>
            <a:off x="249881" y="1574075"/>
            <a:ext cx="2400900" cy="815700"/>
          </a:xfrm>
          <a:prstGeom prst="rect">
            <a:avLst/>
          </a:prstGeom>
          <a:noFill/>
          <a:ln cap="flat" cmpd="sng" w="9525">
            <a:solidFill>
              <a:srgbClr val="6D9EEB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g3b1cc868f2a_0_1203"/>
          <p:cNvSpPr txBox="1"/>
          <p:nvPr/>
        </p:nvSpPr>
        <p:spPr>
          <a:xfrm>
            <a:off x="223734" y="1624516"/>
            <a:ext cx="2400900" cy="6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Onda 1: MVP</a:t>
            </a:r>
            <a:endParaRPr sz="1800"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(0-3 meses)</a:t>
            </a:r>
            <a:endParaRPr sz="1800"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14" name="Google Shape;714;g3b1cc868f2a_0_1203"/>
          <p:cNvCxnSpPr/>
          <p:nvPr/>
        </p:nvCxnSpPr>
        <p:spPr>
          <a:xfrm>
            <a:off x="1450313" y="1226776"/>
            <a:ext cx="0" cy="225900"/>
          </a:xfrm>
          <a:prstGeom prst="straightConnector1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5" name="Google Shape;715;g3b1cc868f2a_0_1203"/>
          <p:cNvSpPr txBox="1"/>
          <p:nvPr/>
        </p:nvSpPr>
        <p:spPr>
          <a:xfrm>
            <a:off x="197749" y="2389775"/>
            <a:ext cx="24528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lang="pt-BR" sz="1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Foco: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Perguntas recorrentes e decisões críticas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3C78D8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3C78D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Chat integrado ao StackSpot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3C78D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Conexão entre Score de Resiliência, IU Risk e IU Confia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3C78D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Respostas de indicadores, pendências, priorizações e data muro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3C78D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Histórico básico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3C78D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Exportação simples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0" name="Google Shape;720;g3b1cc868f2a_0_1212"/>
          <p:cNvCxnSpPr/>
          <p:nvPr/>
        </p:nvCxnSpPr>
        <p:spPr>
          <a:xfrm>
            <a:off x="197738" y="1367725"/>
            <a:ext cx="57378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21" name="Google Shape;721;g3b1cc868f2a_0_1212"/>
          <p:cNvSpPr txBox="1"/>
          <p:nvPr/>
        </p:nvSpPr>
        <p:spPr>
          <a:xfrm>
            <a:off x="202700" y="-29425"/>
            <a:ext cx="28539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Expansão em </a:t>
            </a: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Ondas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722" name="Google Shape;722;g3b1cc868f2a_0_1212"/>
          <p:cNvSpPr/>
          <p:nvPr/>
        </p:nvSpPr>
        <p:spPr>
          <a:xfrm>
            <a:off x="249881" y="1574075"/>
            <a:ext cx="2400900" cy="8157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g3b1cc868f2a_0_1212"/>
          <p:cNvSpPr txBox="1"/>
          <p:nvPr/>
        </p:nvSpPr>
        <p:spPr>
          <a:xfrm>
            <a:off x="223734" y="1624516"/>
            <a:ext cx="2400900" cy="6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Onda 1: MVP</a:t>
            </a:r>
            <a:endParaRPr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(0-3 meses)</a:t>
            </a:r>
            <a:endParaRPr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24" name="Google Shape;724;g3b1cc868f2a_0_1212"/>
          <p:cNvCxnSpPr/>
          <p:nvPr/>
        </p:nvCxnSpPr>
        <p:spPr>
          <a:xfrm>
            <a:off x="1450313" y="1226776"/>
            <a:ext cx="0" cy="2259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5" name="Google Shape;725;g3b1cc868f2a_0_1212"/>
          <p:cNvSpPr txBox="1"/>
          <p:nvPr/>
        </p:nvSpPr>
        <p:spPr>
          <a:xfrm>
            <a:off x="197749" y="2389775"/>
            <a:ext cx="24528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Foco: Perguntas recorrentes e decisões críticas</a:t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Chat integrado ao StackSpot</a:t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Conexão entre Score de Resiliência, IU Risk e IU Confia</a:t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Respostas de indicadores, pendências, priorizações e data muro</a:t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Histórico básico</a:t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Exportação simples</a:t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726" name="Google Shape;726;g3b1cc868f2a_0_1212"/>
          <p:cNvSpPr/>
          <p:nvPr/>
        </p:nvSpPr>
        <p:spPr>
          <a:xfrm>
            <a:off x="3098724" y="1574075"/>
            <a:ext cx="2453100" cy="815700"/>
          </a:xfrm>
          <a:prstGeom prst="rect">
            <a:avLst/>
          </a:prstGeom>
          <a:noFill/>
          <a:ln cap="flat" cmpd="sng" w="9525">
            <a:solidFill>
              <a:srgbClr val="6D9EEB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g3b1cc868f2a_0_1212"/>
          <p:cNvSpPr txBox="1"/>
          <p:nvPr/>
        </p:nvSpPr>
        <p:spPr>
          <a:xfrm>
            <a:off x="3077600" y="1624525"/>
            <a:ext cx="2453100" cy="6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Onda 2: Expansão</a:t>
            </a:r>
            <a:endParaRPr sz="1800"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(3-6 meses)</a:t>
            </a:r>
            <a:endParaRPr sz="1800"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28" name="Google Shape;728;g3b1cc868f2a_0_1212"/>
          <p:cNvCxnSpPr/>
          <p:nvPr/>
        </p:nvCxnSpPr>
        <p:spPr>
          <a:xfrm>
            <a:off x="4325263" y="1226776"/>
            <a:ext cx="0" cy="225900"/>
          </a:xfrm>
          <a:prstGeom prst="straightConnector1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9" name="Google Shape;729;g3b1cc868f2a_0_1212"/>
          <p:cNvSpPr txBox="1"/>
          <p:nvPr/>
        </p:nvSpPr>
        <p:spPr>
          <a:xfrm>
            <a:off x="3056599" y="2389775"/>
            <a:ext cx="24951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3C78D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Recomendações e próximos passos automatizados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3C78D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Priorizações inteligentes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3C78D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Melhoria de interface e contexto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3C78D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Conexão com outros indicadores, como Score de Cyber e Score de Dados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4" name="Google Shape;734;g3b1cc868f2a_0_1225"/>
          <p:cNvCxnSpPr/>
          <p:nvPr/>
        </p:nvCxnSpPr>
        <p:spPr>
          <a:xfrm>
            <a:off x="197738" y="1367725"/>
            <a:ext cx="87936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35" name="Google Shape;735;g3b1cc868f2a_0_1225"/>
          <p:cNvSpPr txBox="1"/>
          <p:nvPr/>
        </p:nvSpPr>
        <p:spPr>
          <a:xfrm>
            <a:off x="202700" y="-29425"/>
            <a:ext cx="2853900" cy="111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Expansão em </a:t>
            </a:r>
            <a:r>
              <a:rPr b="1" lang="pt-BR" sz="2000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Ondas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736" name="Google Shape;736;g3b1cc868f2a_0_1225"/>
          <p:cNvSpPr/>
          <p:nvPr/>
        </p:nvSpPr>
        <p:spPr>
          <a:xfrm>
            <a:off x="249881" y="1574075"/>
            <a:ext cx="2400900" cy="8157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g3b1cc868f2a_0_1225"/>
          <p:cNvSpPr txBox="1"/>
          <p:nvPr/>
        </p:nvSpPr>
        <p:spPr>
          <a:xfrm>
            <a:off x="223734" y="1624516"/>
            <a:ext cx="2400900" cy="6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Onda 1: MVP</a:t>
            </a:r>
            <a:endParaRPr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(0-3 meses)</a:t>
            </a:r>
            <a:endParaRPr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38" name="Google Shape;738;g3b1cc868f2a_0_1225"/>
          <p:cNvCxnSpPr/>
          <p:nvPr/>
        </p:nvCxnSpPr>
        <p:spPr>
          <a:xfrm>
            <a:off x="1450313" y="1226776"/>
            <a:ext cx="0" cy="2259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9" name="Google Shape;739;g3b1cc868f2a_0_1225"/>
          <p:cNvSpPr txBox="1"/>
          <p:nvPr/>
        </p:nvSpPr>
        <p:spPr>
          <a:xfrm>
            <a:off x="197749" y="2389775"/>
            <a:ext cx="24528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Foco: Perguntas recorrentes e decisões críticas</a:t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Chat integrado ao StackSpot</a:t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Conexão entre Score de Resiliência, IU Risk e IU Confia</a:t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Respostas de indicadores, pendências, priorizações e data muro</a:t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Histórico básico</a:t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Exportação simples</a:t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740" name="Google Shape;740;g3b1cc868f2a_0_1225"/>
          <p:cNvSpPr/>
          <p:nvPr/>
        </p:nvSpPr>
        <p:spPr>
          <a:xfrm>
            <a:off x="3098724" y="1574075"/>
            <a:ext cx="2453100" cy="8157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g3b1cc868f2a_0_1225"/>
          <p:cNvSpPr txBox="1"/>
          <p:nvPr/>
        </p:nvSpPr>
        <p:spPr>
          <a:xfrm>
            <a:off x="3077600" y="1624525"/>
            <a:ext cx="2453100" cy="6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Onda 2: Expansão</a:t>
            </a:r>
            <a:endParaRPr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(3-6 meses)</a:t>
            </a:r>
            <a:endParaRPr sz="18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42" name="Google Shape;742;g3b1cc868f2a_0_1225"/>
          <p:cNvCxnSpPr/>
          <p:nvPr/>
        </p:nvCxnSpPr>
        <p:spPr>
          <a:xfrm>
            <a:off x="4325263" y="1226776"/>
            <a:ext cx="0" cy="225900"/>
          </a:xfrm>
          <a:prstGeom prst="straightConnector1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3" name="Google Shape;743;g3b1cc868f2a_0_1225"/>
          <p:cNvSpPr txBox="1"/>
          <p:nvPr/>
        </p:nvSpPr>
        <p:spPr>
          <a:xfrm>
            <a:off x="3056599" y="2389775"/>
            <a:ext cx="24951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Recomendações e próximos passos automatizados</a:t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Priorizações inteligentes</a:t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Melhoria de interface e contexto</a:t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434343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Conexão com outros indicadores, como Score de Cyber e Score de Dados</a:t>
            </a:r>
            <a:endParaRPr sz="1000">
              <a:solidFill>
                <a:srgbClr val="434343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744" name="Google Shape;744;g3b1cc868f2a_0_1225"/>
          <p:cNvSpPr/>
          <p:nvPr/>
        </p:nvSpPr>
        <p:spPr>
          <a:xfrm>
            <a:off x="5999649" y="1574075"/>
            <a:ext cx="2453100" cy="815700"/>
          </a:xfrm>
          <a:prstGeom prst="rect">
            <a:avLst/>
          </a:prstGeom>
          <a:noFill/>
          <a:ln cap="flat" cmpd="sng" w="9525">
            <a:solidFill>
              <a:srgbClr val="6D9EEB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g3b1cc868f2a_0_1225"/>
          <p:cNvSpPr txBox="1"/>
          <p:nvPr/>
        </p:nvSpPr>
        <p:spPr>
          <a:xfrm>
            <a:off x="5995361" y="1624525"/>
            <a:ext cx="2453100" cy="6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Onda 3: Estratégica</a:t>
            </a:r>
            <a:endParaRPr sz="1800"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EFEFEF"/>
                </a:solidFill>
                <a:latin typeface="Montserrat"/>
                <a:ea typeface="Montserrat"/>
                <a:cs typeface="Montserrat"/>
                <a:sym typeface="Montserrat"/>
              </a:rPr>
              <a:t>(6-12 meses)</a:t>
            </a:r>
            <a:endParaRPr sz="1800">
              <a:solidFill>
                <a:srgbClr val="EFEFE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46" name="Google Shape;746;g3b1cc868f2a_0_1225"/>
          <p:cNvCxnSpPr/>
          <p:nvPr/>
        </p:nvCxnSpPr>
        <p:spPr>
          <a:xfrm>
            <a:off x="7226188" y="1226776"/>
            <a:ext cx="0" cy="225900"/>
          </a:xfrm>
          <a:prstGeom prst="straightConnector1">
            <a:avLst/>
          </a:prstGeom>
          <a:noFill/>
          <a:ln cap="flat" cmpd="sng" w="952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7" name="Google Shape;747;g3b1cc868f2a_0_1225"/>
          <p:cNvSpPr txBox="1"/>
          <p:nvPr/>
        </p:nvSpPr>
        <p:spPr>
          <a:xfrm>
            <a:off x="5957524" y="2389775"/>
            <a:ext cx="24951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3C78D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Alertas Proativos de Risco 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3C78D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Narrativa executiva automática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3C78D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Integração com dashboards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3C78D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Conexões cross-diretorias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1000">
                <a:solidFill>
                  <a:srgbClr val="3C78D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</a:t>
            </a:r>
            <a:r>
              <a:rPr lang="pt-BR" sz="800">
                <a:solidFill>
                  <a:schemeClr val="accent4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</a:t>
            </a:r>
            <a:r>
              <a:rPr lang="pt-BR" sz="1000">
                <a:solidFill>
                  <a:srgbClr val="CCCCC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Insights preditivos</a:t>
            </a:r>
            <a:endParaRPr sz="1000">
              <a:solidFill>
                <a:srgbClr val="CCCCC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