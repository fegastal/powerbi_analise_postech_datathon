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Montserrat Light"/>
      <p:regular r:id="rId25"/>
      <p:bold r:id="rId26"/>
      <p:italic r:id="rId27"/>
      <p:boldItalic r:id="rId28"/>
    </p:embeddedFon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  <p15:guide id="3" pos="397">
          <p15:clr>
            <a:srgbClr val="747775"/>
          </p15:clr>
        </p15:guide>
        <p15:guide id="4" pos="5363">
          <p15:clr>
            <a:srgbClr val="747775"/>
          </p15:clr>
        </p15:guide>
        <p15:guide id="5" orient="horz" pos="2866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hUfq6VXEuIifJUWEnDqU8btOJ8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  <p:guide pos="397"/>
        <p:guide pos="5363"/>
        <p:guide pos="286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bold.fntdata"/><Relationship Id="rId25" Type="http://schemas.openxmlformats.org/officeDocument/2006/relationships/font" Target="fonts/MontserratLight-regular.fntdata"/><Relationship Id="rId28" Type="http://schemas.openxmlformats.org/officeDocument/2006/relationships/font" Target="fonts/MontserratLight-boldItalic.fntdata"/><Relationship Id="rId27" Type="http://schemas.openxmlformats.org/officeDocument/2006/relationships/font" Target="fonts/Montserra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85e030c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985e030c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48dbee20f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48dbee20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48dbee20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48dbee20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E quando a gente olha os dados, performance está muito abaixo do resto. Ou seja, não é um problema geral, é um problema específico e ignorado.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8dbee2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48dbee2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48dbee20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48dbee20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8dbee20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48dbee20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48dbee20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48dbee20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8dbee20f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48dbee20f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8dbee20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48dbee20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48dbee20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48dbee20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0" y="2679075"/>
            <a:ext cx="914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Qualidade </a:t>
            </a:r>
            <a:r>
              <a:rPr b="1"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Webview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600">
                <a:solidFill>
                  <a:srgbClr val="FCE5C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Performance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lang="pt-BR" sz="1600">
                <a:solidFill>
                  <a:srgbClr val="FCE5C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Acessibilidade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lang="pt-BR" sz="1600">
                <a:solidFill>
                  <a:srgbClr val="FCE5C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Best Practices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lang="pt-BR" sz="1600">
                <a:solidFill>
                  <a:srgbClr val="FCE5C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Seo</a:t>
            </a:r>
            <a:endParaRPr sz="1600">
              <a:solidFill>
                <a:srgbClr val="FCE5C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0" y="2023738"/>
            <a:ext cx="91440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83921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40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Dashboard </a:t>
            </a:r>
            <a:r>
              <a:rPr b="1" lang="pt-BR" sz="40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Lighthouse</a:t>
            </a:r>
            <a:endParaRPr b="1" sz="400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" title="2023_Itaú_Unibanco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75" y="4549776"/>
            <a:ext cx="394776" cy="3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630250" y="4593400"/>
            <a:ext cx="32010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Develop Journey </a:t>
            </a:r>
            <a:r>
              <a:rPr b="1"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App Itaú</a:t>
            </a:r>
            <a:endParaRPr b="1" sz="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85e030cf_0_312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Desafio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Sem visibilidade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centralizada</a:t>
            </a: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, como garantir </a:t>
            </a:r>
            <a:r>
              <a:rPr b="1"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qualidade</a:t>
            </a: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em escala?</a:t>
            </a:r>
            <a:endParaRPr i="0" sz="1200" u="none" cap="none" strike="noStrike">
              <a:solidFill>
                <a:srgbClr val="B7B7B7"/>
              </a:solidFill>
            </a:endParaRPr>
          </a:p>
        </p:txBody>
      </p:sp>
      <p:sp>
        <p:nvSpPr>
          <p:cNvPr id="63" name="Google Shape;63;g3a985e030cf_0_312"/>
          <p:cNvSpPr txBox="1"/>
          <p:nvPr>
            <p:ph idx="4294967295" type="ctrTitle"/>
          </p:nvPr>
        </p:nvSpPr>
        <p:spPr>
          <a:xfrm>
            <a:off x="148425" y="1257455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60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1.273</a:t>
            </a:r>
            <a:endParaRPr b="0" i="0" sz="60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" name="Google Shape;64;g3a985e030cf_0_312"/>
          <p:cNvCxnSpPr/>
          <p:nvPr/>
        </p:nvCxnSpPr>
        <p:spPr>
          <a:xfrm>
            <a:off x="148425" y="3454375"/>
            <a:ext cx="8912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65" name="Google Shape;65;g3a985e030cf_0_312"/>
          <p:cNvSpPr txBox="1"/>
          <p:nvPr>
            <p:ph idx="4294967295" type="ctrTitle"/>
          </p:nvPr>
        </p:nvSpPr>
        <p:spPr>
          <a:xfrm>
            <a:off x="3129825" y="1249846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60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569</a:t>
            </a:r>
            <a:endParaRPr b="0" i="0" sz="60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a985e030cf_0_312"/>
          <p:cNvSpPr txBox="1"/>
          <p:nvPr>
            <p:ph idx="4294967295" type="ctrTitle"/>
          </p:nvPr>
        </p:nvSpPr>
        <p:spPr>
          <a:xfrm>
            <a:off x="5941050" y="1249846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6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45%</a:t>
            </a:r>
            <a:endParaRPr b="0" i="0" sz="6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a985e030cf_0_312"/>
          <p:cNvSpPr txBox="1"/>
          <p:nvPr>
            <p:ph idx="4294967295" type="ctrTitle"/>
          </p:nvPr>
        </p:nvSpPr>
        <p:spPr>
          <a:xfrm>
            <a:off x="564975" y="2098287"/>
            <a:ext cx="216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Repositórios </a:t>
            </a:r>
            <a:r>
              <a:rPr b="1" lang="pt-BR" sz="1600">
                <a:latin typeface="Montserrat"/>
                <a:ea typeface="Montserrat"/>
                <a:cs typeface="Montserrat"/>
                <a:sym typeface="Montserrat"/>
              </a:rPr>
              <a:t>Totais</a:t>
            </a:r>
            <a:endParaRPr b="1" i="0" sz="1600" u="none" cap="none" strike="noStrike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g3a985e030cf_0_312"/>
          <p:cNvSpPr txBox="1"/>
          <p:nvPr>
            <p:ph idx="4294967295" type="ctrTitle"/>
          </p:nvPr>
        </p:nvSpPr>
        <p:spPr>
          <a:xfrm>
            <a:off x="2864925" y="2090250"/>
            <a:ext cx="35637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Repositórios </a:t>
            </a:r>
            <a:r>
              <a:rPr b="1"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Inspecionados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g3a985e030cf_0_312"/>
          <p:cNvSpPr txBox="1"/>
          <p:nvPr>
            <p:ph idx="4294967295" type="ctrTitle"/>
          </p:nvPr>
        </p:nvSpPr>
        <p:spPr>
          <a:xfrm>
            <a:off x="6268225" y="2090250"/>
            <a:ext cx="216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6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% </a:t>
            </a:r>
            <a:r>
              <a:rPr b="1" lang="pt-BR" sz="16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Cobertura</a:t>
            </a:r>
            <a:endParaRPr b="1" i="0" sz="16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3a985e030cf_0_312"/>
          <p:cNvSpPr txBox="1"/>
          <p:nvPr>
            <p:ph idx="4294967295" type="ctrTitle"/>
          </p:nvPr>
        </p:nvSpPr>
        <p:spPr>
          <a:xfrm>
            <a:off x="4825491" y="3401413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Sem Rastreabilidade</a:t>
            </a:r>
            <a:r>
              <a:rPr lang="pt-BR" sz="2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Qual app está com performance ruim? Ninguém sabia ao certo.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g3a985e030cf_0_312"/>
          <p:cNvSpPr txBox="1"/>
          <p:nvPr>
            <p:ph idx="4294967295" type="ctrTitle"/>
          </p:nvPr>
        </p:nvSpPr>
        <p:spPr>
          <a:xfrm>
            <a:off x="2413300" y="3454375"/>
            <a:ext cx="2113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Decisões Incertas</a:t>
            </a:r>
            <a:endParaRPr sz="1500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Priorização de melhorias baseadas em feeling, não em dados.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a985e030cf_0_312"/>
          <p:cNvSpPr txBox="1"/>
          <p:nvPr>
            <p:ph idx="4294967295" type="ctrTitle"/>
          </p:nvPr>
        </p:nvSpPr>
        <p:spPr>
          <a:xfrm>
            <a:off x="199125" y="3454375"/>
            <a:ext cx="1915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704 Repositórios</a:t>
            </a:r>
            <a:endParaRPr sz="1500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sem inspeção ativa. 55% do total está invisível no momento.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3a985e030cf_0_312"/>
          <p:cNvSpPr txBox="1"/>
          <p:nvPr>
            <p:ph idx="4294967295" type="ctrTitle"/>
          </p:nvPr>
        </p:nvSpPr>
        <p:spPr>
          <a:xfrm>
            <a:off x="7145325" y="3463813"/>
            <a:ext cx="1915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Escala Impossível</a:t>
            </a:r>
            <a:endParaRPr sz="1500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Revisão manual é inviável para centenas de apps.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a985e030cf_0_312"/>
          <p:cNvSpPr/>
          <p:nvPr/>
        </p:nvSpPr>
        <p:spPr>
          <a:xfrm>
            <a:off x="1094625" y="3391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985e030cf_0_312"/>
          <p:cNvSpPr/>
          <p:nvPr/>
        </p:nvSpPr>
        <p:spPr>
          <a:xfrm>
            <a:off x="3407813" y="3391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985e030cf_0_312"/>
          <p:cNvSpPr/>
          <p:nvPr/>
        </p:nvSpPr>
        <p:spPr>
          <a:xfrm>
            <a:off x="5868150" y="3391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a985e030cf_0_312"/>
          <p:cNvSpPr/>
          <p:nvPr/>
        </p:nvSpPr>
        <p:spPr>
          <a:xfrm>
            <a:off x="8040825" y="3391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g3a985e030cf_0_312"/>
          <p:cNvCxnSpPr/>
          <p:nvPr/>
        </p:nvCxnSpPr>
        <p:spPr>
          <a:xfrm>
            <a:off x="5482973" y="1848450"/>
            <a:ext cx="1043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9" name="Google Shape;79;g3a985e030cf_0_312"/>
          <p:cNvSpPr txBox="1"/>
          <p:nvPr/>
        </p:nvSpPr>
        <p:spPr>
          <a:xfrm>
            <a:off x="6647348" y="2151564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⚠️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8dbee20f_0_364"/>
          <p:cNvSpPr txBox="1"/>
          <p:nvPr/>
        </p:nvSpPr>
        <p:spPr>
          <a:xfrm>
            <a:off x="144650" y="20176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“Sem o dashboard, a gente não sabe onde agir. Com ele, a gente prioriza com decisão.”</a:t>
            </a:r>
            <a:endParaRPr sz="1200">
              <a:solidFill>
                <a:srgbClr val="B7B7B7"/>
              </a:solidFill>
            </a:endParaRPr>
          </a:p>
        </p:txBody>
      </p:sp>
      <p:sp>
        <p:nvSpPr>
          <p:cNvPr id="85" name="Google Shape;85;g3d48dbee20f_0_364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Painel único e interativo, que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consolida</a:t>
            </a: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as quatro métricas para todos os repositórios webview</a:t>
            </a:r>
            <a:endParaRPr i="0" sz="1200" u="none" cap="none" strike="noStrike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8dbee20f_0_26"/>
          <p:cNvSpPr/>
          <p:nvPr/>
        </p:nvSpPr>
        <p:spPr>
          <a:xfrm>
            <a:off x="4933563" y="2771250"/>
            <a:ext cx="1655400" cy="9417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48dbee20f_0_26"/>
          <p:cNvSpPr/>
          <p:nvPr/>
        </p:nvSpPr>
        <p:spPr>
          <a:xfrm>
            <a:off x="359625" y="2771250"/>
            <a:ext cx="1655400" cy="941700"/>
          </a:xfrm>
          <a:prstGeom prst="rect">
            <a:avLst/>
          </a:prstGeom>
          <a:noFill/>
          <a:ln cap="flat" cmpd="sng" w="9525">
            <a:solidFill>
              <a:srgbClr val="F4CC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48dbee20f_0_26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Panorama Atual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Onde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agir </a:t>
            </a: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com base no 45% do total inspecionado?</a:t>
            </a:r>
            <a:endParaRPr i="0" sz="1200" u="none" cap="none" strike="noStrike">
              <a:solidFill>
                <a:srgbClr val="B7B7B7"/>
              </a:solidFill>
            </a:endParaRPr>
          </a:p>
        </p:txBody>
      </p:sp>
      <p:sp>
        <p:nvSpPr>
          <p:cNvPr id="93" name="Google Shape;93;g3d48dbee20f_0_26"/>
          <p:cNvSpPr txBox="1"/>
          <p:nvPr>
            <p:ph idx="4294967295" type="ctrTitle"/>
          </p:nvPr>
        </p:nvSpPr>
        <p:spPr>
          <a:xfrm>
            <a:off x="2935500" y="1177105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60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86%</a:t>
            </a:r>
            <a:endParaRPr b="0" i="0" sz="6000" u="none" cap="none" strike="noStrike">
              <a:solidFill>
                <a:srgbClr val="FFF2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d48dbee20f_0_26"/>
          <p:cNvSpPr txBox="1"/>
          <p:nvPr>
            <p:ph idx="4294967295" type="ctrTitle"/>
          </p:nvPr>
        </p:nvSpPr>
        <p:spPr>
          <a:xfrm>
            <a:off x="3352050" y="2024562"/>
            <a:ext cx="216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Média Total</a:t>
            </a:r>
            <a:endParaRPr b="1" i="0" sz="1600" u="none" cap="none" strike="noStrike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g3d48dbee20f_0_26"/>
          <p:cNvSpPr txBox="1"/>
          <p:nvPr>
            <p:ph idx="4294967295" type="ctrTitle"/>
          </p:nvPr>
        </p:nvSpPr>
        <p:spPr>
          <a:xfrm>
            <a:off x="82272" y="2869582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1" sz="2000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g3d48dbee20f_0_26"/>
          <p:cNvSpPr txBox="1"/>
          <p:nvPr>
            <p:ph idx="4294967295" type="ctrTitle"/>
          </p:nvPr>
        </p:nvSpPr>
        <p:spPr>
          <a:xfrm>
            <a:off x="2369272" y="2877619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0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96</a:t>
            </a:r>
            <a:r>
              <a:rPr lang="pt-BR" sz="20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sz="2000">
              <a:solidFill>
                <a:srgbClr val="D9EAD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g3d48dbee20f_0_26"/>
          <p:cNvSpPr txBox="1"/>
          <p:nvPr>
            <p:ph idx="4294967295" type="ctrTitle"/>
          </p:nvPr>
        </p:nvSpPr>
        <p:spPr>
          <a:xfrm>
            <a:off x="4656272" y="2877619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0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97%</a:t>
            </a:r>
            <a:endParaRPr sz="2000">
              <a:solidFill>
                <a:srgbClr val="D9EAD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Accessibility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d48dbee20f_0_26"/>
          <p:cNvSpPr txBox="1"/>
          <p:nvPr>
            <p:ph idx="4294967295" type="ctrTitle"/>
          </p:nvPr>
        </p:nvSpPr>
        <p:spPr>
          <a:xfrm>
            <a:off x="6851647" y="2877619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0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88%</a:t>
            </a:r>
            <a:endParaRPr sz="2000">
              <a:solidFill>
                <a:srgbClr val="FFF2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Seo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g3d48dbee20f_0_26"/>
          <p:cNvSpPr txBox="1"/>
          <p:nvPr/>
        </p:nvSpPr>
        <p:spPr>
          <a:xfrm>
            <a:off x="359700" y="3712875"/>
            <a:ext cx="1655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⚠️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9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Principal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oportunidade de melhoria. O dashboard identifica exatamente </a:t>
            </a:r>
            <a:r>
              <a:rPr b="1" lang="pt-BR" sz="9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quais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repositórios priorizar.</a:t>
            </a:r>
            <a:endParaRPr sz="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d48dbee20f_0_26"/>
          <p:cNvSpPr/>
          <p:nvPr/>
        </p:nvSpPr>
        <p:spPr>
          <a:xfrm>
            <a:off x="2621263" y="2771250"/>
            <a:ext cx="1655400" cy="9417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48dbee20f_0_26"/>
          <p:cNvSpPr/>
          <p:nvPr/>
        </p:nvSpPr>
        <p:spPr>
          <a:xfrm>
            <a:off x="7128988" y="2771250"/>
            <a:ext cx="1655400" cy="9417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8dbee20f_0_5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que o dashboard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oferece</a:t>
            </a:r>
            <a:r>
              <a:rPr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g3d48dbee20f_0_52"/>
          <p:cNvSpPr/>
          <p:nvPr/>
        </p:nvSpPr>
        <p:spPr>
          <a:xfrm>
            <a:off x="383400" y="1725900"/>
            <a:ext cx="4260000" cy="169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48dbee20f_0_52"/>
          <p:cNvSpPr/>
          <p:nvPr/>
        </p:nvSpPr>
        <p:spPr>
          <a:xfrm>
            <a:off x="383398" y="1725910"/>
            <a:ext cx="63900" cy="169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48dbee20f_0_52"/>
          <p:cNvSpPr/>
          <p:nvPr/>
        </p:nvSpPr>
        <p:spPr>
          <a:xfrm>
            <a:off x="566278" y="18173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Visão </a:t>
            </a:r>
            <a:r>
              <a:rPr lang="pt-BR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Executiva</a:t>
            </a:r>
            <a:endParaRPr i="0" sz="1400" u="none" cap="none" strike="noStrike">
              <a:solidFill>
                <a:srgbClr val="FCE5C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g3d48dbee20f_0_52"/>
          <p:cNvSpPr/>
          <p:nvPr/>
        </p:nvSpPr>
        <p:spPr>
          <a:xfrm>
            <a:off x="566278" y="220139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KPIs e </a:t>
            </a:r>
            <a:r>
              <a:rPr lang="pt-BR" sz="1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comparativo histórico de evolução</a:t>
            </a:r>
            <a:endParaRPr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d48dbee20f_0_52"/>
          <p:cNvSpPr/>
          <p:nvPr/>
        </p:nvSpPr>
        <p:spPr>
          <a:xfrm>
            <a:off x="566278" y="256715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Estruturas mais críticas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d48dbee20f_0_52"/>
          <p:cNvSpPr/>
          <p:nvPr/>
        </p:nvSpPr>
        <p:spPr>
          <a:xfrm>
            <a:off x="566278" y="293291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xx</a:t>
            </a:r>
            <a:endParaRPr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3d48dbee20f_0_52"/>
          <p:cNvSpPr/>
          <p:nvPr/>
        </p:nvSpPr>
        <p:spPr>
          <a:xfrm>
            <a:off x="5028450" y="948450"/>
            <a:ext cx="3749100" cy="3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Distribuição das Pontuações:  Número de Repositórios x Score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Ex: Há 7 repositórios com score médio de 70%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Desempenho das RTs: Dispersão x Cobertura: Número de Repositórios x Média? Não entendi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 5 RTs x Bottom 5 RTs uma do lado da outra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Ranking  de Cobertura por RT - qual o % de cobertura por RT? Isso é importante pq baixa cobertura e alto score é ilusório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Alta média + alta variância -&gt; risco escondido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Baixa média + alta variância -&gt; crítico 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Baixa cobertura -&gt; Baixa confiabilidade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Recomendações: 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Priorizar RTs com baixa performance e alta cobertura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Investigar RTs com alta variabilidade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Expandir cobertura nas RTs com pouca visibilidade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8dbee20f_0_31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que o dashboard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oferece</a:t>
            </a:r>
            <a:r>
              <a:rPr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d48dbee20f_0_312"/>
          <p:cNvSpPr/>
          <p:nvPr/>
        </p:nvSpPr>
        <p:spPr>
          <a:xfrm>
            <a:off x="383400" y="1725900"/>
            <a:ext cx="4260000" cy="169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48dbee20f_0_312"/>
          <p:cNvSpPr/>
          <p:nvPr/>
        </p:nvSpPr>
        <p:spPr>
          <a:xfrm>
            <a:off x="383398" y="1725910"/>
            <a:ext cx="63900" cy="169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48dbee20f_0_312"/>
          <p:cNvSpPr/>
          <p:nvPr/>
        </p:nvSpPr>
        <p:spPr>
          <a:xfrm>
            <a:off x="566278" y="18173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Visão Geral Consolidada</a:t>
            </a:r>
            <a:endParaRPr i="0" sz="1400" u="none" cap="none" strike="noStrike">
              <a:solidFill>
                <a:srgbClr val="FCE5C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2" name="Google Shape;122;g3d48dbee20f_0_312"/>
          <p:cNvSpPr/>
          <p:nvPr/>
        </p:nvSpPr>
        <p:spPr>
          <a:xfrm>
            <a:off x="566278" y="220139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Repositórios com Scores por Métrica e Média Total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3d48dbee20f_0_312"/>
          <p:cNvSpPr/>
          <p:nvPr/>
        </p:nvSpPr>
        <p:spPr>
          <a:xfrm>
            <a:off x="566278" y="256715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Call-To-Action (Hiperlink)</a:t>
            </a:r>
            <a:endParaRPr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d48dbee20f_0_312"/>
          <p:cNvSpPr/>
          <p:nvPr/>
        </p:nvSpPr>
        <p:spPr>
          <a:xfrm>
            <a:off x="566278" y="3029343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% Cobertura Lighthouse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FF6B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8dbee20f_0_328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que o dashboard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oferece</a:t>
            </a:r>
            <a:r>
              <a:rPr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d48dbee20f_0_328"/>
          <p:cNvSpPr/>
          <p:nvPr/>
        </p:nvSpPr>
        <p:spPr>
          <a:xfrm>
            <a:off x="383400" y="1725900"/>
            <a:ext cx="4260000" cy="169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48dbee20f_0_328"/>
          <p:cNvSpPr/>
          <p:nvPr/>
        </p:nvSpPr>
        <p:spPr>
          <a:xfrm>
            <a:off x="383398" y="1725910"/>
            <a:ext cx="63900" cy="169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48dbee20f_0_328"/>
          <p:cNvSpPr/>
          <p:nvPr/>
        </p:nvSpPr>
        <p:spPr>
          <a:xfrm>
            <a:off x="566278" y="18173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Segmentação Avançada</a:t>
            </a:r>
            <a:endParaRPr i="0" sz="1400" u="none" cap="none" strike="noStrike">
              <a:solidFill>
                <a:srgbClr val="FCE5C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3" name="Google Shape;133;g3d48dbee20f_0_328"/>
          <p:cNvSpPr/>
          <p:nvPr/>
        </p:nvSpPr>
        <p:spPr>
          <a:xfrm>
            <a:off x="566278" y="220139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Filtros por Comunidade, RT e Sigla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d48dbee20f_0_328"/>
          <p:cNvSpPr/>
          <p:nvPr/>
        </p:nvSpPr>
        <p:spPr>
          <a:xfrm>
            <a:off x="566278" y="256715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Visão por SuperApp e FrontRunners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g3d48dbee20f_0_328"/>
          <p:cNvSpPr/>
          <p:nvPr/>
        </p:nvSpPr>
        <p:spPr>
          <a:xfrm>
            <a:off x="566278" y="293291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Ranking por média de repositório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48dbee20f_0_344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que o dashboard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oferece</a:t>
            </a:r>
            <a:r>
              <a:rPr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d48dbee20f_0_344"/>
          <p:cNvSpPr/>
          <p:nvPr/>
        </p:nvSpPr>
        <p:spPr>
          <a:xfrm>
            <a:off x="383400" y="1725900"/>
            <a:ext cx="4259700" cy="169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48dbee20f_0_344"/>
          <p:cNvSpPr/>
          <p:nvPr/>
        </p:nvSpPr>
        <p:spPr>
          <a:xfrm>
            <a:off x="383398" y="1725910"/>
            <a:ext cx="63900" cy="169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48dbee20f_0_344"/>
          <p:cNvSpPr/>
          <p:nvPr/>
        </p:nvSpPr>
        <p:spPr>
          <a:xfrm>
            <a:off x="566278" y="18173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Inteligência para Ação</a:t>
            </a:r>
            <a:endParaRPr i="0" sz="1400" u="none" cap="none" strike="noStrike">
              <a:solidFill>
                <a:srgbClr val="FCE5C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g3d48dbee20f_0_344"/>
          <p:cNvSpPr/>
          <p:nvPr/>
        </p:nvSpPr>
        <p:spPr>
          <a:xfrm>
            <a:off x="566278" y="220139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Timestamps de cada medição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g3d48dbee20f_0_344"/>
          <p:cNvSpPr/>
          <p:nvPr/>
        </p:nvSpPr>
        <p:spPr>
          <a:xfrm>
            <a:off x="566278" y="256715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 do time responsável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d48dbee20f_0_344"/>
          <p:cNvSpPr/>
          <p:nvPr/>
        </p:nvSpPr>
        <p:spPr>
          <a:xfrm>
            <a:off x="566278" y="293291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Priorização baseada em impacto real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8dbee20f_0_371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que o dashboard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oferece</a:t>
            </a:r>
            <a:r>
              <a:rPr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d48dbee20f_0_371"/>
          <p:cNvSpPr/>
          <p:nvPr/>
        </p:nvSpPr>
        <p:spPr>
          <a:xfrm>
            <a:off x="383400" y="1725900"/>
            <a:ext cx="4260000" cy="169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48dbee20f_0_371"/>
          <p:cNvSpPr/>
          <p:nvPr/>
        </p:nvSpPr>
        <p:spPr>
          <a:xfrm>
            <a:off x="383398" y="1725910"/>
            <a:ext cx="63900" cy="169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48dbee20f_0_371"/>
          <p:cNvSpPr/>
          <p:nvPr/>
        </p:nvSpPr>
        <p:spPr>
          <a:xfrm>
            <a:off x="566278" y="18173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CE5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Qualidade e Melhorias</a:t>
            </a:r>
            <a:endParaRPr i="0" sz="1400" u="none" cap="none" strike="noStrike">
              <a:solidFill>
                <a:srgbClr val="FCE5C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g3d48dbee20f_0_371"/>
          <p:cNvSpPr/>
          <p:nvPr/>
        </p:nvSpPr>
        <p:spPr>
          <a:xfrm>
            <a:off x="566278" y="220139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Documentações de Tabelas e Processos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d48dbee20f_0_371"/>
          <p:cNvSpPr/>
          <p:nvPr/>
        </p:nvSpPr>
        <p:spPr>
          <a:xfrm>
            <a:off x="566275" y="2567150"/>
            <a:ext cx="4005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Caderno de Testes (retorno esperado x retorno obtido)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d48dbee20f_0_371"/>
          <p:cNvSpPr/>
          <p:nvPr/>
        </p:nvSpPr>
        <p:spPr>
          <a:xfrm>
            <a:off x="566278" y="2932918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Backlog de melhorias na origem dos dados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8dbee20f_0_12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Por que isso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d48dbee20f_0_122"/>
          <p:cNvSpPr txBox="1"/>
          <p:nvPr>
            <p:ph idx="1" type="subTitle"/>
          </p:nvPr>
        </p:nvSpPr>
        <p:spPr>
          <a:xfrm>
            <a:off x="0" y="1174650"/>
            <a:ext cx="914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“Você não pode </a:t>
            </a:r>
            <a:r>
              <a:rPr b="1" lang="pt-BR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melhorar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aquilo que não consegue </a:t>
            </a:r>
            <a:r>
              <a:rPr b="1" lang="pt-BR" sz="16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medir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.”</a:t>
            </a:r>
            <a:endParaRPr sz="1600">
              <a:solidFill>
                <a:srgbClr val="FCE5C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4" name="Google Shape;164;g3d48dbee20f_0_122"/>
          <p:cNvSpPr/>
          <p:nvPr/>
        </p:nvSpPr>
        <p:spPr>
          <a:xfrm>
            <a:off x="43430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48dbee20f_0_122"/>
          <p:cNvSpPr/>
          <p:nvPr/>
        </p:nvSpPr>
        <p:spPr>
          <a:xfrm>
            <a:off x="43430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48dbee20f_0_122"/>
          <p:cNvSpPr/>
          <p:nvPr/>
        </p:nvSpPr>
        <p:spPr>
          <a:xfrm>
            <a:off x="43430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Decisão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Estratégica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d48dbee20f_0_122"/>
          <p:cNvSpPr/>
          <p:nvPr/>
        </p:nvSpPr>
        <p:spPr>
          <a:xfrm>
            <a:off x="502400" y="2961200"/>
            <a:ext cx="2469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i="0" lang="pt-BR" sz="1200" u="none" cap="none" strike="noStrike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Saiba exatamente quais times e apps precisam de atenção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antes</a:t>
            </a:r>
            <a:r>
              <a:rPr i="0" lang="pt-BR" sz="1200" u="none" cap="none" strike="noStrike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 que impactem o usuário final. </a:t>
            </a:r>
            <a:endParaRPr i="0" sz="1200" u="none" cap="none" strike="noStrike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i="0" lang="pt-BR" sz="1200" u="none" cap="none" strike="noStrike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Priorize com base em dados, não em achismos.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d48dbee20f_0_122"/>
          <p:cNvSpPr/>
          <p:nvPr/>
        </p:nvSpPr>
        <p:spPr>
          <a:xfrm>
            <a:off x="326895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48dbee20f_0_122"/>
          <p:cNvSpPr/>
          <p:nvPr/>
        </p:nvSpPr>
        <p:spPr>
          <a:xfrm>
            <a:off x="3337050" y="3144578"/>
            <a:ext cx="24699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Cada repositório tem um time e uma sigla. 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A liderança enxerga o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desempenho</a:t>
            </a: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 de cada squad.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g3d48dbee20f_0_122"/>
          <p:cNvSpPr/>
          <p:nvPr/>
        </p:nvSpPr>
        <p:spPr>
          <a:xfrm>
            <a:off x="617170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48dbee20f_0_122"/>
          <p:cNvSpPr/>
          <p:nvPr/>
        </p:nvSpPr>
        <p:spPr>
          <a:xfrm>
            <a:off x="6239800" y="2969237"/>
            <a:ext cx="2469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Apps com performance 0% e acessibilidade crítica representam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risco</a:t>
            </a: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 de compliance.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O dashboard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antecipa</a:t>
            </a: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 esses riscos.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3d48dbee20f_0_122"/>
          <p:cNvSpPr/>
          <p:nvPr/>
        </p:nvSpPr>
        <p:spPr>
          <a:xfrm>
            <a:off x="326895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48dbee20f_0_122"/>
          <p:cNvSpPr/>
          <p:nvPr/>
        </p:nvSpPr>
        <p:spPr>
          <a:xfrm>
            <a:off x="326895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Responsabilização</a:t>
            </a:r>
            <a:r>
              <a:rPr lang="pt-BR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Clara</a:t>
            </a:r>
            <a:endParaRPr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4" name="Google Shape;174;g3d48dbee20f_0_122"/>
          <p:cNvSpPr/>
          <p:nvPr/>
        </p:nvSpPr>
        <p:spPr>
          <a:xfrm>
            <a:off x="617170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48dbee20f_0_122"/>
          <p:cNvSpPr/>
          <p:nvPr/>
        </p:nvSpPr>
        <p:spPr>
          <a:xfrm>
            <a:off x="617170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Redução de </a:t>
            </a:r>
            <a:r>
              <a:rPr b="1"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Risco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8dbee20f_0_174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1600">
                <a:solidFill>
                  <a:srgbClr val="CFE2F3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Próximos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Passos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3d48dbee20f_0_174"/>
          <p:cNvSpPr/>
          <p:nvPr/>
        </p:nvSpPr>
        <p:spPr>
          <a:xfrm>
            <a:off x="365710" y="94959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48dbee20f_0_174"/>
          <p:cNvSpPr/>
          <p:nvPr/>
        </p:nvSpPr>
        <p:spPr>
          <a:xfrm>
            <a:off x="1188670" y="981451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Ampliar </a:t>
            </a:r>
            <a:r>
              <a:rPr i="0" lang="pt-BR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Cobertura</a:t>
            </a:r>
            <a:endParaRPr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3" name="Google Shape;183;g3d48dbee20f_0_174"/>
          <p:cNvSpPr/>
          <p:nvPr/>
        </p:nvSpPr>
        <p:spPr>
          <a:xfrm>
            <a:off x="1188670" y="1301491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Aumentar de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569</a:t>
            </a: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para 100% dos 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1.273</a:t>
            </a: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repositórios webview inspecionados ativamente</a:t>
            </a:r>
            <a:endParaRPr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d48dbee20f_0_174"/>
          <p:cNvSpPr/>
          <p:nvPr/>
        </p:nvSpPr>
        <p:spPr>
          <a:xfrm>
            <a:off x="5669230" y="1144885"/>
            <a:ext cx="2834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Meta: </a:t>
            </a:r>
            <a:r>
              <a:rPr b="1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+100%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epos 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nspecionados</a:t>
            </a:r>
            <a:endParaRPr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d48dbee20f_0_174"/>
          <p:cNvSpPr/>
          <p:nvPr/>
        </p:nvSpPr>
        <p:spPr>
          <a:xfrm>
            <a:off x="365710" y="190971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48dbee20f_0_174"/>
          <p:cNvSpPr/>
          <p:nvPr/>
        </p:nvSpPr>
        <p:spPr>
          <a:xfrm>
            <a:off x="1188670" y="1933534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Performance </a:t>
            </a:r>
            <a:r>
              <a:rPr i="0" lang="pt-BR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80%</a:t>
            </a:r>
            <a:endParaRPr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g3d48dbee20f_0_174"/>
          <p:cNvSpPr/>
          <p:nvPr/>
        </p:nvSpPr>
        <p:spPr>
          <a:xfrm>
            <a:off x="1188675" y="2253563"/>
            <a:ext cx="427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Endereçar os repositórios com 0% de performance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Quick Win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: baixa performance e 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acessibilidade</a:t>
            </a: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d48dbee20f_0_174"/>
          <p:cNvSpPr/>
          <p:nvPr/>
        </p:nvSpPr>
        <p:spPr>
          <a:xfrm>
            <a:off x="5669230" y="2110853"/>
            <a:ext cx="2834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Score atual: 62% → Meta: </a:t>
            </a:r>
            <a:r>
              <a:rPr b="1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80%+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d48dbee20f_0_174"/>
          <p:cNvSpPr/>
          <p:nvPr/>
        </p:nvSpPr>
        <p:spPr>
          <a:xfrm>
            <a:off x="365710" y="286983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48dbee20f_0_174"/>
          <p:cNvSpPr/>
          <p:nvPr/>
        </p:nvSpPr>
        <p:spPr>
          <a:xfrm>
            <a:off x="1188670" y="2901691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Alertas</a:t>
            </a:r>
            <a:r>
              <a:rPr i="0" lang="pt-BR" sz="1400" u="none" cap="none" strike="noStrike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Automáticos</a:t>
            </a:r>
            <a:endParaRPr i="0" sz="1400" u="none" cap="none" strike="noStrike">
              <a:solidFill>
                <a:srgbClr val="D9D9D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1" name="Google Shape;191;g3d48dbee20f_0_174"/>
          <p:cNvSpPr/>
          <p:nvPr/>
        </p:nvSpPr>
        <p:spPr>
          <a:xfrm>
            <a:off x="1188670" y="3221731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Implementar notificações quando scores caírem abaixo do threshold acordado por time</a:t>
            </a:r>
            <a:endParaRPr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d48dbee20f_0_174"/>
          <p:cNvSpPr/>
          <p:nvPr/>
        </p:nvSpPr>
        <p:spPr>
          <a:xfrm>
            <a:off x="5669230" y="3070973"/>
            <a:ext cx="2834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Prevenção </a:t>
            </a:r>
            <a:r>
              <a:rPr b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roativa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egressões</a:t>
            </a:r>
            <a:endParaRPr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d48dbee20f_0_174"/>
          <p:cNvSpPr/>
          <p:nvPr/>
        </p:nvSpPr>
        <p:spPr>
          <a:xfrm>
            <a:off x="365710" y="382995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48dbee20f_0_174"/>
          <p:cNvSpPr/>
          <p:nvPr/>
        </p:nvSpPr>
        <p:spPr>
          <a:xfrm>
            <a:off x="1188670" y="3877885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pt-BR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OKRs</a:t>
            </a:r>
            <a:r>
              <a:rPr i="0" lang="pt-BR" sz="1400" u="none" cap="none" strike="noStrike">
                <a:solidFill>
                  <a:srgbClr val="D9D9D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 Qualidade</a:t>
            </a:r>
            <a:endParaRPr i="0" sz="1400" u="none" cap="none" strike="noStrike">
              <a:solidFill>
                <a:srgbClr val="D9D9D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5" name="Google Shape;195;g3d48dbee20f_0_174"/>
          <p:cNvSpPr/>
          <p:nvPr/>
        </p:nvSpPr>
        <p:spPr>
          <a:xfrm>
            <a:off x="1188670" y="4197925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i="0" lang="pt-BR" sz="11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Utilizar o dashboard como base para definição e acompanhamento de OKRs técnicos por comunidade</a:t>
            </a:r>
            <a:endParaRPr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d48dbee20f_0_174"/>
          <p:cNvSpPr/>
          <p:nvPr/>
        </p:nvSpPr>
        <p:spPr>
          <a:xfrm>
            <a:off x="5669230" y="4031105"/>
            <a:ext cx="2834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Governança de 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ualidade </a:t>
            </a:r>
            <a:r>
              <a:rPr b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scalável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d48dbee20f_0_174"/>
          <p:cNvSpPr/>
          <p:nvPr/>
        </p:nvSpPr>
        <p:spPr>
          <a:xfrm>
            <a:off x="365710" y="949565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000" u="none" cap="none" strike="noStrike">
              <a:solidFill>
                <a:srgbClr val="CF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48dbee20f_0_174"/>
          <p:cNvSpPr/>
          <p:nvPr/>
        </p:nvSpPr>
        <p:spPr>
          <a:xfrm>
            <a:off x="365710" y="1909703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pt-BR" sz="2000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000" u="none" cap="none" strike="noStrike">
              <a:solidFill>
                <a:srgbClr val="CF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48dbee20f_0_174"/>
          <p:cNvSpPr/>
          <p:nvPr/>
        </p:nvSpPr>
        <p:spPr>
          <a:xfrm>
            <a:off x="365710" y="2869828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pt-BR" sz="2000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000" u="none" cap="none" strike="noStrike">
              <a:solidFill>
                <a:srgbClr val="CF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48dbee20f_0_174"/>
          <p:cNvSpPr/>
          <p:nvPr/>
        </p:nvSpPr>
        <p:spPr>
          <a:xfrm>
            <a:off x="365710" y="3829953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pt-BR" sz="2000">
                <a:solidFill>
                  <a:srgbClr val="CFE2F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000" u="none" cap="none" strike="noStrike">
              <a:solidFill>
                <a:srgbClr val="CF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