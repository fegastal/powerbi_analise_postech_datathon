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5143500" cx="9144000"/>
  <p:notesSz cx="6858000" cy="9144000"/>
  <p:embeddedFontLst>
    <p:embeddedFont>
      <p:font typeface="Montserrat"/>
      <p:regular r:id="rId35"/>
      <p:bold r:id="rId36"/>
      <p:italic r:id="rId37"/>
      <p:boldItalic r:id="rId38"/>
    </p:embeddedFont>
    <p:embeddedFont>
      <p:font typeface="Montserrat Light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Light-bold.fntdata"/><Relationship Id="rId20" Type="http://schemas.openxmlformats.org/officeDocument/2006/relationships/slide" Target="slides/slide15.xml"/><Relationship Id="rId42" Type="http://schemas.openxmlformats.org/officeDocument/2006/relationships/font" Target="fonts/MontserratLight-boldItalic.fntdata"/><Relationship Id="rId41" Type="http://schemas.openxmlformats.org/officeDocument/2006/relationships/font" Target="fonts/MontserratLight-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Montserrat-italic.fntdata"/><Relationship Id="rId14" Type="http://schemas.openxmlformats.org/officeDocument/2006/relationships/slide" Target="slides/slide9.xml"/><Relationship Id="rId36" Type="http://schemas.openxmlformats.org/officeDocument/2006/relationships/font" Target="fonts/Montserrat-bold.fntdata"/><Relationship Id="rId17" Type="http://schemas.openxmlformats.org/officeDocument/2006/relationships/slide" Target="slides/slide12.xml"/><Relationship Id="rId39" Type="http://schemas.openxmlformats.org/officeDocument/2006/relationships/font" Target="fonts/MontserratLight-regular.fntdata"/><Relationship Id="rId16" Type="http://schemas.openxmlformats.org/officeDocument/2006/relationships/slide" Target="slides/slide11.xml"/><Relationship Id="rId38" Type="http://schemas.openxmlformats.org/officeDocument/2006/relationships/font" Target="fonts/Montserrat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“Hoje, informação não falta.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O que falta é conseguir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transformar informação em decisão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no tempo certo.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O StackPulse nasce exatamente para isso: ser uma visão unificada de indicadores, pendências e riscos — em tempo real — para apoiar decisão com confiança.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2f4fbb6b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2f4fbb6b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Antes de falar da solução, eu queria mostrar o contexto que nos trouxe até aqui.”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2f4fbb6b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2f4fbb6b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highlight>
                  <a:srgbClr val="FFFF00"/>
                </a:highlight>
              </a:rPr>
              <a:t>“Em um primeiro momento, foi importante entender se a minha percepção refletia a realidade de quem vive esse cenário no dia a dia.</a:t>
            </a:r>
            <a:endParaRPr sz="1200"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00">
                <a:highlight>
                  <a:srgbClr val="FFFF00"/>
                </a:highlight>
              </a:rPr>
              <a:t>O que aparece aqui é o panorama atual -&gt; muito tempo consumido com atividades manuais, operacionais e repetitivas, que acaba reduzindo a capacidade dos times de focar no que realmente gera valor para o cliente.</a:t>
            </a:r>
            <a:endParaRPr sz="1200"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dk1"/>
                </a:solidFill>
              </a:rPr>
              <a:t>“O que eu NÃO recomendo dizer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</a:rPr>
              <a:t>Evita: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>
                <a:solidFill>
                  <a:schemeClr val="dk1"/>
                </a:solidFill>
              </a:rPr>
              <a:t>“eu senti que…”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>
                <a:solidFill>
                  <a:schemeClr val="dk1"/>
                </a:solidFill>
              </a:rPr>
              <a:t>“me parecia que…”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pt-BR">
                <a:solidFill>
                  <a:schemeClr val="dk1"/>
                </a:solidFill>
              </a:rPr>
              <a:t>“na minha visão…”</a:t>
            </a:r>
            <a:br>
              <a:rPr lang="pt-B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Você não está </a:t>
            </a:r>
            <a:r>
              <a:rPr b="1" lang="pt-BR">
                <a:solidFill>
                  <a:schemeClr val="dk1"/>
                </a:solidFill>
              </a:rPr>
              <a:t>opinando</a:t>
            </a:r>
            <a:r>
              <a:rPr lang="pt-BR">
                <a:solidFill>
                  <a:schemeClr val="dk1"/>
                </a:solidFill>
              </a:rPr>
              <a:t>, está </a:t>
            </a:r>
            <a:r>
              <a:rPr b="1" lang="pt-BR">
                <a:solidFill>
                  <a:schemeClr val="dk1"/>
                </a:solidFill>
              </a:rPr>
              <a:t>investigando</a:t>
            </a:r>
            <a:r>
              <a:rPr lang="pt-BR">
                <a:solidFill>
                  <a:schemeClr val="dk1"/>
                </a:solidFill>
              </a:rPr>
              <a:t>.”</a:t>
            </a:r>
            <a:endParaRPr sz="1200">
              <a:highlight>
                <a:srgbClr val="FFFF00"/>
              </a:highlight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2f4fbb6b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2f4fbb6b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highlight>
                  <a:srgbClr val="FFFF00"/>
                </a:highlight>
              </a:rPr>
              <a:t>A partir disso, eu formulei hipóteses sobre onde estavam os principais gargalos — e foi isso que motivou a pesquisa.”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2f4fbb6b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2f4fbb6b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A hipótese é que hoje a informação existe, mas está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dispersa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depende muito de especialistas e muda rápido demais para sustentar decisões em todos os níveis.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Isso faz com que cada nível da organização faça perguntas diferentes — não porque pensa diferente, mas porque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enxerga partes diferentes do mesmo problema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Aqui eu organizei essas hipóteses por personas: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</a:b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o operacional técnico precisa agir agora,</a:t>
            </a:r>
            <a:b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</a:b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a governança precisa consolidar e priorizar,</a:t>
            </a:r>
            <a:b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</a:b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a liderança tática precisa justificar escolhas,</a:t>
            </a:r>
            <a:b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</a:b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e a executiva precisa decidir com base em risco e impacto.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A pergunta que ficou foi: </a:t>
            </a:r>
            <a:r>
              <a:rPr i="1" lang="pt-BR">
                <a:solidFill>
                  <a:schemeClr val="dk1"/>
                </a:solidFill>
                <a:highlight>
                  <a:srgbClr val="FFFF00"/>
                </a:highlight>
              </a:rPr>
              <a:t>o quanto o modelo atual consegue atender todos esses níveis ao mesmo tempo?</a:t>
            </a:r>
            <a:endParaRPr i="1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2f4fbb6b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2f4fbb6b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A pesquisa que vem a seguir foi feita justamente para validar ou refutar essa hipótese.”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2f4fbb6bf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b2f4fbb6bf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“Antes de entrar nos dados, é importante contextualizar quem respondeu essa pesquisa.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</a:b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Estamos falando de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36 respondentes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majoritariamente da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CIO1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mas com participação de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outras comunidades e diretorias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O mais relevante aqui é o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perfil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: temos uma concentração forte de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operacionais técnicos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lideranças táticas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e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governança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— ou seja, pessoas que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executam, consolidam e precisam decidir com base nesses dados todos os dias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Isso dá segurança de que os pontos que vou mostrar a seguir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não são teóricos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e nem pontuais — eles refletem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a experiência real de quem vive esse problema na prática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>
              <a:highlight>
                <a:srgbClr val="FFFF00"/>
              </a:highlight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2f4fbb6bf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2f4fbb6bf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Quando a gente olha os dados, fica claro que o problema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não é pontual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— ele é sistêmico.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2f4fbb6bf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b2f4fbb6bf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Primeiro: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tempo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b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</a:b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Mais de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60% leva mais de 10 minutos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para obter uma informação confiável, e isso acontece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toda semana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— não é exceção, é rotina.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Segundo: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dependência de pessoas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b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</a:b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78% ainda precisam de intermediação humana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para confirmar informação. O conhecimento está concentrado em pessoas, não em sistema.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Terceiro: isso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já impacta decisão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b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</a:b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Planejamento, priorização e tomada de decisão estão sendo feitas com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fricção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o que empurra a organização para um modelo mais reativo.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E por fim, a repetição: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81% percebem as mesmas dúvidas voltando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b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</a:b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Isso mostra que o problema não está sendo resolvido na origem. Ele só é contornado, gerando retrabalho e consumo de governança.</a:t>
            </a:r>
            <a:endParaRPr b="1" sz="1000">
              <a:solidFill>
                <a:schemeClr val="dk1"/>
              </a:solidFill>
              <a:highlight>
                <a:srgbClr val="FFFF00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2f4fbb6bf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2f4fbb6b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“Quando a gente cruza as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dores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com o que as pessoas dizem que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já funciona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e com o que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elas esperam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como cenário ideal, surgem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quatro oportunidades claras de geração de valor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2f4fbb6bf_0_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g3b2f4fbb6bf_0_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Mas é importante ressaltar que elas não substituem o que já funciona. Elas estruturam, conectam e escalam o que já existe.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A primeira é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centralização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b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</a:b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Mais da metade quer acessar tudo em um único lugar para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reduzir dispersão e perda de contexto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A segunda é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informação confiável para decisão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b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</a:b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O dado já existe, mas ainda exige validação manual para a maioria. O ganho aqui é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decidir mais rápido, com menos retrabalho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A terceira é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informação com direcionamento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b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</a:b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Quase 40% sentem </a:t>
            </a:r>
            <a:r>
              <a:rPr lang="pt-BR" u="sng">
                <a:solidFill>
                  <a:schemeClr val="dk1"/>
                </a:solidFill>
                <a:highlight>
                  <a:srgbClr val="FFFF00"/>
                </a:highlight>
              </a:rPr>
              <a:t>falta 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de impacto, prioridade e próximos passos claros — isso explica por que o planejamento hoje é mais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reativo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E a quarta é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escala com menos dependência de pessoas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b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</a:b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A intermediação funciona, mas não escala. Existe uma oportunidade clara de estruturar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autosserviço confiável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sem perder governança.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O ponto importante é: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não estamos partindo do zero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b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</a:b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A oportunidade aqui é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organizar, conectar e escalar o que já existe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.”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2f4fbb6bf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b2f4fbb6b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“Dado esse cenário, a proposta aqui não é adicionar mais uma ferramenta.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2f4fbb6bf_0_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b2f4fbb6bf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O StackPulse representa um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modelo-alvo de</a:t>
            </a:r>
            <a:r>
              <a:rPr b="1" lang="pt-BR" u="sng">
                <a:solidFill>
                  <a:schemeClr val="dk1"/>
                </a:solidFill>
                <a:highlight>
                  <a:srgbClr val="FFFF00"/>
                </a:highlight>
              </a:rPr>
              <a:t> como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 a informação deveria funcionar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Hoje, as pessoas precisam consultar pendências, entender impacto, priorizar e decidir — mas fazem isso navegando por múltiplas fontes, dependentes de validação humana.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A proposta de valor do StackPulse é </a:t>
            </a:r>
            <a:r>
              <a:rPr b="1" lang="pt-BR" u="sng">
                <a:solidFill>
                  <a:schemeClr val="dk1"/>
                </a:solidFill>
                <a:highlight>
                  <a:srgbClr val="FFFF00"/>
                </a:highlight>
              </a:rPr>
              <a:t>reduzir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 horas de busca para </a:t>
            </a:r>
            <a:r>
              <a:rPr b="1" lang="pt-BR" u="sng">
                <a:solidFill>
                  <a:schemeClr val="dk1"/>
                </a:solidFill>
                <a:highlight>
                  <a:srgbClr val="FFFF00"/>
                </a:highlight>
              </a:rPr>
              <a:t>segundos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consolidando indicadores oficiais em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um único canal inteligente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já conectado ao StackSpot.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highlight>
                  <a:srgbClr val="FFFF00"/>
                </a:highlight>
              </a:rPr>
              <a:t>Então hoje, leva mais de 15 minutos para entender</a:t>
            </a:r>
            <a:br>
              <a:rPr lang="pt-BR">
                <a:highlight>
                  <a:srgbClr val="FFFF00"/>
                </a:highlight>
              </a:rPr>
            </a:br>
            <a:r>
              <a:rPr lang="pt-BR">
                <a:highlight>
                  <a:srgbClr val="FFFF00"/>
                </a:highlight>
              </a:rPr>
              <a:t>Amanhã, leva 5 segundos para </a:t>
            </a:r>
            <a:r>
              <a:rPr lang="pt-BR" u="sng">
                <a:highlight>
                  <a:srgbClr val="FFFF00"/>
                </a:highlight>
              </a:rPr>
              <a:t>decidir</a:t>
            </a:r>
            <a:r>
              <a:rPr lang="pt-BR">
                <a:highlight>
                  <a:srgbClr val="FFFF00"/>
                </a:highlight>
              </a:rPr>
              <a:t>.</a:t>
            </a:r>
            <a:endParaRPr>
              <a:highlight>
                <a:srgbClr val="FFFF00"/>
              </a:highlight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2f4fbb6bf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b2f4fbb6bf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Ele atua exatamente onde vimos as dores: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Então conhecendo as personas, temos as tarefas do usuário: (...)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Temos as dores: (...)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Temos o ganhos que o StackPulse pode proporcionar: (...)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E como ele pode entregar valor (...)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O foco não é visualização.</a:t>
            </a:r>
            <a:b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</a:b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É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decisão mais rápida, com menos ruído e menos dependência de pessoas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Como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pesquisa de mercado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temos produtos como a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Rita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do Score de Resiliência -&gt; travada em documentação apenas até então, restrita a apenas um indicador (explicar)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b2f4fbb6b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b2f4fbb6b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Para</a:t>
            </a:r>
            <a:r>
              <a:rPr b="1" lang="pt-BR" u="sng">
                <a:solidFill>
                  <a:schemeClr val="dk1"/>
                </a:solidFill>
                <a:highlight>
                  <a:srgbClr val="FFFF00"/>
                </a:highlight>
              </a:rPr>
              <a:t> não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transformar essa iniciativa em algo grande demais logo de saída, a proposta é começar com um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Produto Mínimo Viável </a:t>
            </a:r>
            <a:r>
              <a:rPr b="1" lang="pt-BR" u="sng">
                <a:solidFill>
                  <a:schemeClr val="dk1"/>
                </a:solidFill>
                <a:highlight>
                  <a:srgbClr val="FFFF00"/>
                </a:highlight>
              </a:rPr>
              <a:t>bem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 controlado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>
              <a:highlight>
                <a:srgbClr val="FFFF00"/>
              </a:highlight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2f4fbb6bf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b2f4fbb6bf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O MVP foca exclusivamente no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núcleo do problema que vimos nos dados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:</a:t>
            </a:r>
            <a:b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</a:b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acesso rápido a informação confiável, com contexto e direcionamento.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1: No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must have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entram apenas capacidades essenciais:</a:t>
            </a:r>
            <a:b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</a:b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um chat inteligente integrado ao StackSpot, conectado a indicadores oficiais, com resumo executivo de pendências e recomendação de próximos passos.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2: Tudo o que é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automatização adicional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comparação entre siglas ou alertas proativos fica como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should have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— só entra depois que o valor básico estiver comprovado.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3: Funcionalidades mais sofisticadas, como exportações ou vídeos automáticos, ficam como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could have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4: E deixo aqui explícito o que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não entra nessa fase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para proteger foco e evitar escopo inflado, como geração automatica (...)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A ideia é validar valor </a:t>
            </a:r>
            <a:r>
              <a:rPr lang="pt-BR" u="sng">
                <a:solidFill>
                  <a:schemeClr val="dk1"/>
                </a:solidFill>
                <a:highlight>
                  <a:srgbClr val="FFFF00"/>
                </a:highlight>
              </a:rPr>
              <a:t>rápido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com </a:t>
            </a:r>
            <a:r>
              <a:rPr lang="pt-BR" u="sng">
                <a:solidFill>
                  <a:schemeClr val="dk1"/>
                </a:solidFill>
                <a:highlight>
                  <a:srgbClr val="FFFF00"/>
                </a:highlight>
              </a:rPr>
              <a:t>baixo risco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e evoluir com base em </a:t>
            </a:r>
            <a:r>
              <a:rPr lang="pt-BR" u="sng">
                <a:solidFill>
                  <a:schemeClr val="dk1"/>
                </a:solidFill>
                <a:highlight>
                  <a:srgbClr val="FFFF00"/>
                </a:highlight>
              </a:rPr>
              <a:t>uso real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— não em suposição.</a:t>
            </a:r>
            <a:endParaRPr>
              <a:highlight>
                <a:srgbClr val="FFFF00"/>
              </a:highlight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2f4fbb6bf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b2f4fbb6bf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“Aqui eu queria mostrar rapidamente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o que já existe hoje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não como produto final, mas como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prova de viabilidade técnica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b2f4fbb6bf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b2f4fbb6bf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Esse é um primeiro experimento que conecta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dados reais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e começa a estruturar a conversa entre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informação e decisão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Ele ainda é simples — e isso é intencional.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O foco dessa primeira onda não foi entregar funcionalidade completa, mas garantir que a base seja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confiável, escalável e auditável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separando claramente o que é dado, o que é interpretação e o que é decisão.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Ou seja: antes de escalar, a preocupação foi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fazer certo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não fazer grande.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Esse vídeo mostra que o caminho é viável. O MVP que apresentei antes é o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passo seguinte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já estruturado em cima dessa base.”</a:t>
            </a:r>
            <a:endParaRPr>
              <a:highlight>
                <a:srgbClr val="FFFF00"/>
              </a:highlight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b2f4fbb6bf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b2f4fbb6bf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highlight>
                  <a:srgbClr val="FFFF00"/>
                </a:highlight>
              </a:rPr>
              <a:t>“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Aqui eu queria mostrar como o MVP funciona hoje, do ponto de vista de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responsabilidade e controle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</a:t>
            </a:r>
            <a:r>
              <a:rPr lang="pt-BR" u="sng">
                <a:solidFill>
                  <a:schemeClr val="dk1"/>
                </a:solidFill>
                <a:highlight>
                  <a:srgbClr val="FFFF00"/>
                </a:highlight>
              </a:rPr>
              <a:t>não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de tecnologia.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A ideia central é separar claramente os papéis, porque quando tudo se mistura — interpretação, decisão e execução — o sistema fica frágil.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A governança humana continua sendo o ponto de definição do que é verdade, do que pode ser respondido e do que não pode.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A partir disso, existe um orquestrador, que só decide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quem faz o quê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nunca o conteúdo final.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Os agentes têm funções bem delimitadas:</a:t>
            </a:r>
            <a:b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</a:b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um interpreta o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contexto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outro executa a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consulta técnica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outro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consolida e explica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o resultado.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Essa separação cria um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efeito cascata controlado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: cada camada </a:t>
            </a:r>
            <a:r>
              <a:rPr lang="pt-BR" u="sng">
                <a:solidFill>
                  <a:schemeClr val="dk1"/>
                </a:solidFill>
                <a:highlight>
                  <a:srgbClr val="FFFF00"/>
                </a:highlight>
              </a:rPr>
              <a:t>valida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a anterior.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O resultado é um sistema mais confiável, auditável e previsível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00"/>
              </a:highlight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b2f4fbb6bf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b2f4fbb6bf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Aqui eu detalho um ponto crítico do MVP: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onde está a autoridade sobre o significado da informação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b2f4fbb6bf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b2f4fbb6bf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Toda a definição de regras, vocabulário, prioridades e exceções fica na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governança humana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Então o sistema </a:t>
            </a:r>
            <a:r>
              <a:rPr lang="pt-BR" u="sng">
                <a:solidFill>
                  <a:schemeClr val="dk1"/>
                </a:solidFill>
                <a:highlight>
                  <a:srgbClr val="FFFF00"/>
                </a:highlight>
              </a:rPr>
              <a:t>não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conversa com o usuário para decidir o que é verdade — ele conversa com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regras oficiais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Isso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evita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inferências perigosas, garante coerência entre indicadores e permite auditoria.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O que entra no sistema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não é texto solto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: são regras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versionadas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mapeamentos semânticos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e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documentação estruturada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Esse desenho é proposital para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evitar ambiguidade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reduzir risco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e manter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controle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ao escalar.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>
                <a:highlight>
                  <a:srgbClr val="FFFF00"/>
                </a:highlight>
              </a:rPr>
              <a:t>(Ler exemplos concretos) -&gt; Regras de negócios (que podem mudar)</a:t>
            </a:r>
            <a:endParaRPr>
              <a:highlight>
                <a:srgbClr val="FFFF00"/>
              </a:highlight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2f4fbb6bf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b2f4fbb6bf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highlight>
                  <a:srgbClr val="FFFF00"/>
                </a:highlight>
              </a:rPr>
              <a:t>“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Aqui eu mostro o papel do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orquestrador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que é o cérebro do fluxo.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Ele </a:t>
            </a:r>
            <a:r>
              <a:rPr b="1" lang="pt-BR" u="sng">
                <a:solidFill>
                  <a:schemeClr val="dk1"/>
                </a:solidFill>
                <a:highlight>
                  <a:srgbClr val="FFFF00"/>
                </a:highlight>
              </a:rPr>
              <a:t>não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responde conteúdo e não interpreta dados.</a:t>
            </a:r>
            <a:b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</a:b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A função dele é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entender o</a:t>
            </a:r>
            <a:r>
              <a:rPr b="1" lang="pt-BR" u="sng">
                <a:solidFill>
                  <a:schemeClr val="dk1"/>
                </a:solidFill>
                <a:highlight>
                  <a:srgbClr val="FFFF00"/>
                </a:highlight>
              </a:rPr>
              <a:t> tipo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 da pergunta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e decidir </a:t>
            </a:r>
            <a:r>
              <a:rPr b="1" lang="pt-BR" u="sng">
                <a:solidFill>
                  <a:schemeClr val="dk1"/>
                </a:solidFill>
                <a:highlight>
                  <a:srgbClr val="FFFF00"/>
                </a:highlight>
              </a:rPr>
              <a:t>quem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 precisa ser acionado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A partir disso, ele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organiza a ordem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define dependências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e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consolida o retorno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final.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Isso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evita improviso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e garante que ninguém ‘invente moda’.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Por exemplo: quando alguém pergunta ‘quais são as pendências da NF2’, o orquestrador entende que é uma </a:t>
            </a:r>
            <a:r>
              <a:rPr b="1" lang="pt-BR" u="sng">
                <a:solidFill>
                  <a:schemeClr val="dk1"/>
                </a:solidFill>
                <a:highlight>
                  <a:srgbClr val="FFFF00"/>
                </a:highlight>
              </a:rPr>
              <a:t>consulta objetiva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Ele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aciona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quem interpreta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o significado da pergunta e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quem consulta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a base oficial — sem precisar de inferência avançada ou documentação extensa.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O resultado é previsível, consistente e auditável.”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2f4fbb6bf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b2f4fbb6bf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“Esse é o papel do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Agente 1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que é exclusivamente de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interpretação semântica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Ele </a:t>
            </a:r>
            <a:r>
              <a:rPr lang="pt-BR" u="sng">
                <a:solidFill>
                  <a:schemeClr val="dk1"/>
                </a:solidFill>
                <a:highlight>
                  <a:srgbClr val="FFFF00"/>
                </a:highlight>
              </a:rPr>
              <a:t>não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consulta base, </a:t>
            </a:r>
            <a:r>
              <a:rPr lang="pt-BR" u="sng">
                <a:solidFill>
                  <a:schemeClr val="dk1"/>
                </a:solidFill>
                <a:highlight>
                  <a:srgbClr val="FFFF00"/>
                </a:highlight>
              </a:rPr>
              <a:t>não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decide regra de negócio e </a:t>
            </a:r>
            <a:r>
              <a:rPr lang="pt-BR" u="sng">
                <a:solidFill>
                  <a:schemeClr val="dk1"/>
                </a:solidFill>
                <a:highlight>
                  <a:srgbClr val="FFFF00"/>
                </a:highlight>
              </a:rPr>
              <a:t>não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responde usuário.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A função dele é entender a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 linguagem humana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e transformar isso em algo estruturado.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Por exemplo, quando alguém fala ‘NF2’ ou ‘pendências’, ele identifica que isso é uma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entidade e normaliza o termo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O output já sai em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formato técnico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padronizado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pronto para quem realmente consulta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a base.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E tem um ponto importante: esse agente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não pode conhecer regras profundas de negócio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Se souber, a gente mistura camadas — e aí o sistema fica frágil.”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b2f4fbb6bf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b2f4fbb6bf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Esse é o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Agente 2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responsável exclusivamente pela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execução técnica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Ele </a:t>
            </a:r>
            <a:r>
              <a:rPr lang="pt-BR" u="sng">
                <a:solidFill>
                  <a:schemeClr val="dk1"/>
                </a:solidFill>
                <a:highlight>
                  <a:srgbClr val="FFFF00"/>
                </a:highlight>
              </a:rPr>
              <a:t>não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interpreta contexto, </a:t>
            </a:r>
            <a:r>
              <a:rPr lang="pt-BR" u="sng">
                <a:solidFill>
                  <a:schemeClr val="dk1"/>
                </a:solidFill>
                <a:highlight>
                  <a:srgbClr val="FFFF00"/>
                </a:highlight>
              </a:rPr>
              <a:t>não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entende linguagem humana e</a:t>
            </a:r>
            <a:r>
              <a:rPr lang="pt-BR" u="sng">
                <a:solidFill>
                  <a:schemeClr val="dk1"/>
                </a:solidFill>
                <a:highlight>
                  <a:srgbClr val="FFFF00"/>
                </a:highlight>
              </a:rPr>
              <a:t> não 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decide nada.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Ele recebe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parâmetros já estruturados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e faz o que sistemas sempre fizeram bem:</a:t>
            </a:r>
            <a:b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</a:b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</a:t>
            </a:r>
            <a:r>
              <a:rPr b="1" lang="pt-BR" u="sng">
                <a:solidFill>
                  <a:schemeClr val="dk1"/>
                </a:solidFill>
                <a:highlight>
                  <a:srgbClr val="FFFF00"/>
                </a:highlight>
              </a:rPr>
              <a:t>executar consultas de forma eficiente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Pode ser SQL, API, índice — o meio não importa.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O papel dele é retornar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dados brutos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ou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semi-tratados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de forma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previsível e barata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Isso é intencional:</a:t>
            </a:r>
            <a:r>
              <a:rPr b="1" lang="pt-BR" u="sng">
                <a:solidFill>
                  <a:schemeClr val="dk1"/>
                </a:solidFill>
                <a:highlight>
                  <a:srgbClr val="FFFF00"/>
                </a:highlight>
              </a:rPr>
              <a:t> evita custo desnecessário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</a:t>
            </a:r>
            <a:r>
              <a:rPr b="1" lang="pt-BR" u="sng">
                <a:solidFill>
                  <a:schemeClr val="dk1"/>
                </a:solidFill>
                <a:highlight>
                  <a:srgbClr val="FFFF00"/>
                </a:highlight>
              </a:rPr>
              <a:t>latência alta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e </a:t>
            </a:r>
            <a:r>
              <a:rPr b="1" lang="pt-BR" u="sng">
                <a:solidFill>
                  <a:schemeClr val="dk1"/>
                </a:solidFill>
                <a:highlight>
                  <a:srgbClr val="FFFF00"/>
                </a:highlight>
              </a:rPr>
              <a:t>uso ineficiente de tokens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Aqui a inteligência não está em ‘pensar’, está em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executar certo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b2f4fbb6bf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b2f4fbb6bf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Esse é o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Agente 3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responsável por transformar dado em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entendimento acionável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Ele </a:t>
            </a:r>
            <a:r>
              <a:rPr lang="pt-BR" u="sng">
                <a:solidFill>
                  <a:schemeClr val="dk1"/>
                </a:solidFill>
                <a:highlight>
                  <a:srgbClr val="FFFF00"/>
                </a:highlight>
              </a:rPr>
              <a:t>não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cria regra de negócio.</a:t>
            </a:r>
            <a:b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</a:br>
            <a:r>
              <a:rPr b="1" lang="pt-BR" u="sng">
                <a:solidFill>
                  <a:schemeClr val="dk1"/>
                </a:solidFill>
                <a:highlight>
                  <a:srgbClr val="FFFF00"/>
                </a:highlight>
              </a:rPr>
              <a:t> Ele aplica regras já definidas pela governança.</a:t>
            </a:r>
            <a:endParaRPr b="1" u="sng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A partir dos dados trazidos pelo agente técnico, ele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cruza com documentação oficial 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e responde perguntas como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impacto, prioridade e caminho de resolução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É </a:t>
            </a:r>
            <a:r>
              <a:rPr lang="pt-BR" u="sng">
                <a:solidFill>
                  <a:schemeClr val="dk1"/>
                </a:solidFill>
                <a:highlight>
                  <a:srgbClr val="FFFF00"/>
                </a:highlight>
              </a:rPr>
              <a:t>aqui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que o sistema deixa de </a:t>
            </a:r>
            <a:r>
              <a:rPr b="1" lang="pt-BR" u="sng">
                <a:solidFill>
                  <a:schemeClr val="dk1"/>
                </a:solidFill>
                <a:highlight>
                  <a:srgbClr val="FFFF00"/>
                </a:highlight>
              </a:rPr>
              <a:t>só informar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e passa a </a:t>
            </a:r>
            <a:r>
              <a:rPr b="1" lang="pt-BR" u="sng">
                <a:solidFill>
                  <a:schemeClr val="dk1"/>
                </a:solidFill>
                <a:highlight>
                  <a:srgbClr val="FFFF00"/>
                </a:highlight>
              </a:rPr>
              <a:t>orientar a decisão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Mas o ponto mais importante é: a decisão final </a:t>
            </a:r>
            <a:r>
              <a:rPr lang="pt-BR" u="sng">
                <a:solidFill>
                  <a:schemeClr val="dk1"/>
                </a:solidFill>
                <a:highlight>
                  <a:srgbClr val="FFFF00"/>
                </a:highlight>
              </a:rPr>
              <a:t>continua humana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.*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O sistema mostra impacto, dependências e consequências — </a:t>
            </a:r>
            <a:r>
              <a:rPr lang="pt-BR" u="sng">
                <a:solidFill>
                  <a:schemeClr val="dk1"/>
                </a:solidFill>
                <a:highlight>
                  <a:srgbClr val="FFFF00"/>
                </a:highlight>
              </a:rPr>
              <a:t>quem decide é a liderança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b2f4fbb6bf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b2f4fbb6bf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Para garantir que esse produto gere valor real — e não só percepção — a proposta já nasce com um plano claro de medição.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b2f4fbb6bf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b2f4fbb6bf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Os keypiais aqui não são técnicos. Eles são focados em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eficiência, autonomia e confiança na decisão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que são </a:t>
            </a:r>
            <a:r>
              <a:rPr lang="pt-BR" u="sng">
                <a:solidFill>
                  <a:schemeClr val="dk1"/>
                </a:solidFill>
                <a:highlight>
                  <a:srgbClr val="FFFF00"/>
                </a:highlight>
              </a:rPr>
              <a:t>exatamente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as dores que apareceram na pesquisa.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Primeiro, </a:t>
            </a:r>
            <a:r>
              <a:rPr b="1" lang="pt-BR" u="sng">
                <a:solidFill>
                  <a:schemeClr val="dk1"/>
                </a:solidFill>
                <a:highlight>
                  <a:srgbClr val="FFFF00"/>
                </a:highlight>
              </a:rPr>
              <a:t>redução de tempo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: vamos medir quanto tempo as pessoas levam hoje para obter uma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resposta confiável e comparar 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com o tempo usando o produto.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Segundo, </a:t>
            </a:r>
            <a:r>
              <a:rPr b="1" lang="pt-BR" u="sng">
                <a:solidFill>
                  <a:schemeClr val="dk1"/>
                </a:solidFill>
                <a:highlight>
                  <a:srgbClr val="FFFF00"/>
                </a:highlight>
              </a:rPr>
              <a:t>redução de dúvidas recorrentes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: isso mostra se estamos realmente eliminando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ruído e dependência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de especialistas.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Terceiro, </a:t>
            </a:r>
            <a:r>
              <a:rPr b="1" lang="pt-BR" u="sng">
                <a:solidFill>
                  <a:schemeClr val="dk1"/>
                </a:solidFill>
                <a:highlight>
                  <a:srgbClr val="FFFF00"/>
                </a:highlight>
              </a:rPr>
              <a:t>aumento de autonomia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: medido pelo uso recorrente e pela quantidade de resoluções feitas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sem intermediação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humana.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Também vamos medir </a:t>
            </a:r>
            <a:r>
              <a:rPr b="1" lang="pt-BR" u="sng">
                <a:solidFill>
                  <a:schemeClr val="dk1"/>
                </a:solidFill>
                <a:highlight>
                  <a:srgbClr val="FFFF00"/>
                </a:highlight>
              </a:rPr>
              <a:t>satisfação do usuário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após o piloto, porque adoção é um sinal claro de valor.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E, por fim, p</a:t>
            </a:r>
            <a:r>
              <a:rPr b="1" lang="pt-BR" u="sng">
                <a:solidFill>
                  <a:schemeClr val="dk1"/>
                </a:solidFill>
                <a:highlight>
                  <a:srgbClr val="FFFF00"/>
                </a:highlight>
              </a:rPr>
              <a:t>recisão das respostas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sempre validada contra fontes oficiais — porque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confiança é inegociável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Se esses indicadores </a:t>
            </a:r>
            <a:r>
              <a:rPr lang="pt-BR" u="sng">
                <a:solidFill>
                  <a:schemeClr val="dk1"/>
                </a:solidFill>
                <a:highlight>
                  <a:srgbClr val="FFFF00"/>
                </a:highlight>
              </a:rPr>
              <a:t>não 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melhorarem, a gente tem evidência para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ajustar ou parar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 Se melhorarem, temos</a:t>
            </a:r>
            <a:r>
              <a:rPr lang="pt-BR" u="sng">
                <a:solidFill>
                  <a:schemeClr val="dk1"/>
                </a:solidFill>
                <a:highlight>
                  <a:srgbClr val="FFFF00"/>
                </a:highlight>
              </a:rPr>
              <a:t> base sólida 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para escalar.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b2f4fbb6bf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b2f4fbb6bf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A evolução do produto foi pensada em ondas justamente para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reduzir risco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e </a:t>
            </a: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maximizar impacto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b2f4fbb6bf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b2f4fbb6bf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Na Onda 1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o foco é resolver o que mais dói hoje: perguntas recorrentes e decisões críticas. É um MVP enxuto, integrado ao StackSpot, conectado aos indicadores oficiais e já entregando respostas </a:t>
            </a:r>
            <a:r>
              <a:rPr lang="pt-BR" u="sng">
                <a:solidFill>
                  <a:schemeClr val="dk1"/>
                </a:solidFill>
                <a:highlight>
                  <a:srgbClr val="FFFF00"/>
                </a:highlight>
              </a:rPr>
              <a:t>confiáveis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</a:t>
            </a:r>
            <a:r>
              <a:rPr lang="pt-BR" u="sng">
                <a:solidFill>
                  <a:schemeClr val="dk1"/>
                </a:solidFill>
                <a:highlight>
                  <a:srgbClr val="FFFF00"/>
                </a:highlight>
              </a:rPr>
              <a:t>priorização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e </a:t>
            </a:r>
            <a:r>
              <a:rPr lang="pt-BR" u="sng">
                <a:solidFill>
                  <a:schemeClr val="dk1"/>
                </a:solidFill>
                <a:highlight>
                  <a:srgbClr val="FFFF00"/>
                </a:highlight>
              </a:rPr>
              <a:t>histórico básico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Na Onda 2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a partir do uso real, a gente começa a </a:t>
            </a:r>
            <a:r>
              <a:rPr lang="pt-BR" u="sng">
                <a:solidFill>
                  <a:schemeClr val="dk1"/>
                </a:solidFill>
                <a:highlight>
                  <a:srgbClr val="FFFF00"/>
                </a:highlight>
              </a:rPr>
              <a:t>escalar valor: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 recomendações automáticas, próximos passos claros, priorização inteligente e conexão com outros scores relevantes, como Cyber e Dados.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>
                <a:solidFill>
                  <a:schemeClr val="dk1"/>
                </a:solidFill>
                <a:highlight>
                  <a:srgbClr val="FFFF00"/>
                </a:highlight>
              </a:rPr>
              <a:t>E só na Onda 3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, quando o produto já estiver validado e adotado, entramos no nível estratégico: alertas proativos de risco, narrativa executiva automática, integração com dashboards e insights preditivos.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Ou seja, </a:t>
            </a:r>
            <a:r>
              <a:rPr lang="pt-BR" u="sng">
                <a:solidFill>
                  <a:schemeClr val="dk1"/>
                </a:solidFill>
                <a:highlight>
                  <a:srgbClr val="FFFF00"/>
                </a:highlight>
              </a:rPr>
              <a:t>não é uma aposta grande de uma vez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 É uma construção progressiva, guiada por </a:t>
            </a:r>
            <a:r>
              <a:rPr b="1" lang="pt-BR" u="sng">
                <a:solidFill>
                  <a:schemeClr val="dk1"/>
                </a:solidFill>
                <a:highlight>
                  <a:srgbClr val="FFFF00"/>
                </a:highlight>
              </a:rPr>
              <a:t>impacto no negócio e uso real</a:t>
            </a:r>
            <a:r>
              <a:rPr lang="pt-BR">
                <a:solidFill>
                  <a:schemeClr val="dk1"/>
                </a:solidFill>
                <a:highlight>
                  <a:srgbClr val="FFFF00"/>
                </a:highlight>
              </a:rPr>
              <a:t>.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-21175" y="13525"/>
            <a:ext cx="200700" cy="108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 rot="5400000">
            <a:off x="612125" y="-388175"/>
            <a:ext cx="279000" cy="1082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291225" y="425725"/>
            <a:ext cx="2832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highlight>
                  <a:srgbClr val="FFFF00"/>
                </a:highlight>
              </a:rPr>
              <a:t>Deixar todos os titulos nessa dimensao aqui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79525" y="4302325"/>
            <a:ext cx="283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highlight>
                  <a:srgbClr val="FFFF00"/>
                </a:highlight>
              </a:rPr>
              <a:t>logo + app + intelig</a:t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0" y="20340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  <p:cxnSp>
        <p:nvCxnSpPr>
          <p:cNvPr id="63" name="Google Shape;63;p14"/>
          <p:cNvCxnSpPr/>
          <p:nvPr/>
        </p:nvCxnSpPr>
        <p:spPr>
          <a:xfrm flipH="1" rot="10800000">
            <a:off x="639525" y="2666000"/>
            <a:ext cx="7110000" cy="914400"/>
          </a:xfrm>
          <a:prstGeom prst="straightConnector1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79970" y="-18275"/>
            <a:ext cx="89412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Panorama</a:t>
            </a: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 Atual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98734" y="508312"/>
            <a:ext cx="876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Grande parte do tempo é consumida por atividades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manuais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,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operacionais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repetitivas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, reduzindo a capacidade dos times de focar no que realmente gera valor para o </a:t>
            </a: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cliente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. O problema não é a falta de dados, é a falta de coerência entre personas, tempo e decisão.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-277800" y="-19925"/>
            <a:ext cx="9421800" cy="11928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454625" y="295950"/>
            <a:ext cx="7488300" cy="16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76" name="Google Shape;76;p16"/>
          <p:cNvCxnSpPr/>
          <p:nvPr/>
        </p:nvCxnSpPr>
        <p:spPr>
          <a:xfrm flipH="1" rot="10800000">
            <a:off x="643775" y="3003775"/>
            <a:ext cx="7903800" cy="219600"/>
          </a:xfrm>
          <a:prstGeom prst="straightConnector1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/>
        </p:nvSpPr>
        <p:spPr>
          <a:xfrm>
            <a:off x="79970" y="-18275"/>
            <a:ext cx="89412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Formação de</a:t>
            </a: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 Hipóteses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-277800" y="-19925"/>
            <a:ext cx="5667900" cy="9483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/>
        </p:nvSpPr>
        <p:spPr>
          <a:xfrm>
            <a:off x="98734" y="508312"/>
            <a:ext cx="876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 informação está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dispersa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,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dependente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 especialistas e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 muda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rapidamente.</a:t>
            </a:r>
            <a:endParaRPr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Google Shape;88;p18"/>
          <p:cNvCxnSpPr/>
          <p:nvPr/>
        </p:nvCxnSpPr>
        <p:spPr>
          <a:xfrm flipH="1" rot="10800000">
            <a:off x="639525" y="2666000"/>
            <a:ext cx="7110000" cy="914400"/>
          </a:xfrm>
          <a:prstGeom prst="straightConnector1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/>
        </p:nvSpPr>
        <p:spPr>
          <a:xfrm>
            <a:off x="79970" y="-18275"/>
            <a:ext cx="8941200" cy="8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Perfil</a:t>
            </a: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abrangência</a:t>
            </a: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 organizacional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94" name="Google Shape;94;p19"/>
          <p:cNvSpPr txBox="1"/>
          <p:nvPr/>
        </p:nvSpPr>
        <p:spPr>
          <a:xfrm>
            <a:off x="98734" y="508312"/>
            <a:ext cx="876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36 respondentes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, distribuídos entre múltiplas comunidades da CIO1 e outras diretorias, com</a:t>
            </a:r>
            <a:r>
              <a:rPr lang="pt-BR" sz="10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diversidade</a:t>
            </a:r>
            <a:r>
              <a:rPr lang="pt-BR" sz="10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 perfis de atuação.</a:t>
            </a:r>
            <a:endParaRPr>
              <a:solidFill>
                <a:srgbClr val="CCCCCC"/>
              </a:solidFill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111827" y="828389"/>
            <a:ext cx="2202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CIO1 – App Itaú:</a:t>
            </a:r>
            <a:r>
              <a:rPr lang="pt-BR" sz="10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64%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CIO1 – Prevenção a Fraudes: </a:t>
            </a: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8%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p19"/>
          <p:cNvSpPr txBox="1"/>
          <p:nvPr/>
        </p:nvSpPr>
        <p:spPr>
          <a:xfrm>
            <a:off x="5299190" y="828395"/>
            <a:ext cx="3496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CIO1 – Soluções Integradas de Atendimento: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6%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Outras comunidades e diretorias: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10%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7" name="Google Shape;97;p19"/>
          <p:cNvSpPr txBox="1"/>
          <p:nvPr/>
        </p:nvSpPr>
        <p:spPr>
          <a:xfrm>
            <a:off x="2746590" y="828395"/>
            <a:ext cx="2274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CIO1 – Identidade e Acesso: </a:t>
            </a:r>
            <a:r>
              <a:rPr b="1" lang="pt-BR" sz="1000">
                <a:solidFill>
                  <a:schemeClr val="lt2"/>
                </a:solidFill>
                <a:latin typeface="Montserrat"/>
                <a:ea typeface="Montserrat"/>
                <a:cs typeface="Montserrat"/>
                <a:sym typeface="Montserrat"/>
              </a:rPr>
              <a:t>6%</a:t>
            </a:r>
            <a:endParaRPr b="1" sz="1000">
              <a:solidFill>
                <a:schemeClr val="lt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CIO1 – Atendimento: </a:t>
            </a: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6%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98" name="Google Shape;98;p19"/>
          <p:cNvGrpSpPr/>
          <p:nvPr/>
        </p:nvGrpSpPr>
        <p:grpSpPr>
          <a:xfrm>
            <a:off x="604750" y="1857132"/>
            <a:ext cx="7934500" cy="2866293"/>
            <a:chOff x="624250" y="1876782"/>
            <a:chExt cx="7934500" cy="2866293"/>
          </a:xfrm>
        </p:grpSpPr>
        <p:grpSp>
          <p:nvGrpSpPr>
            <p:cNvPr id="99" name="Google Shape;99;p19"/>
            <p:cNvGrpSpPr/>
            <p:nvPr/>
          </p:nvGrpSpPr>
          <p:grpSpPr>
            <a:xfrm>
              <a:off x="624250" y="1876782"/>
              <a:ext cx="7934500" cy="2527589"/>
              <a:chOff x="706100" y="1847357"/>
              <a:chExt cx="7934500" cy="2527589"/>
            </a:xfrm>
          </p:grpSpPr>
          <p:sp>
            <p:nvSpPr>
              <p:cNvPr id="100" name="Google Shape;100;p19"/>
              <p:cNvSpPr txBox="1"/>
              <p:nvPr/>
            </p:nvSpPr>
            <p:spPr>
              <a:xfrm>
                <a:off x="706100" y="3291438"/>
                <a:ext cx="2400600" cy="7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pt-BR" sz="1800">
                    <a:solidFill>
                      <a:srgbClr val="B7B7B7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Operacional </a:t>
                </a:r>
                <a:r>
                  <a:rPr b="1" lang="pt-BR" sz="18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Técnico</a:t>
                </a:r>
                <a:endParaRPr b="1" sz="1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01" name="Google Shape;101;p19"/>
              <p:cNvSpPr txBox="1"/>
              <p:nvPr/>
            </p:nvSpPr>
            <p:spPr>
              <a:xfrm>
                <a:off x="4727300" y="3291800"/>
                <a:ext cx="2067300" cy="7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pt-BR" sz="1800">
                    <a:solidFill>
                      <a:srgbClr val="B7B7B7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Operacional de </a:t>
                </a:r>
                <a:r>
                  <a:rPr b="1" lang="pt-BR" sz="18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Governança</a:t>
                </a:r>
                <a:endParaRPr b="1" sz="1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02" name="Google Shape;102;p19"/>
              <p:cNvSpPr txBox="1"/>
              <p:nvPr/>
            </p:nvSpPr>
            <p:spPr>
              <a:xfrm>
                <a:off x="7217000" y="3291800"/>
                <a:ext cx="1423500" cy="7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pt-BR" sz="1800">
                    <a:solidFill>
                      <a:srgbClr val="B7B7B7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Liderança </a:t>
                </a:r>
                <a:r>
                  <a:rPr b="1" lang="pt-BR" sz="18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Executiva</a:t>
                </a:r>
                <a:endParaRPr b="1" sz="1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03" name="Google Shape;103;p19"/>
              <p:cNvSpPr txBox="1"/>
              <p:nvPr/>
            </p:nvSpPr>
            <p:spPr>
              <a:xfrm>
                <a:off x="2875750" y="3292243"/>
                <a:ext cx="1702800" cy="7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pt-BR" sz="1800">
                    <a:solidFill>
                      <a:srgbClr val="B7B7B7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Liderança </a:t>
                </a:r>
                <a:r>
                  <a:rPr b="1" lang="pt-BR" sz="18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Tática</a:t>
                </a:r>
                <a:endParaRPr b="1" sz="18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pic>
            <p:nvPicPr>
              <p:cNvPr id="104" name="Google Shape;104;p19" title="personas.png"/>
              <p:cNvPicPr preferRelativeResize="0"/>
              <p:nvPr/>
            </p:nvPicPr>
            <p:blipFill rotWithShape="1">
              <a:blip r:embed="rId3">
                <a:alphaModFix/>
              </a:blip>
              <a:srcRect b="57581" l="0" r="72586" t="12636"/>
              <a:stretch/>
            </p:blipFill>
            <p:spPr>
              <a:xfrm>
                <a:off x="4915813" y="1889813"/>
                <a:ext cx="1258425" cy="13671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5" name="Google Shape;105;p19" title="personas.png"/>
              <p:cNvPicPr preferRelativeResize="0"/>
              <p:nvPr/>
            </p:nvPicPr>
            <p:blipFill rotWithShape="1">
              <a:blip r:embed="rId3">
                <a:alphaModFix/>
              </a:blip>
              <a:srcRect b="52250" l="23106" r="52066" t="17217"/>
              <a:stretch/>
            </p:blipFill>
            <p:spPr>
              <a:xfrm>
                <a:off x="830075" y="1889813"/>
                <a:ext cx="1139700" cy="14016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6" name="Google Shape;106;p19" title="personas.png"/>
              <p:cNvPicPr preferRelativeResize="0"/>
              <p:nvPr/>
            </p:nvPicPr>
            <p:blipFill rotWithShape="1">
              <a:blip r:embed="rId3">
                <a:alphaModFix/>
              </a:blip>
              <a:srcRect b="54635" l="47605" r="27567" t="13731"/>
              <a:stretch/>
            </p:blipFill>
            <p:spPr>
              <a:xfrm>
                <a:off x="2872950" y="1847357"/>
                <a:ext cx="1139700" cy="14521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7" name="Google Shape;107;p19" title="personas.png"/>
              <p:cNvPicPr preferRelativeResize="0"/>
              <p:nvPr/>
            </p:nvPicPr>
            <p:blipFill rotWithShape="1">
              <a:blip r:embed="rId3">
                <a:alphaModFix/>
              </a:blip>
              <a:srcRect b="54635" l="73122" r="2050" t="13731"/>
              <a:stretch/>
            </p:blipFill>
            <p:spPr>
              <a:xfrm>
                <a:off x="7358900" y="1851005"/>
                <a:ext cx="1139700" cy="1452125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08" name="Google Shape;108;p19"/>
              <p:cNvCxnSpPr/>
              <p:nvPr/>
            </p:nvCxnSpPr>
            <p:spPr>
              <a:xfrm>
                <a:off x="2285434" y="3538020"/>
                <a:ext cx="589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CE5CD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9" name="Google Shape;109;p19"/>
              <p:cNvCxnSpPr/>
              <p:nvPr/>
            </p:nvCxnSpPr>
            <p:spPr>
              <a:xfrm>
                <a:off x="6627509" y="3538889"/>
                <a:ext cx="589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CE5CD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0" name="Google Shape;110;p19"/>
              <p:cNvCxnSpPr/>
              <p:nvPr/>
            </p:nvCxnSpPr>
            <p:spPr>
              <a:xfrm>
                <a:off x="4154618" y="3543308"/>
                <a:ext cx="5895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CE5CD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  <p:sp>
            <p:nvSpPr>
              <p:cNvPr id="111" name="Google Shape;111;p19"/>
              <p:cNvSpPr txBox="1"/>
              <p:nvPr/>
            </p:nvSpPr>
            <p:spPr>
              <a:xfrm>
                <a:off x="724775" y="3902750"/>
                <a:ext cx="15288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solidFill>
                      <a:srgbClr val="CCCCCC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(</a:t>
                </a:r>
                <a:r>
                  <a:rPr b="1" lang="pt-BR" sz="1800">
                    <a:solidFill>
                      <a:srgbClr val="CCCCCC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42%</a:t>
                </a:r>
                <a:r>
                  <a:rPr lang="pt-BR" sz="1800">
                    <a:solidFill>
                      <a:srgbClr val="CCCCCC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)</a:t>
                </a:r>
                <a:endParaRPr>
                  <a:solidFill>
                    <a:srgbClr val="CCCCCC"/>
                  </a:solidFill>
                </a:endParaRPr>
              </a:p>
            </p:txBody>
          </p:sp>
          <p:sp>
            <p:nvSpPr>
              <p:cNvPr id="112" name="Google Shape;112;p19"/>
              <p:cNvSpPr txBox="1"/>
              <p:nvPr/>
            </p:nvSpPr>
            <p:spPr>
              <a:xfrm>
                <a:off x="3098625" y="3913246"/>
                <a:ext cx="8874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solidFill>
                      <a:srgbClr val="CCCCCC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(</a:t>
                </a:r>
                <a:r>
                  <a:rPr b="1" lang="pt-BR" sz="1800">
                    <a:solidFill>
                      <a:srgbClr val="CCCCCC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25%</a:t>
                </a:r>
                <a:r>
                  <a:rPr lang="pt-BR" sz="1800">
                    <a:solidFill>
                      <a:srgbClr val="CCCCCC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)</a:t>
                </a:r>
                <a:endParaRPr>
                  <a:solidFill>
                    <a:srgbClr val="CCCCCC"/>
                  </a:solidFill>
                </a:endParaRPr>
              </a:p>
            </p:txBody>
          </p:sp>
          <p:sp>
            <p:nvSpPr>
              <p:cNvPr id="113" name="Google Shape;113;p19"/>
              <p:cNvSpPr txBox="1"/>
              <p:nvPr/>
            </p:nvSpPr>
            <p:spPr>
              <a:xfrm>
                <a:off x="4773925" y="3902750"/>
                <a:ext cx="17028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solidFill>
                      <a:srgbClr val="CCCCCC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(</a:t>
                </a:r>
                <a:r>
                  <a:rPr b="1" lang="pt-BR" sz="1800">
                    <a:solidFill>
                      <a:srgbClr val="CCCCCC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22%</a:t>
                </a:r>
                <a:r>
                  <a:rPr lang="pt-BR" sz="1800">
                    <a:solidFill>
                      <a:srgbClr val="CCCCCC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)</a:t>
                </a:r>
                <a:endParaRPr>
                  <a:solidFill>
                    <a:srgbClr val="CCCCCC"/>
                  </a:solidFill>
                </a:endParaRPr>
              </a:p>
            </p:txBody>
          </p:sp>
          <p:sp>
            <p:nvSpPr>
              <p:cNvPr id="114" name="Google Shape;114;p19"/>
              <p:cNvSpPr txBox="1"/>
              <p:nvPr/>
            </p:nvSpPr>
            <p:spPr>
              <a:xfrm>
                <a:off x="7217100" y="3902750"/>
                <a:ext cx="14235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solidFill>
                      <a:srgbClr val="CCCCCC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(</a:t>
                </a:r>
                <a:r>
                  <a:rPr b="1" lang="pt-BR" sz="1800">
                    <a:solidFill>
                      <a:srgbClr val="CCCCCC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3%</a:t>
                </a:r>
                <a:r>
                  <a:rPr lang="pt-BR" sz="1800">
                    <a:solidFill>
                      <a:srgbClr val="CCCCCC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)</a:t>
                </a:r>
                <a:endParaRPr>
                  <a:solidFill>
                    <a:srgbClr val="CCCCCC"/>
                  </a:solidFill>
                </a:endParaRPr>
              </a:p>
            </p:txBody>
          </p:sp>
        </p:grpSp>
        <p:sp>
          <p:nvSpPr>
            <p:cNvPr id="115" name="Google Shape;115;p19"/>
            <p:cNvSpPr txBox="1"/>
            <p:nvPr/>
          </p:nvSpPr>
          <p:spPr>
            <a:xfrm>
              <a:off x="624250" y="4404375"/>
              <a:ext cx="40677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pt-BR"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*8% dos respondentes não informaram nível de atuação.</a:t>
              </a:r>
              <a:endParaRPr i="1">
                <a:solidFill>
                  <a:srgbClr val="CCCCCC"/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0" name="Google Shape;120;p20"/>
          <p:cNvCxnSpPr/>
          <p:nvPr/>
        </p:nvCxnSpPr>
        <p:spPr>
          <a:xfrm flipH="1" rot="10800000">
            <a:off x="639525" y="2666000"/>
            <a:ext cx="7110000" cy="914400"/>
          </a:xfrm>
          <a:prstGeom prst="straightConnector1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21"/>
          <p:cNvGrpSpPr/>
          <p:nvPr/>
        </p:nvGrpSpPr>
        <p:grpSpPr>
          <a:xfrm>
            <a:off x="190675" y="1487961"/>
            <a:ext cx="9091938" cy="3144584"/>
            <a:chOff x="4" y="777114"/>
            <a:chExt cx="9091938" cy="3144584"/>
          </a:xfrm>
        </p:grpSpPr>
        <p:grpSp>
          <p:nvGrpSpPr>
            <p:cNvPr id="126" name="Google Shape;126;p21"/>
            <p:cNvGrpSpPr/>
            <p:nvPr/>
          </p:nvGrpSpPr>
          <p:grpSpPr>
            <a:xfrm>
              <a:off x="4" y="777114"/>
              <a:ext cx="2176100" cy="3144584"/>
              <a:chOff x="106373" y="1810860"/>
              <a:chExt cx="2044438" cy="3144584"/>
            </a:xfrm>
          </p:grpSpPr>
          <p:pic>
            <p:nvPicPr>
              <p:cNvPr id="127" name="Google Shape;127;p21" title="tempo.png"/>
              <p:cNvPicPr preferRelativeResize="0"/>
              <p:nvPr/>
            </p:nvPicPr>
            <p:blipFill>
              <a:blip r:embed="rId3">
                <a:alphaModFix amt="55000"/>
              </a:blip>
              <a:stretch>
                <a:fillRect/>
              </a:stretch>
            </p:blipFill>
            <p:spPr>
              <a:xfrm>
                <a:off x="738985" y="1810860"/>
                <a:ext cx="652275" cy="65227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28" name="Google Shape;128;p21"/>
              <p:cNvGrpSpPr/>
              <p:nvPr/>
            </p:nvGrpSpPr>
            <p:grpSpPr>
              <a:xfrm>
                <a:off x="106373" y="2446518"/>
                <a:ext cx="2044438" cy="2508927"/>
                <a:chOff x="106373" y="2050876"/>
                <a:chExt cx="2044438" cy="2508927"/>
              </a:xfrm>
            </p:grpSpPr>
            <p:sp>
              <p:nvSpPr>
                <p:cNvPr id="129" name="Google Shape;129;p21"/>
                <p:cNvSpPr txBox="1"/>
                <p:nvPr/>
              </p:nvSpPr>
              <p:spPr>
                <a:xfrm>
                  <a:off x="106373" y="2050876"/>
                  <a:ext cx="2030400" cy="1293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1" lang="pt-BR" sz="1800">
                      <a:solidFill>
                        <a:schemeClr val="lt1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1. </a:t>
                  </a:r>
                  <a:r>
                    <a:rPr b="1" lang="pt-BR" sz="1800">
                      <a:solidFill>
                        <a:srgbClr val="F4CCCC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Tempo alto </a:t>
                  </a:r>
                  <a:r>
                    <a:rPr lang="pt-BR" sz="1800">
                      <a:solidFill>
                        <a:srgbClr val="B7B7B7"/>
                      </a:solidFill>
                      <a:latin typeface="Montserrat Light"/>
                      <a:ea typeface="Montserrat Light"/>
                      <a:cs typeface="Montserrat Light"/>
                      <a:sym typeface="Montserrat Light"/>
                    </a:rPr>
                    <a:t>para obter informação confiável</a:t>
                  </a:r>
                  <a:endParaRPr b="1" sz="1800">
                    <a:solidFill>
                      <a:srgbClr val="F4CCCC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</p:txBody>
            </p:sp>
            <p:sp>
              <p:nvSpPr>
                <p:cNvPr id="130" name="Google Shape;130;p21"/>
                <p:cNvSpPr txBox="1"/>
                <p:nvPr/>
              </p:nvSpPr>
              <p:spPr>
                <a:xfrm>
                  <a:off x="120324" y="3297276"/>
                  <a:ext cx="2030400" cy="1262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lang="pt-BR" sz="1000">
                      <a:solidFill>
                        <a:srgbClr val="CCCCCC"/>
                      </a:solidFill>
                      <a:latin typeface="Montserrat Light"/>
                      <a:ea typeface="Montserrat Light"/>
                      <a:cs typeface="Montserrat Light"/>
                      <a:sym typeface="Montserrat Light"/>
                    </a:rPr>
                    <a:t>Tempo médio:</a:t>
                  </a:r>
                  <a:endParaRPr sz="1000">
                    <a:solidFill>
                      <a:srgbClr val="CCCCCC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1" lang="pt-BR" sz="1000">
                      <a:solidFill>
                        <a:schemeClr val="lt1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62%</a:t>
                  </a:r>
                  <a:r>
                    <a:rPr lang="pt-BR" sz="1000">
                      <a:solidFill>
                        <a:srgbClr val="CCCCCC"/>
                      </a:solidFill>
                      <a:latin typeface="Montserrat Light"/>
                      <a:ea typeface="Montserrat Light"/>
                      <a:cs typeface="Montserrat Light"/>
                      <a:sym typeface="Montserrat Light"/>
                    </a:rPr>
                    <a:t> &gt; </a:t>
                  </a:r>
                  <a:r>
                    <a:rPr b="1" lang="pt-BR" sz="1000">
                      <a:solidFill>
                        <a:srgbClr val="CCCCCC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10 minutos</a:t>
                  </a:r>
                  <a:r>
                    <a:rPr b="1" lang="pt-BR" sz="1000">
                      <a:solidFill>
                        <a:schemeClr val="lt1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 </a:t>
                  </a:r>
                  <a:endParaRPr sz="1000">
                    <a:solidFill>
                      <a:srgbClr val="CCCCCC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1" lang="pt-BR" sz="1000">
                      <a:solidFill>
                        <a:schemeClr val="lt1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34%</a:t>
                  </a:r>
                  <a:r>
                    <a:rPr lang="pt-BR" sz="1000">
                      <a:solidFill>
                        <a:srgbClr val="CCCCCC"/>
                      </a:solidFill>
                      <a:latin typeface="Montserrat Light"/>
                      <a:ea typeface="Montserrat Light"/>
                      <a:cs typeface="Montserrat Light"/>
                      <a:sym typeface="Montserrat Light"/>
                    </a:rPr>
                    <a:t> &gt; </a:t>
                  </a:r>
                  <a:r>
                    <a:rPr b="1" lang="pt-BR" sz="1000">
                      <a:solidFill>
                        <a:srgbClr val="CCCCCC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 15 minutos</a:t>
                  </a:r>
                  <a:endParaRPr sz="1000">
                    <a:solidFill>
                      <a:srgbClr val="CCCCCC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br>
                    <a:rPr lang="pt-BR" sz="1000">
                      <a:solidFill>
                        <a:srgbClr val="CCCCCC"/>
                      </a:solidFill>
                      <a:latin typeface="Montserrat Light"/>
                      <a:ea typeface="Montserrat Light"/>
                      <a:cs typeface="Montserrat Light"/>
                      <a:sym typeface="Montserrat Light"/>
                    </a:rPr>
                  </a:br>
                  <a:r>
                    <a:rPr lang="pt-BR" sz="1000">
                      <a:solidFill>
                        <a:srgbClr val="CCCCCC"/>
                      </a:solidFill>
                      <a:latin typeface="Montserrat Light"/>
                      <a:ea typeface="Montserrat Light"/>
                      <a:cs typeface="Montserrat Light"/>
                      <a:sym typeface="Montserrat Light"/>
                    </a:rPr>
                    <a:t>Frequência:</a:t>
                  </a:r>
                  <a:endParaRPr sz="1000">
                    <a:solidFill>
                      <a:srgbClr val="CCCCCC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800"/>
                    <a:buFont typeface="Arial"/>
                    <a:buNone/>
                  </a:pPr>
                  <a:r>
                    <a:rPr b="1" lang="pt-BR" sz="1000">
                      <a:solidFill>
                        <a:schemeClr val="lt1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53% </a:t>
                  </a:r>
                  <a:r>
                    <a:rPr b="1" lang="pt-BR" sz="1000">
                      <a:solidFill>
                        <a:srgbClr val="CCCCCC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semanalmente</a:t>
                  </a:r>
                  <a:endParaRPr b="1" sz="1000">
                    <a:solidFill>
                      <a:srgbClr val="CCCCCC"/>
                    </a:solidFill>
                    <a:latin typeface="Montserrat"/>
                    <a:ea typeface="Montserrat"/>
                    <a:cs typeface="Montserrat"/>
                    <a:sym typeface="Montserrat"/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800"/>
                    <a:buFont typeface="Arial"/>
                    <a:buNone/>
                  </a:pPr>
                  <a:r>
                    <a:rPr b="1" lang="pt-BR" sz="1000">
                      <a:solidFill>
                        <a:schemeClr val="lt1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22% </a:t>
                  </a:r>
                  <a:r>
                    <a:rPr b="1" lang="pt-BR" sz="1000">
                      <a:solidFill>
                        <a:srgbClr val="CCCCCC"/>
                      </a:solidFill>
                      <a:latin typeface="Montserrat"/>
                      <a:ea typeface="Montserrat"/>
                      <a:cs typeface="Montserrat"/>
                      <a:sym typeface="Montserrat"/>
                    </a:rPr>
                    <a:t>diariamente</a:t>
                  </a:r>
                  <a:endParaRPr sz="1000">
                    <a:solidFill>
                      <a:srgbClr val="CCCCCC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endParaRPr>
                </a:p>
              </p:txBody>
            </p:sp>
            <p:cxnSp>
              <p:nvCxnSpPr>
                <p:cNvPr id="131" name="Google Shape;131;p21"/>
                <p:cNvCxnSpPr/>
                <p:nvPr/>
              </p:nvCxnSpPr>
              <p:spPr>
                <a:xfrm>
                  <a:off x="2150812" y="2077303"/>
                  <a:ext cx="0" cy="24825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CE5CD"/>
                  </a:solidFill>
                  <a:prstDash val="dot"/>
                  <a:round/>
                  <a:headEnd len="sm" w="sm" type="none"/>
                  <a:tailEnd len="sm" w="sm" type="none"/>
                </a:ln>
              </p:spPr>
            </p:cxnSp>
          </p:grpSp>
        </p:grpSp>
        <p:grpSp>
          <p:nvGrpSpPr>
            <p:cNvPr id="132" name="Google Shape;132;p21"/>
            <p:cNvGrpSpPr/>
            <p:nvPr/>
          </p:nvGrpSpPr>
          <p:grpSpPr>
            <a:xfrm>
              <a:off x="2209654" y="1411591"/>
              <a:ext cx="2328781" cy="2465700"/>
              <a:chOff x="-39940" y="2048574"/>
              <a:chExt cx="2604900" cy="2465700"/>
            </a:xfrm>
          </p:grpSpPr>
          <p:sp>
            <p:nvSpPr>
              <p:cNvPr id="133" name="Google Shape;133;p21"/>
              <p:cNvSpPr txBox="1"/>
              <p:nvPr/>
            </p:nvSpPr>
            <p:spPr>
              <a:xfrm>
                <a:off x="-39940" y="2056949"/>
                <a:ext cx="2604900" cy="101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lang="pt-BR" sz="18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2</a:t>
                </a:r>
                <a:r>
                  <a:rPr b="1" lang="pt-BR" sz="18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. </a:t>
                </a:r>
                <a:r>
                  <a:rPr b="1" lang="pt-BR" sz="1800">
                    <a:solidFill>
                      <a:srgbClr val="F4CCCC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Dependência</a:t>
                </a:r>
                <a:r>
                  <a:rPr b="1" lang="pt-BR" sz="1800">
                    <a:solidFill>
                      <a:srgbClr val="F4CCCC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</a:t>
                </a:r>
                <a:r>
                  <a:rPr lang="pt-BR" sz="1800">
                    <a:solidFill>
                      <a:srgbClr val="B7B7B7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da intermediação humana</a:t>
                </a:r>
                <a:endParaRPr b="1" sz="18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34" name="Google Shape;134;p21"/>
              <p:cNvSpPr txBox="1"/>
              <p:nvPr/>
            </p:nvSpPr>
            <p:spPr>
              <a:xfrm>
                <a:off x="-39940" y="3050860"/>
                <a:ext cx="26049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lang="pt-BR" sz="10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78%</a:t>
                </a:r>
                <a:r>
                  <a:rPr lang="pt-BR" sz="1000">
                    <a:solidFill>
                      <a:srgbClr val="CCCCCC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 dependem de intermediação humana</a:t>
                </a:r>
                <a:endParaRPr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endParaRPr>
              </a:p>
            </p:txBody>
          </p:sp>
          <p:cxnSp>
            <p:nvCxnSpPr>
              <p:cNvPr id="135" name="Google Shape;135;p21"/>
              <p:cNvCxnSpPr/>
              <p:nvPr/>
            </p:nvCxnSpPr>
            <p:spPr>
              <a:xfrm>
                <a:off x="2564882" y="2048574"/>
                <a:ext cx="0" cy="2465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CE5CD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36" name="Google Shape;136;p21"/>
            <p:cNvGrpSpPr/>
            <p:nvPr/>
          </p:nvGrpSpPr>
          <p:grpSpPr>
            <a:xfrm>
              <a:off x="4563747" y="1406489"/>
              <a:ext cx="2354190" cy="1799389"/>
              <a:chOff x="2666029" y="2043460"/>
              <a:chExt cx="2459711" cy="1799389"/>
            </a:xfrm>
          </p:grpSpPr>
          <p:sp>
            <p:nvSpPr>
              <p:cNvPr id="137" name="Google Shape;137;p21"/>
              <p:cNvSpPr txBox="1"/>
              <p:nvPr/>
            </p:nvSpPr>
            <p:spPr>
              <a:xfrm>
                <a:off x="2666029" y="2043460"/>
                <a:ext cx="2459700" cy="101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lang="pt-BR" sz="18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3</a:t>
                </a:r>
                <a:r>
                  <a:rPr b="1" lang="pt-BR" sz="18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. </a:t>
                </a:r>
                <a:r>
                  <a:rPr lang="pt-BR" sz="1800">
                    <a:solidFill>
                      <a:srgbClr val="B7B7B7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Impacto direto e</a:t>
                </a:r>
                <a:r>
                  <a:rPr lang="pt-BR" sz="1800">
                    <a:solidFill>
                      <a:srgbClr val="B7B7B7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m</a:t>
                </a:r>
                <a:r>
                  <a:rPr lang="pt-BR" sz="1800">
                    <a:solidFill>
                      <a:srgbClr val="B7B7B7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 </a:t>
                </a:r>
                <a:r>
                  <a:rPr b="1" lang="pt-BR" sz="1800">
                    <a:solidFill>
                      <a:srgbClr val="F4CCCC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planejamento </a:t>
                </a:r>
                <a:r>
                  <a:rPr lang="pt-BR" sz="1800">
                    <a:solidFill>
                      <a:srgbClr val="B7B7B7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e </a:t>
                </a:r>
                <a:r>
                  <a:rPr b="1" lang="pt-BR" sz="1800">
                    <a:solidFill>
                      <a:srgbClr val="F4CCCC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priorização</a:t>
                </a:r>
                <a:endParaRPr b="1" sz="18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38" name="Google Shape;138;p21"/>
              <p:cNvSpPr txBox="1"/>
              <p:nvPr/>
            </p:nvSpPr>
            <p:spPr>
              <a:xfrm>
                <a:off x="2666040" y="3042448"/>
                <a:ext cx="2459700" cy="80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pt-BR" sz="1000">
                    <a:solidFill>
                      <a:srgbClr val="CCCCCC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Planejamento </a:t>
                </a:r>
                <a:r>
                  <a:rPr b="1" lang="pt-BR" sz="10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30%</a:t>
                </a:r>
                <a:r>
                  <a:rPr lang="pt-BR" sz="1000">
                    <a:solidFill>
                      <a:srgbClr val="CCCCCC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 </a:t>
                </a:r>
                <a:endParaRPr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rPr lang="pt-BR" sz="1000">
                    <a:solidFill>
                      <a:srgbClr val="CCCCCC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Priorização </a:t>
                </a:r>
                <a:r>
                  <a:rPr b="1" lang="pt-BR" sz="10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22%</a:t>
                </a:r>
                <a:r>
                  <a:rPr lang="pt-BR" sz="1000">
                    <a:solidFill>
                      <a:srgbClr val="CCCCCC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 </a:t>
                </a:r>
                <a:endParaRPr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pt-BR" sz="1000">
                    <a:solidFill>
                      <a:srgbClr val="CCCCCC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Tomada de decisão </a:t>
                </a:r>
                <a:r>
                  <a:rPr b="1" lang="pt-BR" sz="10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20%</a:t>
                </a:r>
                <a:r>
                  <a:rPr lang="pt-BR" sz="1000">
                    <a:solidFill>
                      <a:srgbClr val="CCCCCC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 </a:t>
                </a:r>
                <a:endParaRPr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t/>
                </a:r>
                <a:endParaRPr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endParaRPr>
              </a:p>
            </p:txBody>
          </p:sp>
        </p:grpSp>
        <p:grpSp>
          <p:nvGrpSpPr>
            <p:cNvPr id="139" name="Google Shape;139;p21"/>
            <p:cNvGrpSpPr/>
            <p:nvPr/>
          </p:nvGrpSpPr>
          <p:grpSpPr>
            <a:xfrm>
              <a:off x="6951586" y="1411600"/>
              <a:ext cx="2140357" cy="1332575"/>
              <a:chOff x="5101463" y="2048579"/>
              <a:chExt cx="2575020" cy="1332575"/>
            </a:xfrm>
          </p:grpSpPr>
          <p:sp>
            <p:nvSpPr>
              <p:cNvPr id="140" name="Google Shape;140;p21"/>
              <p:cNvSpPr txBox="1"/>
              <p:nvPr/>
            </p:nvSpPr>
            <p:spPr>
              <a:xfrm>
                <a:off x="5101583" y="2048579"/>
                <a:ext cx="2574900" cy="101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lang="pt-BR" sz="18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4</a:t>
                </a:r>
                <a:r>
                  <a:rPr b="1" lang="pt-BR" sz="18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. </a:t>
                </a:r>
                <a:r>
                  <a:rPr b="1" lang="pt-BR" sz="1800">
                    <a:solidFill>
                      <a:srgbClr val="F4CCCC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Repetição </a:t>
                </a:r>
                <a:r>
                  <a:rPr lang="pt-BR" sz="1800">
                    <a:solidFill>
                      <a:srgbClr val="B7B7B7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constante de dúvidas</a:t>
                </a:r>
                <a:endParaRPr b="1" sz="18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41" name="Google Shape;141;p21"/>
              <p:cNvSpPr txBox="1"/>
              <p:nvPr/>
            </p:nvSpPr>
            <p:spPr>
              <a:xfrm>
                <a:off x="5101463" y="3042454"/>
                <a:ext cx="25749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lang="pt-BR" sz="10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81%</a:t>
                </a:r>
                <a:r>
                  <a:rPr lang="pt-BR" sz="1000">
                    <a:solidFill>
                      <a:srgbClr val="CCCCCC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 das dúvidas se repetem</a:t>
                </a:r>
                <a:endParaRPr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endParaRPr>
              </a:p>
            </p:txBody>
          </p:sp>
        </p:grpSp>
        <p:cxnSp>
          <p:nvCxnSpPr>
            <p:cNvPr id="142" name="Google Shape;142;p21"/>
            <p:cNvCxnSpPr/>
            <p:nvPr/>
          </p:nvCxnSpPr>
          <p:spPr>
            <a:xfrm>
              <a:off x="6917954" y="1417910"/>
              <a:ext cx="0" cy="2481600"/>
            </a:xfrm>
            <a:prstGeom prst="straightConnector1">
              <a:avLst/>
            </a:prstGeom>
            <a:noFill/>
            <a:ln cap="flat" cmpd="sng" w="9525">
              <a:solidFill>
                <a:srgbClr val="FCE5CD"/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143" name="Google Shape;143;p21"/>
          <p:cNvSpPr txBox="1"/>
          <p:nvPr/>
        </p:nvSpPr>
        <p:spPr>
          <a:xfrm>
            <a:off x="90260" y="524725"/>
            <a:ext cx="876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Os dados mostram que hoje a organização opera com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informação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, mas decide com </a:t>
            </a: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fricção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. Gasta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tempo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, depende de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pessoas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 repete as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mesmas dúvidas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, o que já impacta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planejamento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,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priorização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alinhamento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.</a:t>
            </a:r>
            <a:endParaRPr/>
          </a:p>
        </p:txBody>
      </p:sp>
      <p:pic>
        <p:nvPicPr>
          <p:cNvPr id="144" name="Google Shape;144;p21" title="servico-de-atendimento-ao-consumidor.png"/>
          <p:cNvPicPr preferRelativeResize="0"/>
          <p:nvPr/>
        </p:nvPicPr>
        <p:blipFill>
          <a:blip r:embed="rId4">
            <a:alphaModFix amt="58000"/>
          </a:blip>
          <a:stretch>
            <a:fillRect/>
          </a:stretch>
        </p:blipFill>
        <p:spPr>
          <a:xfrm>
            <a:off x="3115125" y="1412325"/>
            <a:ext cx="803525" cy="8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1" title="taticas.png"/>
          <p:cNvPicPr preferRelativeResize="0"/>
          <p:nvPr/>
        </p:nvPicPr>
        <p:blipFill>
          <a:blip r:embed="rId5">
            <a:alphaModFix amt="58999"/>
          </a:blip>
          <a:stretch>
            <a:fillRect/>
          </a:stretch>
        </p:blipFill>
        <p:spPr>
          <a:xfrm>
            <a:off x="5538250" y="1448375"/>
            <a:ext cx="666100" cy="66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1" title="botao-de-repeticao.png"/>
          <p:cNvPicPr preferRelativeResize="0"/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7823950" y="1448375"/>
            <a:ext cx="571300" cy="57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1"/>
          <p:cNvSpPr txBox="1"/>
          <p:nvPr/>
        </p:nvSpPr>
        <p:spPr>
          <a:xfrm>
            <a:off x="79102" y="120514"/>
            <a:ext cx="89412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Dores </a:t>
            </a: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sistêmicas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2" name="Google Shape;152;p22"/>
          <p:cNvCxnSpPr/>
          <p:nvPr/>
        </p:nvCxnSpPr>
        <p:spPr>
          <a:xfrm flipH="1" rot="10800000">
            <a:off x="639525" y="2666000"/>
            <a:ext cx="7110000" cy="914400"/>
          </a:xfrm>
          <a:prstGeom prst="straightConnector1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23"/>
          <p:cNvGrpSpPr/>
          <p:nvPr/>
        </p:nvGrpSpPr>
        <p:grpSpPr>
          <a:xfrm>
            <a:off x="33622" y="2166904"/>
            <a:ext cx="9110500" cy="2153313"/>
            <a:chOff x="4" y="1406489"/>
            <a:chExt cx="9110500" cy="2153313"/>
          </a:xfrm>
        </p:grpSpPr>
        <p:grpSp>
          <p:nvGrpSpPr>
            <p:cNvPr id="158" name="Google Shape;158;p23"/>
            <p:cNvGrpSpPr/>
            <p:nvPr/>
          </p:nvGrpSpPr>
          <p:grpSpPr>
            <a:xfrm>
              <a:off x="4" y="1412772"/>
              <a:ext cx="2161158" cy="2147030"/>
              <a:chOff x="106373" y="2050876"/>
              <a:chExt cx="2030400" cy="2147030"/>
            </a:xfrm>
          </p:grpSpPr>
          <p:sp>
            <p:nvSpPr>
              <p:cNvPr id="159" name="Google Shape;159;p23"/>
              <p:cNvSpPr txBox="1"/>
              <p:nvPr/>
            </p:nvSpPr>
            <p:spPr>
              <a:xfrm>
                <a:off x="106373" y="2050876"/>
                <a:ext cx="2030400" cy="7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lang="pt-BR" sz="18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1. </a:t>
                </a:r>
                <a:r>
                  <a:rPr b="1" lang="pt-BR" sz="1800">
                    <a:solidFill>
                      <a:srgbClr val="CFE2F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Centralização </a:t>
                </a:r>
                <a:r>
                  <a:rPr lang="pt-BR" sz="1800">
                    <a:solidFill>
                      <a:srgbClr val="B7B7B7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de informações</a:t>
                </a:r>
                <a:endParaRPr b="1" sz="18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60" name="Google Shape;160;p23"/>
              <p:cNvSpPr txBox="1"/>
              <p:nvPr/>
            </p:nvSpPr>
            <p:spPr>
              <a:xfrm>
                <a:off x="120328" y="2722831"/>
                <a:ext cx="1967700" cy="95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00"/>
                  <a:buFont typeface="Arial"/>
                  <a:buNone/>
                </a:pPr>
                <a:r>
                  <a:rPr b="1" lang="pt-BR" sz="10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Mais da metade </a:t>
                </a:r>
                <a:r>
                  <a:rPr lang="pt-BR" sz="1000">
                    <a:solidFill>
                      <a:srgbClr val="CCCCCC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das pessoas quer acessar tudo em um único lugar </a:t>
                </a:r>
                <a:r>
                  <a:rPr b="1" lang="pt-BR" sz="1000">
                    <a:solidFill>
                      <a:srgbClr val="CCCCCC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→</a:t>
                </a:r>
                <a:r>
                  <a:rPr lang="pt-BR" sz="1000">
                    <a:solidFill>
                      <a:srgbClr val="CCCCCC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 Redução de dispersão e perda de contexto.</a:t>
                </a:r>
                <a:endParaRPr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endParaRPr>
              </a:p>
            </p:txBody>
          </p:sp>
          <p:cxnSp>
            <p:nvCxnSpPr>
              <p:cNvPr id="161" name="Google Shape;161;p23"/>
              <p:cNvCxnSpPr/>
              <p:nvPr/>
            </p:nvCxnSpPr>
            <p:spPr>
              <a:xfrm>
                <a:off x="2035510" y="2089206"/>
                <a:ext cx="0" cy="21087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FCE5CD"/>
                </a:solidFill>
                <a:prstDash val="dot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162" name="Google Shape;162;p23"/>
            <p:cNvGrpSpPr/>
            <p:nvPr/>
          </p:nvGrpSpPr>
          <p:grpSpPr>
            <a:xfrm>
              <a:off x="2109282" y="1419966"/>
              <a:ext cx="2429153" cy="1727357"/>
              <a:chOff x="-152213" y="2056949"/>
              <a:chExt cx="2717173" cy="1727357"/>
            </a:xfrm>
          </p:grpSpPr>
          <p:sp>
            <p:nvSpPr>
              <p:cNvPr id="163" name="Google Shape;163;p23"/>
              <p:cNvSpPr txBox="1"/>
              <p:nvPr/>
            </p:nvSpPr>
            <p:spPr>
              <a:xfrm>
                <a:off x="-39940" y="2056949"/>
                <a:ext cx="2604900" cy="101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lang="pt-BR" sz="18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2. </a:t>
                </a:r>
                <a:r>
                  <a:rPr lang="pt-BR" sz="1800">
                    <a:solidFill>
                      <a:srgbClr val="B7B7B7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Informação </a:t>
                </a:r>
                <a:r>
                  <a:rPr b="1" lang="pt-BR" sz="1800">
                    <a:solidFill>
                      <a:srgbClr val="CFE2F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confiável</a:t>
                </a:r>
                <a:r>
                  <a:rPr b="1" lang="pt-BR" sz="1800">
                    <a:solidFill>
                      <a:srgbClr val="CFE2F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</a:t>
                </a:r>
                <a:r>
                  <a:rPr lang="pt-BR" sz="1800">
                    <a:solidFill>
                      <a:srgbClr val="B7B7B7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para decisão</a:t>
                </a:r>
                <a:endParaRPr b="1" sz="18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64" name="Google Shape;164;p23"/>
              <p:cNvSpPr txBox="1"/>
              <p:nvPr/>
            </p:nvSpPr>
            <p:spPr>
              <a:xfrm>
                <a:off x="-152213" y="2983907"/>
                <a:ext cx="2717100" cy="80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lang="pt-BR" sz="10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A maioria</a:t>
                </a:r>
                <a:r>
                  <a:rPr lang="pt-BR" sz="1000">
                    <a:solidFill>
                      <a:srgbClr val="CCCCCC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 quer menos validação manual e mais confiança na tomada de decisão </a:t>
                </a:r>
                <a:r>
                  <a:rPr b="1" lang="pt-BR" sz="1000">
                    <a:solidFill>
                      <a:srgbClr val="CCCCCC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→</a:t>
                </a:r>
                <a:r>
                  <a:rPr lang="pt-BR" sz="1000">
                    <a:solidFill>
                      <a:srgbClr val="CCCCCC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 Decisão mais rápida e menos retrabalho.</a:t>
                </a:r>
                <a:endParaRPr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endParaRPr>
              </a:p>
            </p:txBody>
          </p:sp>
        </p:grpSp>
        <p:grpSp>
          <p:nvGrpSpPr>
            <p:cNvPr id="165" name="Google Shape;165;p23"/>
            <p:cNvGrpSpPr/>
            <p:nvPr/>
          </p:nvGrpSpPr>
          <p:grpSpPr>
            <a:xfrm>
              <a:off x="4549832" y="1406489"/>
              <a:ext cx="2368093" cy="1486348"/>
              <a:chOff x="2651491" y="2043460"/>
              <a:chExt cx="2474238" cy="1486348"/>
            </a:xfrm>
          </p:grpSpPr>
          <p:sp>
            <p:nvSpPr>
              <p:cNvPr id="166" name="Google Shape;166;p23"/>
              <p:cNvSpPr txBox="1"/>
              <p:nvPr/>
            </p:nvSpPr>
            <p:spPr>
              <a:xfrm>
                <a:off x="2666029" y="2043460"/>
                <a:ext cx="2459700" cy="7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lang="pt-BR" sz="18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3. </a:t>
                </a:r>
                <a:r>
                  <a:rPr lang="pt-BR" sz="1800">
                    <a:solidFill>
                      <a:srgbClr val="B7B7B7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Informação com </a:t>
                </a:r>
                <a:r>
                  <a:rPr b="1" lang="pt-BR" sz="1800">
                    <a:solidFill>
                      <a:srgbClr val="CFE2F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direcionamento</a:t>
                </a:r>
                <a:endParaRPr b="1" sz="1800">
                  <a:solidFill>
                    <a:srgbClr val="CFE2F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67" name="Google Shape;167;p23"/>
              <p:cNvSpPr txBox="1"/>
              <p:nvPr/>
            </p:nvSpPr>
            <p:spPr>
              <a:xfrm>
                <a:off x="2651491" y="2729408"/>
                <a:ext cx="2433300" cy="80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lang="pt-BR" sz="10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Quase 40% </a:t>
                </a:r>
                <a:r>
                  <a:rPr lang="pt-BR" sz="1000">
                    <a:solidFill>
                      <a:srgbClr val="CCCCCC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sentem falta de  impacto, prioridade e próximos passos claros </a:t>
                </a:r>
                <a:r>
                  <a:rPr b="1" lang="pt-BR" sz="1000">
                    <a:solidFill>
                      <a:srgbClr val="CCCCCC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→</a:t>
                </a:r>
                <a:r>
                  <a:rPr lang="pt-BR" sz="1000">
                    <a:solidFill>
                      <a:srgbClr val="CCCCCC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 Planejamento menos reativo.</a:t>
                </a:r>
                <a:endParaRPr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endParaRPr>
              </a:p>
            </p:txBody>
          </p:sp>
        </p:grpSp>
        <p:grpSp>
          <p:nvGrpSpPr>
            <p:cNvPr id="168" name="Google Shape;168;p23"/>
            <p:cNvGrpSpPr/>
            <p:nvPr/>
          </p:nvGrpSpPr>
          <p:grpSpPr>
            <a:xfrm>
              <a:off x="6878732" y="1411600"/>
              <a:ext cx="2231772" cy="1849610"/>
              <a:chOff x="5013814" y="2048579"/>
              <a:chExt cx="2685000" cy="1849610"/>
            </a:xfrm>
          </p:grpSpPr>
          <p:sp>
            <p:nvSpPr>
              <p:cNvPr id="169" name="Google Shape;169;p23"/>
              <p:cNvSpPr txBox="1"/>
              <p:nvPr/>
            </p:nvSpPr>
            <p:spPr>
              <a:xfrm>
                <a:off x="5101583" y="2048579"/>
                <a:ext cx="2574900" cy="129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lang="pt-BR" sz="18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4. </a:t>
                </a:r>
                <a:r>
                  <a:rPr lang="pt-BR" sz="1800">
                    <a:solidFill>
                      <a:srgbClr val="B7B7B7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Escala com </a:t>
                </a:r>
                <a:r>
                  <a:rPr b="1" lang="pt-BR" sz="1800">
                    <a:solidFill>
                      <a:srgbClr val="CFE2F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menos dependência</a:t>
                </a:r>
                <a:r>
                  <a:rPr b="1" lang="pt-BR" sz="1800">
                    <a:solidFill>
                      <a:srgbClr val="F4CCCC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 </a:t>
                </a:r>
                <a:r>
                  <a:rPr lang="pt-BR" sz="1800">
                    <a:solidFill>
                      <a:srgbClr val="B7B7B7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de pessoas</a:t>
                </a:r>
                <a:endParaRPr b="1" sz="18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70" name="Google Shape;170;p23"/>
              <p:cNvSpPr txBox="1"/>
              <p:nvPr/>
            </p:nvSpPr>
            <p:spPr>
              <a:xfrm>
                <a:off x="5013814" y="3251689"/>
                <a:ext cx="2685000" cy="64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lang="pt-BR" sz="1000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78% </a:t>
                </a:r>
                <a:r>
                  <a:rPr lang="pt-BR" sz="1000">
                    <a:solidFill>
                      <a:srgbClr val="CCCCCC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ainda dependem de intermediação </a:t>
                </a:r>
                <a:r>
                  <a:rPr b="1" lang="pt-BR" sz="1000">
                    <a:solidFill>
                      <a:srgbClr val="CCCCCC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→ </a:t>
                </a:r>
                <a:r>
                  <a:rPr lang="pt-BR" sz="1000">
                    <a:solidFill>
                      <a:srgbClr val="CCCCCC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Oportunidade clara de autosserviço.</a:t>
                </a:r>
                <a:endParaRPr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endParaRPr>
              </a:p>
            </p:txBody>
          </p:sp>
        </p:grpSp>
      </p:grpSp>
      <p:sp>
        <p:nvSpPr>
          <p:cNvPr id="171" name="Google Shape;171;p23"/>
          <p:cNvSpPr txBox="1"/>
          <p:nvPr/>
        </p:nvSpPr>
        <p:spPr>
          <a:xfrm>
            <a:off x="110025" y="528122"/>
            <a:ext cx="876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Há 4 oportunidades claras, as quais </a:t>
            </a: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não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substituem o que já funciona - elas </a:t>
            </a:r>
            <a:r>
              <a:rPr b="1" lang="pt-BR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estruturam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, </a:t>
            </a: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conectam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 </a:t>
            </a: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escalam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o que</a:t>
            </a:r>
            <a:r>
              <a:rPr b="1" lang="pt-BR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já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existe.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72" name="Google Shape;172;p23"/>
          <p:cNvSpPr txBox="1"/>
          <p:nvPr/>
        </p:nvSpPr>
        <p:spPr>
          <a:xfrm>
            <a:off x="90260" y="-872"/>
            <a:ext cx="60138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Oportunidades claras de </a:t>
            </a: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geração de valor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cxnSp>
        <p:nvCxnSpPr>
          <p:cNvPr id="173" name="Google Shape;173;p23"/>
          <p:cNvCxnSpPr/>
          <p:nvPr/>
        </p:nvCxnSpPr>
        <p:spPr>
          <a:xfrm>
            <a:off x="4549700" y="2197524"/>
            <a:ext cx="0" cy="214500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74" name="Google Shape;174;p23"/>
          <p:cNvCxnSpPr/>
          <p:nvPr/>
        </p:nvCxnSpPr>
        <p:spPr>
          <a:xfrm>
            <a:off x="6912350" y="2197524"/>
            <a:ext cx="0" cy="211140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none"/>
          </a:ln>
        </p:spPr>
      </p:cxnSp>
      <p:pic>
        <p:nvPicPr>
          <p:cNvPr id="175" name="Google Shape;175;p23" title="centralizado.png"/>
          <p:cNvPicPr preferRelativeResize="0"/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593900" y="1433350"/>
            <a:ext cx="733550" cy="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3" title="tomando-uma-decisao.png"/>
          <p:cNvPicPr preferRelativeResize="0"/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2892300" y="1400401"/>
            <a:ext cx="733550" cy="733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3" title="placa-de-sinalizacao.png"/>
          <p:cNvPicPr preferRelativeResize="0"/>
          <p:nvPr/>
        </p:nvPicPr>
        <p:blipFill>
          <a:blip r:embed="rId5">
            <a:alphaModFix amt="39000"/>
          </a:blip>
          <a:stretch>
            <a:fillRect/>
          </a:stretch>
        </p:blipFill>
        <p:spPr>
          <a:xfrm>
            <a:off x="5308300" y="1400375"/>
            <a:ext cx="733550" cy="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3" title="servico-de-atendimento-ao-consumidor.png"/>
          <p:cNvPicPr preferRelativeResize="0"/>
          <p:nvPr/>
        </p:nvPicPr>
        <p:blipFill>
          <a:blip r:embed="rId6">
            <a:alphaModFix amt="58000"/>
          </a:blip>
          <a:stretch>
            <a:fillRect/>
          </a:stretch>
        </p:blipFill>
        <p:spPr>
          <a:xfrm>
            <a:off x="7544550" y="1400375"/>
            <a:ext cx="733550" cy="73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3" name="Google Shape;183;p24"/>
          <p:cNvCxnSpPr/>
          <p:nvPr/>
        </p:nvCxnSpPr>
        <p:spPr>
          <a:xfrm flipH="1" rot="10800000">
            <a:off x="639525" y="2666000"/>
            <a:ext cx="7110000" cy="914400"/>
          </a:xfrm>
          <a:prstGeom prst="straightConnector1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5"/>
          <p:cNvSpPr txBox="1"/>
          <p:nvPr/>
        </p:nvSpPr>
        <p:spPr>
          <a:xfrm>
            <a:off x="5664700" y="306375"/>
            <a:ext cx="3651600" cy="19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highlight>
                  <a:srgbClr val="FFFF00"/>
                </a:highlight>
              </a:rPr>
              <a:t>COLOCAR SLIDE APÓS SOLUÇÃO!</a:t>
            </a:r>
            <a:endParaRPr b="1" sz="18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/>
          <p:nvPr/>
        </p:nvSpPr>
        <p:spPr>
          <a:xfrm>
            <a:off x="79102" y="120514"/>
            <a:ext cx="89412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Proposta de </a:t>
            </a: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valor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194" name="Google Shape;194;p26"/>
          <p:cNvSpPr txBox="1"/>
          <p:nvPr/>
        </p:nvSpPr>
        <p:spPr>
          <a:xfrm>
            <a:off x="111570" y="524725"/>
            <a:ext cx="876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 StackPulse representa o </a:t>
            </a: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modelo-alvo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para reduzir horas de busca em </a:t>
            </a: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segundos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, consolidando indicadores em um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único canal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inteligente para acelerar decisões, aumentar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autonomia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 eliminar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retrabalho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.</a:t>
            </a:r>
            <a:endParaRPr/>
          </a:p>
        </p:txBody>
      </p:sp>
      <p:sp>
        <p:nvSpPr>
          <p:cNvPr id="195" name="Google Shape;195;p26"/>
          <p:cNvSpPr/>
          <p:nvPr/>
        </p:nvSpPr>
        <p:spPr>
          <a:xfrm>
            <a:off x="-277800" y="-19925"/>
            <a:ext cx="9421800" cy="11928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Google Shape;200;p27"/>
          <p:cNvCxnSpPr/>
          <p:nvPr/>
        </p:nvCxnSpPr>
        <p:spPr>
          <a:xfrm flipH="1" rot="10800000">
            <a:off x="639525" y="2666000"/>
            <a:ext cx="7110000" cy="914400"/>
          </a:xfrm>
          <a:prstGeom prst="straightConnector1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 txBox="1"/>
          <p:nvPr/>
        </p:nvSpPr>
        <p:spPr>
          <a:xfrm>
            <a:off x="79102" y="120514"/>
            <a:ext cx="89412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Produto Mínimo Viável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206" name="Google Shape;206;p28"/>
          <p:cNvSpPr txBox="1"/>
          <p:nvPr/>
        </p:nvSpPr>
        <p:spPr>
          <a:xfrm>
            <a:off x="111570" y="524725"/>
            <a:ext cx="8762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 versão </a:t>
            </a: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1.0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da StackPulse será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simples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,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escalável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, garantirá mais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autonomia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para os times, menos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retrabalho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 decisões muito mais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rápidas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seguras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.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-277800" y="-19925"/>
            <a:ext cx="9421800" cy="11928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/>
        </p:nvSpPr>
        <p:spPr>
          <a:xfrm>
            <a:off x="111570" y="524725"/>
            <a:ext cx="876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3" name="Google Shape;213;p29"/>
          <p:cNvCxnSpPr/>
          <p:nvPr/>
        </p:nvCxnSpPr>
        <p:spPr>
          <a:xfrm flipH="1" rot="10800000">
            <a:off x="639525" y="2666000"/>
            <a:ext cx="7110000" cy="914400"/>
          </a:xfrm>
          <a:prstGeom prst="straightConnector1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0"/>
          <p:cNvSpPr txBox="1"/>
          <p:nvPr/>
        </p:nvSpPr>
        <p:spPr>
          <a:xfrm>
            <a:off x="79102" y="120514"/>
            <a:ext cx="89412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Onda 1: </a:t>
            </a: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Desenvolvimento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219" name="Google Shape;219;p30"/>
          <p:cNvSpPr txBox="1"/>
          <p:nvPr/>
        </p:nvSpPr>
        <p:spPr>
          <a:xfrm>
            <a:off x="111570" y="524725"/>
            <a:ext cx="876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Construir um sistema confiável, escalável e auditável, separando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decisão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,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interpretação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,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execução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explicação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.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20" name="Google Shape;220;p30"/>
          <p:cNvSpPr/>
          <p:nvPr/>
        </p:nvSpPr>
        <p:spPr>
          <a:xfrm>
            <a:off x="-277800" y="-19925"/>
            <a:ext cx="9421800" cy="11928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1"/>
          <p:cNvSpPr txBox="1"/>
          <p:nvPr/>
        </p:nvSpPr>
        <p:spPr>
          <a:xfrm>
            <a:off x="79102" y="120514"/>
            <a:ext cx="89412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Papéis</a:t>
            </a: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Efeito Cascata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226" name="Google Shape;226;p31"/>
          <p:cNvSpPr txBox="1"/>
          <p:nvPr/>
        </p:nvSpPr>
        <p:spPr>
          <a:xfrm>
            <a:off x="111570" y="524725"/>
            <a:ext cx="876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Se qualquer um desses papéis se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misturar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, vira um </a:t>
            </a: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sistema frágil.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31"/>
          <p:cNvSpPr/>
          <p:nvPr/>
        </p:nvSpPr>
        <p:spPr>
          <a:xfrm>
            <a:off x="-277800" y="-19925"/>
            <a:ext cx="9421800" cy="11928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1"/>
          <p:cNvSpPr txBox="1"/>
          <p:nvPr/>
        </p:nvSpPr>
        <p:spPr>
          <a:xfrm>
            <a:off x="5222375" y="250600"/>
            <a:ext cx="3651600" cy="19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  <a:highlight>
                  <a:srgbClr val="FFFF00"/>
                </a:highlight>
              </a:rPr>
              <a:t>alterar título de TODOS!</a:t>
            </a:r>
            <a:endParaRPr b="1" sz="18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2"/>
          <p:cNvSpPr/>
          <p:nvPr/>
        </p:nvSpPr>
        <p:spPr>
          <a:xfrm>
            <a:off x="-126650" y="3378750"/>
            <a:ext cx="2031900" cy="1119300"/>
          </a:xfrm>
          <a:prstGeom prst="rect">
            <a:avLst/>
          </a:prstGeom>
          <a:noFill/>
          <a:ln cap="flat" cmpd="sng" w="2286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2"/>
          <p:cNvSpPr txBox="1"/>
          <p:nvPr/>
        </p:nvSpPr>
        <p:spPr>
          <a:xfrm>
            <a:off x="5664700" y="306375"/>
            <a:ext cx="3651600" cy="19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</a:pPr>
            <a:r>
              <a:rPr b="1" lang="pt-BR" sz="1800">
                <a:solidFill>
                  <a:schemeClr val="dk1"/>
                </a:solidFill>
                <a:highlight>
                  <a:srgbClr val="FFFF00"/>
                </a:highlight>
              </a:rPr>
              <a:t>SLIDE 35 TÁ VOANDO ALGUM AGENTE</a:t>
            </a:r>
            <a:endParaRPr b="1" sz="18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3"/>
          <p:cNvSpPr txBox="1"/>
          <p:nvPr/>
        </p:nvSpPr>
        <p:spPr>
          <a:xfrm>
            <a:off x="5664700" y="306375"/>
            <a:ext cx="3651600" cy="19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</a:pPr>
            <a:r>
              <a:rPr b="1" lang="pt-BR" sz="1800">
                <a:solidFill>
                  <a:schemeClr val="dk1"/>
                </a:solidFill>
                <a:highlight>
                  <a:srgbClr val="FFFF00"/>
                </a:highlight>
              </a:rPr>
              <a:t>centralizar melhor</a:t>
            </a:r>
            <a:endParaRPr b="1" sz="18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4"/>
          <p:cNvSpPr txBox="1"/>
          <p:nvPr/>
        </p:nvSpPr>
        <p:spPr>
          <a:xfrm>
            <a:off x="5664700" y="306375"/>
            <a:ext cx="3651600" cy="19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</a:pPr>
            <a:r>
              <a:rPr b="1" lang="pt-BR" sz="1800">
                <a:solidFill>
                  <a:schemeClr val="dk1"/>
                </a:solidFill>
                <a:highlight>
                  <a:srgbClr val="FFFF00"/>
                </a:highlight>
              </a:rPr>
              <a:t>centralizar melhor</a:t>
            </a:r>
            <a:endParaRPr b="1" sz="1800">
              <a:solidFill>
                <a:schemeClr val="dk1"/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1" name="Google Shape;261;p38"/>
          <p:cNvCxnSpPr/>
          <p:nvPr/>
        </p:nvCxnSpPr>
        <p:spPr>
          <a:xfrm flipH="1" rot="10800000">
            <a:off x="639525" y="2666000"/>
            <a:ext cx="7110000" cy="914400"/>
          </a:xfrm>
          <a:prstGeom prst="straightConnector1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9"/>
          <p:cNvSpPr txBox="1"/>
          <p:nvPr/>
        </p:nvSpPr>
        <p:spPr>
          <a:xfrm>
            <a:off x="79102" y="120514"/>
            <a:ext cx="89412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KPIs</a:t>
            </a: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 de Valor e </a:t>
            </a: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Plano</a:t>
            </a: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 de Mediação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267" name="Google Shape;267;p39"/>
          <p:cNvSpPr txBox="1"/>
          <p:nvPr/>
        </p:nvSpPr>
        <p:spPr>
          <a:xfrm>
            <a:off x="111570" y="524725"/>
            <a:ext cx="876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KPIs focados em eficiência, autonomia e confiança na decisão, para o tipo de produto que </a:t>
            </a: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muda ponteiros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.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2" name="Google Shape;272;p40"/>
          <p:cNvCxnSpPr/>
          <p:nvPr/>
        </p:nvCxnSpPr>
        <p:spPr>
          <a:xfrm flipH="1" rot="10800000">
            <a:off x="639525" y="2666000"/>
            <a:ext cx="7110000" cy="914400"/>
          </a:xfrm>
          <a:prstGeom prst="straightConnector1">
            <a:avLst/>
          </a:prstGeom>
          <a:noFill/>
          <a:ln cap="flat" cmpd="sng" w="1143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1"/>
          <p:cNvSpPr txBox="1"/>
          <p:nvPr/>
        </p:nvSpPr>
        <p:spPr>
          <a:xfrm>
            <a:off x="79102" y="120514"/>
            <a:ext cx="89412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Roadmap: Expansão em</a:t>
            </a: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 Ondas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278" name="Google Shape;278;p41"/>
          <p:cNvSpPr txBox="1"/>
          <p:nvPr/>
        </p:nvSpPr>
        <p:spPr>
          <a:xfrm>
            <a:off x="111570" y="546675"/>
            <a:ext cx="876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Evolução do produto priorizada por impacto no </a:t>
            </a: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negócio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,</a:t>
            </a: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valor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ao usuário e </a:t>
            </a:r>
            <a:r>
              <a:rPr b="1" lang="pt-BR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viabilidade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técnica.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